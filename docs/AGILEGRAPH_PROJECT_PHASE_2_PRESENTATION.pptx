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5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x="18288000" cy="10287000"/>
  <p:notesSz cx="6858000" cy="9144000"/>
  <p:embeddedFontLst>
    <p:embeddedFont>
      <p:font typeface="Times New Roman" charset="1" panose="02020603050405020304"/>
      <p:regular r:id="rId27"/>
    </p:embeddedFont>
    <p:embeddedFont>
      <p:font typeface="Times New Roman Bold" charset="1" panose="020208030705050203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font" Target="fonts/font27.fntdata"/><Relationship Id="rId28" Type="http://schemas.openxmlformats.org/officeDocument/2006/relationships/font" Target="fonts/font2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4.png"/><Relationship Id="rId5" Type="http://schemas.openxmlformats.org/officeDocument/2006/relationships/image" Target="../media/image5.sv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6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088" y="506530"/>
            <a:ext cx="17415170" cy="9491267"/>
          </a:xfrm>
          <a:custGeom>
            <a:avLst/>
            <a:gdLst/>
            <a:ahLst/>
            <a:cxnLst/>
            <a:rect r="r" b="b" t="t" l="l"/>
            <a:pathLst>
              <a:path h="9491267" w="17415170">
                <a:moveTo>
                  <a:pt x="0" y="0"/>
                </a:moveTo>
                <a:lnTo>
                  <a:pt x="17415170" y="0"/>
                </a:lnTo>
                <a:lnTo>
                  <a:pt x="17415170" y="9491267"/>
                </a:lnTo>
                <a:lnTo>
                  <a:pt x="0" y="9491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6473587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37930" y="9172575"/>
            <a:ext cx="14771110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772699"/>
            <a:ext cx="16226433" cy="2078627"/>
          </a:xfrm>
          <a:custGeom>
            <a:avLst/>
            <a:gdLst/>
            <a:ahLst/>
            <a:cxnLst/>
            <a:rect r="r" b="b" t="t" l="l"/>
            <a:pathLst>
              <a:path h="2078627" w="16226433">
                <a:moveTo>
                  <a:pt x="0" y="0"/>
                </a:moveTo>
                <a:lnTo>
                  <a:pt x="16226433" y="0"/>
                </a:lnTo>
                <a:lnTo>
                  <a:pt x="16226433" y="2078627"/>
                </a:lnTo>
                <a:lnTo>
                  <a:pt x="0" y="207862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738" r="0" b="-467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159004" y="3028648"/>
            <a:ext cx="7945338" cy="122237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ctr">
              <a:lnSpc>
                <a:spcPts val="9799"/>
              </a:lnSpc>
            </a:pPr>
            <a:r>
              <a:rPr sz="4400" b="1" i="0">
                <a:solidFill>
                  <a:srgbClr val="303298"/>
                </a:solidFill>
                <a:latin typeface="Times New Roman"/>
              </a:rPr>
              <a:t>AGILEGRAPH</a:t>
            </a:r>
          </a:p>
          <a:p>
            <a:pPr algn="ctr">
              <a:spcBef>
                <a:spcPts val="600"/>
              </a:spcBef>
            </a:pPr>
            <a:r>
              <a:rPr sz="2000" b="1" i="0">
                <a:solidFill>
                  <a:srgbClr val="1E293B"/>
                </a:solidFill>
                <a:latin typeface="Times New Roman"/>
              </a:rPr>
              <a:t>Graph-Learned Crypto-Agility Risk Scoring for Post-Quantum Migration</a:t>
            </a:r>
          </a:p>
          <a:p>
            <a:pPr algn="ctr">
              <a:spcBef>
                <a:spcPts val="400"/>
              </a:spcBef>
            </a:pPr>
            <a:r>
              <a:rPr sz="1700" b="0" i="1">
                <a:solidFill>
                  <a:srgbClr val="475569"/>
                </a:solidFill>
                <a:latin typeface="Times New Roman"/>
              </a:rPr>
              <a:t>Heterogeneous GNN Risk Propagation and Explainable Migration Prioritization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15337" y="5657938"/>
            <a:ext cx="4232672" cy="69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sz="2000" b="1" i="0">
                <a:solidFill>
                  <a:srgbClr val="303298"/>
                </a:solidFill>
                <a:latin typeface="Times New Roman"/>
              </a:rPr>
              <a:t>MAJOR PROJECT PHASE 2 (2026–27)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37930" y="8658860"/>
            <a:ext cx="7030918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sz="1800" b="1" i="0">
                <a:solidFill>
                  <a:srgbClr val="303298"/>
                </a:solidFill>
                <a:latin typeface="Times New Roman"/>
              </a:rPr>
              <a:t>Project Guide:
</a:t>
            </a:r>
            <a:r>
              <a:rPr sz="1900" b="1" i="0">
                <a:solidFill>
                  <a:srgbClr val="1E293B"/>
                </a:solidFill>
                <a:latin typeface="Times New Roman"/>
              </a:rPr>
              <a:t>Ms. Madhushree
</a:t>
            </a:r>
            <a:r>
              <a:rPr sz="1500" b="0" i="0">
                <a:solidFill>
                  <a:srgbClr val="475569"/>
                </a:solidFill>
                <a:latin typeface="Times New Roman"/>
              </a:rPr>
              <a:t>Assistant Professor, Dept. of Computer Science (Cyber Security)
NMAMIT, Nitte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69421" y="7458710"/>
            <a:ext cx="5739619" cy="2999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sz="1800" b="1" i="0">
                <a:solidFill>
                  <a:srgbClr val="303298"/>
                </a:solidFill>
                <a:latin typeface="Times New Roman"/>
              </a:rPr>
              <a:t>Project Team:
</a:t>
            </a: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>
              <a:spcBef>
                <a:spcPts val="200"/>
              </a:spcBef>
            </a:pPr>
            <a:r>
              <a:rPr sz="1700" b="0" i="0">
                <a:solidFill>
                  <a:srgbClr val="1E293B"/>
                </a:solidFill>
                <a:latin typeface="Times New Roman"/>
              </a:rPr>
              <a:t>• Spoorthi — NNM23CB058</a:t>
            </a:r>
          </a:p>
          <a:p>
            <a:pPr>
              <a:spcBef>
                <a:spcPts val="200"/>
              </a:spcBef>
            </a:pPr>
            <a:r>
              <a:rPr sz="1700" b="0" i="0">
                <a:solidFill>
                  <a:srgbClr val="1E293B"/>
                </a:solidFill>
                <a:latin typeface="Times New Roman"/>
              </a:rPr>
              <a:t>• Sindhoora R — NNM23CB057</a:t>
            </a:r>
          </a:p>
          <a:p>
            <a:pPr>
              <a:spcBef>
                <a:spcPts val="200"/>
              </a:spcBef>
            </a:pPr>
            <a:r>
              <a:rPr sz="1700" b="0" i="0">
                <a:solidFill>
                  <a:srgbClr val="1E293B"/>
                </a:solidFill>
                <a:latin typeface="Times New Roman"/>
              </a:rPr>
              <a:t>• Nivedita V Shetty — NNM23CB033</a:t>
            </a:r>
          </a:p>
          <a:p>
            <a:pPr>
              <a:spcBef>
                <a:spcPts val="200"/>
              </a:spcBef>
            </a:pPr>
            <a:r>
              <a:rPr sz="1700" b="0" i="0">
                <a:solidFill>
                  <a:srgbClr val="1E293B"/>
                </a:solidFill>
                <a:latin typeface="Times New Roman"/>
              </a:rPr>
              <a:t>• Sujan S — NNM23CB062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088" y="506530"/>
            <a:ext cx="17415170" cy="9491267"/>
          </a:xfrm>
          <a:custGeom>
            <a:avLst/>
            <a:gdLst/>
            <a:ahLst/>
            <a:cxnLst/>
            <a:rect r="r" b="b" t="t" l="l"/>
            <a:pathLst>
              <a:path h="9491267" w="17415170">
                <a:moveTo>
                  <a:pt x="0" y="0"/>
                </a:moveTo>
                <a:lnTo>
                  <a:pt x="17415170" y="0"/>
                </a:lnTo>
                <a:lnTo>
                  <a:pt x="17415170" y="9491267"/>
                </a:lnTo>
                <a:lnTo>
                  <a:pt x="0" y="9491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2095333" y="1932114"/>
            <a:ext cx="14771110" cy="6986016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6221"/>
              </a:lnSpc>
            </a:pPr>
          </a:p>
          <a:p>
            <a:pPr algn="ctr">
              <a:lnSpc>
                <a:spcPts val="6221"/>
              </a:lnSpc>
            </a:pPr>
          </a:p>
          <a:p>
            <a:pPr algn="ctr">
              <a:lnSpc>
                <a:spcPts val="6221"/>
              </a:lnSpc>
            </a:pPr>
          </a:p>
          <a:p>
            <a:pPr algn="ctr">
              <a:lnSpc>
                <a:spcPts val="6221"/>
              </a:lnSpc>
            </a:pPr>
          </a:p>
          <a:p>
            <a:pPr algn="ctr">
              <a:lnSpc>
                <a:spcPts val="6221"/>
              </a:lnSpc>
            </a:pPr>
          </a:p>
          <a:p>
            <a:pPr algn="ctr">
              <a:lnSpc>
                <a:spcPts val="6221"/>
              </a:lnSpc>
            </a:pPr>
          </a:p>
          <a:p>
            <a:pPr algn="ctr">
              <a:lnSpc>
                <a:spcPts val="6221"/>
              </a:lnSpc>
            </a:pPr>
          </a:p>
          <a:p>
            <a:pPr algn="ctr">
              <a:lnSpc>
                <a:spcPts val="6221"/>
              </a:lnSpc>
            </a:pPr>
          </a:p>
          <a:p>
            <a:pPr algn="ctr">
              <a:lnSpc>
                <a:spcPts val="6221"/>
              </a:lnSpc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4968609" y="3482023"/>
            <a:ext cx="411480" cy="4114800"/>
          </a:xfrm>
          <a:custGeom>
            <a:avLst/>
            <a:gdLst/>
            <a:ahLst/>
            <a:cxnLst/>
            <a:rect r="r" b="b" t="t" l="l"/>
            <a:pathLst>
              <a:path h="4114800" w="411480">
                <a:moveTo>
                  <a:pt x="0" y="0"/>
                </a:moveTo>
                <a:lnTo>
                  <a:pt x="411480" y="0"/>
                </a:lnTo>
                <a:lnTo>
                  <a:pt x="41148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848377"/>
            <a:ext cx="1431244" cy="1509311"/>
          </a:xfrm>
          <a:custGeom>
            <a:avLst/>
            <a:gdLst/>
            <a:ahLst/>
            <a:cxnLst/>
            <a:rect r="r" b="b" t="t" l="l"/>
            <a:pathLst>
              <a:path h="1509311" w="1431244">
                <a:moveTo>
                  <a:pt x="0" y="0"/>
                </a:moveTo>
                <a:lnTo>
                  <a:pt x="1431244" y="0"/>
                </a:lnTo>
                <a:lnTo>
                  <a:pt x="1431244" y="1509311"/>
                </a:lnTo>
                <a:lnTo>
                  <a:pt x="0" y="150931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711648" y="876300"/>
            <a:ext cx="12726804" cy="1139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99"/>
              </a:lnSpc>
            </a:pPr>
            <a:r>
              <a:rPr lang="en-US" b="true" sz="6499">
                <a:solidFill>
                  <a:srgbClr val="303298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PRESENTATION OUTLINE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473587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360720" y="5057775"/>
            <a:ext cx="1462385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</p:txBody>
      </p:sp>
      <p:sp>
        <p:nvSpPr>
          <p:cNvPr id="9" name="Rounded Rectangle 8"/>
          <p:cNvSpPr/>
          <p:nvPr/>
        </p:nvSpPr>
        <p:spPr>
          <a:xfrm>
            <a:off x="1645920" y="2103120"/>
            <a:ext cx="7132320" cy="6217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Part I: Foundations &amp; Design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1. Introduction &amp; Background: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Post-Quantum Cryptography (PQC) imperative, Shor's algorithm, and HNDL threat.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2. Research Gap &amp; Motivation: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Limitations of flat CBOMs, isolated risk scoring, and lack of call topology.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3. Review of Phase 1 Work: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Initial prototypes, evaluator feedback received, and major architectural upgrades.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4. Problem Statement &amp; 5 Objectives: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Formal mathematical scope, 6-node ontology, and 5 academic objectives.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5. Proposed Methodology &amp; Architecture: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5 core pillars, end-to-end execution workflow, and 6-layer architecture.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103120"/>
            <a:ext cx="7680960" cy="6217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Part II: Implementation &amp; Results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6. Multi-Scanner Discovery &amp; Graph: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7 static scanners across Python/Java/Go + 6-node property graph schema.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7. Heuristic Risk &amp; Mosca Readiness: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Deterministic 7-factor formulation, canonical weights summing to 1.0, and Mosca index.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8. Experimental Setup &amp; 8-Repo Corpus: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Corpus of 4,558 files, 413 backend tests passing (100%), and scan findings.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9. GATv2 Distillation &amp; Sensitivity: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Macro-F1 evaluation under LOPO cross-validation and OAT sensitivity analysis.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10. Conclusion &amp; Future Scope: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Key academic outcomes, extensions, and 20 verified references.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088" y="506530"/>
            <a:ext cx="17554438" cy="9567169"/>
          </a:xfrm>
          <a:custGeom>
            <a:avLst/>
            <a:gdLst/>
            <a:ahLst/>
            <a:cxnLst/>
            <a:rect r="r" b="b" t="t" l="l"/>
            <a:pathLst>
              <a:path h="9567169" w="17554438">
                <a:moveTo>
                  <a:pt x="0" y="0"/>
                </a:moveTo>
                <a:lnTo>
                  <a:pt x="17554438" y="0"/>
                </a:lnTo>
                <a:lnTo>
                  <a:pt x="17554438" y="9567169"/>
                </a:lnTo>
                <a:lnTo>
                  <a:pt x="0" y="956716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2595182" y="947395"/>
            <a:ext cx="13097636" cy="11493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sz="3400" b="1" i="0">
                <a:solidFill>
                  <a:srgbClr val="303298"/>
                </a:solidFill>
                <a:latin typeface="Times New Roman"/>
              </a:rPr>
              <a:t>INTRODUCTION: THE POST-QUANTUM IMPERATIVE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719449" y="4347457"/>
            <a:ext cx="4963716" cy="179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6862475" y="948359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236163" y="9483591"/>
            <a:ext cx="4920457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</a:t>
            </a: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artment of Cyber Security | NMAMIT, Nitte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848377"/>
            <a:ext cx="1431244" cy="1509311"/>
          </a:xfrm>
          <a:custGeom>
            <a:avLst/>
            <a:gdLst/>
            <a:ahLst/>
            <a:cxnLst/>
            <a:rect r="r" b="b" t="t" l="l"/>
            <a:pathLst>
              <a:path h="1509311" w="1431244">
                <a:moveTo>
                  <a:pt x="0" y="0"/>
                </a:moveTo>
                <a:lnTo>
                  <a:pt x="1431244" y="0"/>
                </a:lnTo>
                <a:lnTo>
                  <a:pt x="1431244" y="1509311"/>
                </a:lnTo>
                <a:lnTo>
                  <a:pt x="0" y="1509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8" name="Rounded Rectangle 7"/>
          <p:cNvSpPr/>
          <p:nvPr/>
        </p:nvSpPr>
        <p:spPr>
          <a:xfrm>
            <a:off x="1645920" y="2103120"/>
            <a:ext cx="7132320" cy="6217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The Quantum Threat Horizon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303298"/>
                </a:solidFill>
                <a:latin typeface="Times New Roman"/>
              </a:rPr>
              <a:t>Shor's Algorithm &amp; Asymmetric Crypto: </a:t>
            </a:r>
            <a:r>
              <a:rPr sz="1700" b="0" i="0">
                <a:solidFill>
                  <a:srgbClr val="1E293B"/>
                </a:solidFill>
                <a:latin typeface="Times New Roman"/>
              </a:rPr>
              <a:t>Cryptanalytically Relevant Quantum Computers (CRQCs) will break RSA, ECC, and Diffie-Hellman, compromising digital signatures and key exchange worldwide.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303298"/>
                </a:solidFill>
                <a:latin typeface="Times New Roman"/>
              </a:rPr>
              <a:t>Harvest Now, Decrypt Later (HNDL): </a:t>
            </a:r>
            <a:r>
              <a:rPr sz="1700" b="0" i="0">
                <a:solidFill>
                  <a:srgbClr val="1E293B"/>
                </a:solidFill>
                <a:latin typeface="Times New Roman"/>
              </a:rPr>
              <a:t>Adversarial actors passively intercept and archive encrypted communications today to decrypt them retroactively once CRQCs mature.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303298"/>
                </a:solidFill>
                <a:latin typeface="Times New Roman"/>
              </a:rPr>
              <a:t>NIST PQC Standards (Aug 2024): </a:t>
            </a:r>
            <a:r>
              <a:rPr sz="1700" b="0" i="0">
                <a:solidFill>
                  <a:srgbClr val="1E293B"/>
                </a:solidFill>
                <a:latin typeface="Times New Roman"/>
              </a:rPr>
              <a:t>NIST finalized FIPS 203 (ML-KEM), FIPS 204 (ML-DSA), and FIPS 205 (SLH-DSA), transitioning post-quantum security from theory to immediate engineering reality.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2103120"/>
            <a:ext cx="7680960" cy="6217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The Enterprise Crypto-Agility Crisis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303298"/>
                </a:solidFill>
                <a:latin typeface="Times New Roman"/>
              </a:rPr>
              <a:t>Cryptographic Sprawl: </a:t>
            </a:r>
            <a:r>
              <a:rPr sz="1700" b="0" i="0">
                <a:solidFill>
                  <a:srgbClr val="1E293B"/>
                </a:solidFill>
                <a:latin typeface="Times New Roman"/>
              </a:rPr>
              <a:t>Modern enterprise software contains sprawling, uncataloged cryptographic debts embedded deep within source code, dependencies, certs, and APIs.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303298"/>
                </a:solidFill>
                <a:latin typeface="Times New Roman"/>
              </a:rPr>
              <a:t>Manual Auditing Failure: </a:t>
            </a:r>
            <a:r>
              <a:rPr sz="1700" b="0" i="0">
                <a:solidFill>
                  <a:srgbClr val="1E293B"/>
                </a:solidFill>
                <a:latin typeface="Times New Roman"/>
              </a:rPr>
              <a:t>Human code audits and legacy static analyzers cannot map multi-tier architectural exposure paths across polyglot repositories (Python, Java, Go).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303298"/>
                </a:solidFill>
                <a:latin typeface="Times New Roman"/>
              </a:rPr>
              <a:t>The AgileGraph Solution: </a:t>
            </a:r>
            <a:r>
              <a:rPr sz="1700" b="0" i="0">
                <a:solidFill>
                  <a:srgbClr val="1E293B"/>
                </a:solidFill>
                <a:latin typeface="Times New Roman"/>
              </a:rPr>
              <a:t>AgileGraph automates multi-language cryptographic discovery, builds an interconnected property graph, and applies deterministic risk scoring and GNN distillation to triage migration.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088" y="506530"/>
            <a:ext cx="17415170" cy="9491267"/>
          </a:xfrm>
          <a:custGeom>
            <a:avLst/>
            <a:gdLst/>
            <a:ahLst/>
            <a:cxnLst/>
            <a:rect r="r" b="b" t="t" l="l"/>
            <a:pathLst>
              <a:path h="9491267" w="17415170">
                <a:moveTo>
                  <a:pt x="0" y="0"/>
                </a:moveTo>
                <a:lnTo>
                  <a:pt x="17415170" y="0"/>
                </a:lnTo>
                <a:lnTo>
                  <a:pt x="17415170" y="9491267"/>
                </a:lnTo>
                <a:lnTo>
                  <a:pt x="0" y="9491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685930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251958" y="9201151"/>
            <a:ext cx="4920457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</a:t>
            </a: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artment of Cyber Security | NMAMIT, Nitte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848377"/>
            <a:ext cx="1431244" cy="1509311"/>
          </a:xfrm>
          <a:custGeom>
            <a:avLst/>
            <a:gdLst/>
            <a:ahLst/>
            <a:cxnLst/>
            <a:rect r="r" b="b" t="t" l="l"/>
            <a:pathLst>
              <a:path h="1509311" w="1431244">
                <a:moveTo>
                  <a:pt x="0" y="0"/>
                </a:moveTo>
                <a:lnTo>
                  <a:pt x="1431244" y="0"/>
                </a:lnTo>
                <a:lnTo>
                  <a:pt x="1431244" y="1509311"/>
                </a:lnTo>
                <a:lnTo>
                  <a:pt x="0" y="1509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2560320" y="777240"/>
            <a:ext cx="1325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03298"/>
                </a:solidFill>
                <a:latin typeface="Times New Roman"/>
              </a:rPr>
              <a:t>RESEARCH GAP &amp; MOTIVATION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103120"/>
            <a:ext cx="713232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Gap 1: Flat Inventories vs. Relational Graph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Limitation: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Existing CBOM tools (e.g. CycloneDX generators) produce flat algorithm lists. They miss structural call hierarchies, nested libraries, and data-flow reachability.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1D4ED8"/>
                </a:solidFill>
                <a:latin typeface="Times New Roman"/>
              </a:rPr>
              <a:t>AgileGraph Solution: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A 6-node property graph capturing syntax, runtime dependencies, and cross-tier exposure paths.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103120"/>
            <a:ext cx="768096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Gap 2: Subjective Severity vs. Formal Metrics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Limitation: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Prior security scanners output qualitative high/medium/low severity without grounding in Mosca's quantum theorem or official NIST migration deadlines.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1D4ED8"/>
                </a:solidFill>
                <a:latin typeface="Times New Roman"/>
              </a:rPr>
              <a:t>AgileGraph Solution: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Deterministic 7-factor linear risk scoring [0, 100] coupled with the Mosca Readiness Index U = (X+Y)/Z.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5303520"/>
            <a:ext cx="7132320" cy="3017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Gap 3: Isolated Vulnerability Fallacy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Limitation: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Scanning an obsolete algorithm in isolation treats a dead test helper identically to a public-facing payment gateway API. Context is completely lost.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1D4ED8"/>
                </a:solidFill>
                <a:latin typeface="Times New Roman"/>
              </a:rPr>
              <a:t>AgileGraph Solution: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Topological exposure propagation linking data sensitivity, network reachability, and graph centrality.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5303520"/>
            <a:ext cx="7680960" cy="3017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Gap 4: Absence of Lifecycle Operationalization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Limitation: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Academic research typically stops at static detection, offering no actionable migration lifecycle, sprint triage matrices, or tamper-proof provenance logging.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1D4ED8"/>
                </a:solidFill>
                <a:latin typeface="Times New Roman"/>
              </a:rPr>
              <a:t>AgileGraph Solution: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A 6-state migration roadmap (Discovered to Deprecated) backed by append-only SQLite audit logs and SHA-256 reports.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088" y="506530"/>
            <a:ext cx="17415170" cy="9491267"/>
          </a:xfrm>
          <a:custGeom>
            <a:avLst/>
            <a:gdLst/>
            <a:ahLst/>
            <a:cxnLst/>
            <a:rect r="r" b="b" t="t" l="l"/>
            <a:pathLst>
              <a:path h="9491267" w="17415170">
                <a:moveTo>
                  <a:pt x="0" y="0"/>
                </a:moveTo>
                <a:lnTo>
                  <a:pt x="17415170" y="0"/>
                </a:lnTo>
                <a:lnTo>
                  <a:pt x="17415170" y="9491267"/>
                </a:lnTo>
                <a:lnTo>
                  <a:pt x="0" y="9491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6462871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59944" y="647611"/>
            <a:ext cx="14799356" cy="2301875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sz="3400" b="1" i="0">
                <a:solidFill>
                  <a:srgbClr val="303298"/>
                </a:solidFill>
                <a:latin typeface="Times New Roman"/>
              </a:rPr>
              <a:t>REVIEW FROM PRESENTATION PHASE-1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88726" y="4800917"/>
            <a:ext cx="15651524" cy="2399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019190" y="9166147"/>
            <a:ext cx="4700488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848038" y="9201151"/>
            <a:ext cx="493930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</a:t>
            </a: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artment of Cyber Security | NMAMIT, Nitte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848377"/>
            <a:ext cx="1431244" cy="1509311"/>
          </a:xfrm>
          <a:custGeom>
            <a:avLst/>
            <a:gdLst/>
            <a:ahLst/>
            <a:cxnLst/>
            <a:rect r="r" b="b" t="t" l="l"/>
            <a:pathLst>
              <a:path h="1509311" w="1431244">
                <a:moveTo>
                  <a:pt x="0" y="0"/>
                </a:moveTo>
                <a:lnTo>
                  <a:pt x="1431244" y="0"/>
                </a:lnTo>
                <a:lnTo>
                  <a:pt x="1431244" y="1509311"/>
                </a:lnTo>
                <a:lnTo>
                  <a:pt x="0" y="1509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9" name="Rounded Rectangle 8"/>
          <p:cNvSpPr/>
          <p:nvPr/>
        </p:nvSpPr>
        <p:spPr>
          <a:xfrm>
            <a:off x="1645920" y="2103120"/>
            <a:ext cx="7132320" cy="6217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Phase 1 Baseline &amp; Evaluator Feedback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303298"/>
                </a:solidFill>
                <a:latin typeface="Times New Roman"/>
              </a:rPr>
              <a:t>Phase 1 Work Completed: </a:t>
            </a:r>
            <a:r>
              <a:rPr sz="1700" b="0" i="0">
                <a:solidFill>
                  <a:srgbClr val="1E293B"/>
                </a:solidFill>
                <a:latin typeface="Times New Roman"/>
              </a:rPr>
              <a:t>Formulated initial problem, built a single-language prototype (Python AST), and performed preliminary literature survey.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Evaluator Feedback 1: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Extend scanner discovery beyond Python to multi-language enterprise enterprise stacks (Java JCA/JCE and Go crypto/tls).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Evaluator Feedback 2: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Formalize risk scoring weights mathematically, ensuring weights sum to 1.0 with explicit sensitivity bounds.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Evaluator Feedback 3: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Curate a pinned benchmark corpus to demonstrate reproducibility across diverse software architectures.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2103120"/>
            <a:ext cx="7680960" cy="6217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Phase 2 Implementation &amp; Resolved Enhancements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047857"/>
                </a:solidFill>
                <a:latin typeface="Times New Roman"/>
              </a:rPr>
              <a:t>Multi-Language Scanners: </a:t>
            </a:r>
            <a:r>
              <a:rPr sz="1700" b="0" i="0">
                <a:solidFill>
                  <a:srgbClr val="1E293B"/>
                </a:solidFill>
                <a:latin typeface="Times New Roman"/>
              </a:rPr>
              <a:t>Delivered 7 specialized scanners covering Python AST, Java JCA/JCE, Go crypto/tls, dependency manifests, certs, endpoints, and sensitive data.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047857"/>
                </a:solidFill>
                <a:latin typeface="Times New Roman"/>
              </a:rPr>
              <a:t>Deterministic 7-Factor Model: </a:t>
            </a:r>
            <a:r>
              <a:rPr sz="1700" b="0" i="0">
                <a:solidFill>
                  <a:srgbClr val="1E293B"/>
                </a:solidFill>
                <a:latin typeface="Times New Roman"/>
              </a:rPr>
              <a:t>Implemented rigorous linear risk formula (w1..w7 summing to 1.0) with MissingDataPolicy (RENORMALIZE / CONSERVATIVE).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047857"/>
                </a:solidFill>
                <a:latin typeface="Times New Roman"/>
              </a:rPr>
              <a:t>GATv2 Distillation Pipeline: </a:t>
            </a:r>
            <a:r>
              <a:rPr sz="1700" b="0" i="0">
                <a:solidFill>
                  <a:srgbClr val="1E293B"/>
                </a:solidFill>
                <a:latin typeface="Times New Roman"/>
              </a:rPr>
              <a:t>Trained heterogeneous GATv2 under 8-fold Leave-One-Project-Out (LOPO) cross-validation against randomized edge-shuffled controls.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047857"/>
                </a:solidFill>
                <a:latin typeface="Times New Roman"/>
              </a:rPr>
              <a:t>Full-Stack Product Layer: </a:t>
            </a:r>
            <a:r>
              <a:rPr sz="1700" b="0" i="0">
                <a:solidFill>
                  <a:srgbClr val="1E293B"/>
                </a:solidFill>
                <a:latin typeface="Times New Roman"/>
              </a:rPr>
              <a:t>FastAPI backend, React/Vite interactive UI, 6-state migration roadmap, and 413 passing backend pytest tests (100% pass rate).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088" y="506530"/>
            <a:ext cx="17415170" cy="9491267"/>
          </a:xfrm>
          <a:custGeom>
            <a:avLst/>
            <a:gdLst/>
            <a:ahLst/>
            <a:cxnLst/>
            <a:rect r="r" b="b" t="t" l="l"/>
            <a:pathLst>
              <a:path h="9491267" w="17415170">
                <a:moveTo>
                  <a:pt x="0" y="0"/>
                </a:moveTo>
                <a:lnTo>
                  <a:pt x="17415170" y="0"/>
                </a:lnTo>
                <a:lnTo>
                  <a:pt x="17415170" y="9491267"/>
                </a:lnTo>
                <a:lnTo>
                  <a:pt x="0" y="9491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49675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07154" y="866775"/>
            <a:ext cx="13335994" cy="11493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sz="3400" b="1" i="0">
                <a:solidFill>
                  <a:srgbClr val="303298"/>
                </a:solidFill>
                <a:latin typeface="Times New Roman"/>
              </a:rPr>
              <a:t>PROBLEM STATEMENT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476206" y="5057775"/>
            <a:ext cx="12882662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1054062" y="9235890"/>
            <a:ext cx="4700488" cy="59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10832216" y="9201150"/>
            <a:ext cx="493930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</a:t>
            </a: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artment of Cyber Security | NMAMIT, Nitte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28700" y="848377"/>
            <a:ext cx="1431244" cy="1509311"/>
          </a:xfrm>
          <a:custGeom>
            <a:avLst/>
            <a:gdLst/>
            <a:ahLst/>
            <a:cxnLst/>
            <a:rect r="r" b="b" t="t" l="l"/>
            <a:pathLst>
              <a:path h="1509311" w="1431244">
                <a:moveTo>
                  <a:pt x="0" y="0"/>
                </a:moveTo>
                <a:lnTo>
                  <a:pt x="1431244" y="0"/>
                </a:lnTo>
                <a:lnTo>
                  <a:pt x="1431244" y="1509311"/>
                </a:lnTo>
                <a:lnTo>
                  <a:pt x="0" y="1509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9" name="Rounded Rectangle 8"/>
          <p:cNvSpPr/>
          <p:nvPr/>
        </p:nvSpPr>
        <p:spPr>
          <a:xfrm>
            <a:off x="1645920" y="2103120"/>
            <a:ext cx="15179040" cy="210312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Formal Problem Definition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900" b="0" i="1">
                <a:solidFill>
                  <a:srgbClr val="303298"/>
                </a:solidFill>
                <a:latin typeface="Times New Roman"/>
              </a:rPr>
              <a:t>“To automate the discovery of cryptographic primitives, certificates, endpoints, and sensitive data across multi-language source codebases, construct a unified property graph capturing structural and dependency topologies, and compute deterministic, explainable risk scores prioritizing post-quantum migration under Mosca’s theorem and NIST FIPS 203–205 guidelines.”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4480560"/>
            <a:ext cx="4754880" cy="3840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Challenge 1: Polyglot Semantics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Heterogeneous Syntax: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Resolving cryptographic calls across Python AST, Java JCA/JCE reflection, and Go imports without compiler dependencies or build failures.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0" y="4480560"/>
            <a:ext cx="4754880" cy="3840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Challenge 2: Topology Invariants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Graph Cohesion: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Synthesizing 6 node types and 6 typed edges while strictly enforcing invariants (zero orphan usages, acyclic dependency hierarchies).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070080" y="4480560"/>
            <a:ext cx="4754880" cy="3840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Challenge 3: Explainable Triage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Audit Verifiability: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Eliminating black-box scoring; ensuring every risk value [0, 100] decomposes into verifiable factor contributions and Mosca timing indexes.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6415" y="795733"/>
            <a:ext cx="17415170" cy="9491267"/>
          </a:xfrm>
          <a:custGeom>
            <a:avLst/>
            <a:gdLst/>
            <a:ahLst/>
            <a:cxnLst/>
            <a:rect r="r" b="b" t="t" l="l"/>
            <a:pathLst>
              <a:path h="9491267" w="17415170">
                <a:moveTo>
                  <a:pt x="0" y="0"/>
                </a:moveTo>
                <a:lnTo>
                  <a:pt x="17415170" y="0"/>
                </a:lnTo>
                <a:lnTo>
                  <a:pt x="17415170" y="9491267"/>
                </a:lnTo>
                <a:lnTo>
                  <a:pt x="0" y="9491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46608" y="1127718"/>
            <a:ext cx="10196443" cy="11493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sz="3400" b="1" i="0">
                <a:solidFill>
                  <a:srgbClr val="303298"/>
                </a:solidFill>
                <a:latin typeface="Times New Roman"/>
              </a:rPr>
              <a:t>OBJECTIVES OF PHASE 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991604" y="2984043"/>
            <a:ext cx="12708537" cy="530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34059" indent="-367030" lvl="1">
              <a:lnSpc>
                <a:spcPts val="7309"/>
              </a:lnSpc>
              <a:buAutoNum type="arabicPeriod" startAt="1"/>
            </a:pPr>
          </a:p>
          <a:p>
            <a:pPr algn="l" marL="734059" indent="-367030" lvl="1">
              <a:lnSpc>
                <a:spcPts val="7309"/>
              </a:lnSpc>
              <a:buAutoNum type="arabicPeriod" startAt="1"/>
            </a:pPr>
          </a:p>
          <a:p>
            <a:pPr algn="l" marL="734059" indent="-367030" lvl="1">
              <a:lnSpc>
                <a:spcPts val="7309"/>
              </a:lnSpc>
              <a:buAutoNum type="arabicPeriod" startAt="1"/>
            </a:pPr>
          </a:p>
          <a:p>
            <a:pPr algn="l" marL="734059" indent="-367030" lvl="1">
              <a:lnSpc>
                <a:spcPts val="7309"/>
              </a:lnSpc>
              <a:buAutoNum type="arabicPeriod" startAt="1"/>
            </a:pPr>
          </a:p>
          <a:p>
            <a:pPr algn="l" marL="734059" indent="-367030" lvl="1">
              <a:lnSpc>
                <a:spcPts val="7309"/>
              </a:lnSpc>
              <a:buAutoNum type="arabicPeriod" startAt="1"/>
            </a:pPr>
          </a:p>
          <a:p>
            <a:pPr algn="l">
              <a:lnSpc>
                <a:spcPts val="47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6487676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7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974440" y="9201151"/>
            <a:ext cx="493930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</a:t>
            </a: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artment of Cyber Security | NMAMIT, Nitte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275982" y="1028700"/>
            <a:ext cx="1431244" cy="1509311"/>
          </a:xfrm>
          <a:custGeom>
            <a:avLst/>
            <a:gdLst/>
            <a:ahLst/>
            <a:cxnLst/>
            <a:rect r="r" b="b" t="t" l="l"/>
            <a:pathLst>
              <a:path h="1509311" w="1431244">
                <a:moveTo>
                  <a:pt x="0" y="0"/>
                </a:moveTo>
                <a:lnTo>
                  <a:pt x="1431244" y="0"/>
                </a:lnTo>
                <a:lnTo>
                  <a:pt x="1431244" y="1509311"/>
                </a:lnTo>
                <a:lnTo>
                  <a:pt x="0" y="1509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8" name="Rounded Rectangle 7"/>
          <p:cNvSpPr/>
          <p:nvPr/>
        </p:nvSpPr>
        <p:spPr>
          <a:xfrm>
            <a:off x="1645920" y="2103120"/>
            <a:ext cx="15179040" cy="6217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Core Technical Objectives (Aligned with Academic Proposal)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303298"/>
                </a:solidFill>
                <a:latin typeface="Times New Roman"/>
              </a:rPr>
              <a:t>1. To Design a Canonical Property Graph Schema: </a:t>
            </a:r>
            <a:r>
              <a:rPr sz="1700" b="0" i="0">
                <a:solidFill>
                  <a:srgbClr val="1E293B"/>
                </a:solidFill>
                <a:latin typeface="Times New Roman"/>
              </a:rPr>
              <a:t>Formalize a 6-node property-graph ontology (File, CryptoUsage, Certificate, Endpoint, Library, SensitiveData) and typed directed edge semantics (CALLS, USES_LIBRARY, PROTECTS, EXPOSES, CONTAINS, DEPENDS_ON) with strict topological invariant verification.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303298"/>
                </a:solidFill>
                <a:latin typeface="Times New Roman"/>
              </a:rPr>
              <a:t>2. To Develop Multi-Language Static Scanners: </a:t>
            </a:r>
            <a:r>
              <a:rPr sz="1700" b="0" i="0">
                <a:solidFill>
                  <a:srgbClr val="1E293B"/>
                </a:solidFill>
                <a:latin typeface="Times New Roman"/>
              </a:rPr>
              <a:t>Build a deterministic static discovery engine comprising 7 specialized scanners across 3 programming languages (Python AST, Java JCA/JCE, Go) and environmental analyzers (Dependency manifests with offline OSV CVE intelligence, X.509 Certificate parser, Endpoint scanner, and Sensitive Data detector).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303298"/>
                </a:solidFill>
                <a:latin typeface="Times New Roman"/>
              </a:rPr>
              <a:t>3. To Implement Deterministic 7-Factor Risk Scoring &amp; Mosca Urgency: </a:t>
            </a:r>
            <a:r>
              <a:rPr sz="1700" b="0" i="0">
                <a:solidFill>
                  <a:srgbClr val="1E293B"/>
                </a:solidFill>
                <a:latin typeface="Times New Roman"/>
              </a:rPr>
              <a:t>Formulate a transparent, normalized composite risk engine (R(v) in [0, 100]) with canonical weights summing to 1.0, missing-evidence handling policies (RENORMALIZE, CONSERVATIVE), and the Mosca Readiness Index (U = (X+Y)/Z) for forward-looking quantum migration urgency.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303298"/>
                </a:solidFill>
                <a:latin typeface="Times New Roman"/>
              </a:rPr>
              <a:t>4. To Evaluate Heterogeneous GATv2 Representation Distillation: </a:t>
            </a:r>
            <a:r>
              <a:rPr sz="1700" b="0" i="0">
                <a:solidFill>
                  <a:srgbClr val="1E293B"/>
                </a:solidFill>
                <a:latin typeface="Times New Roman"/>
              </a:rPr>
              <a:t>Implement and evaluate a PyTorch-Geometric Heterogeneous GATv2 model trained on weak labels from the heuristic engine under Leave-One-Project-Out (LOPO) cross-validation across an 8-repository corpus, verified against edge-shuffled topological controls.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303298"/>
                </a:solidFill>
                <a:latin typeface="Times New Roman"/>
              </a:rPr>
              <a:t>5. To Build &amp; Validate an Enterprise Product Platform: </a:t>
            </a:r>
            <a:r>
              <a:rPr sz="1700" b="0" i="0">
                <a:solidFill>
                  <a:srgbClr val="1E293B"/>
                </a:solidFill>
                <a:latin typeface="Times New Roman"/>
              </a:rPr>
              <a:t>Deliver a production-grade web dashboard (React 18, Vite, TypeScript) and REST API (FastAPI) backed by an append-only SQLite audit log tracking assets across a 6-state migration roadmap (DISCOVERED to DEPRECATED), multi-user isolation, and SHA-256 provenance CBOM reports.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088" y="506530"/>
            <a:ext cx="17415170" cy="9491267"/>
          </a:xfrm>
          <a:custGeom>
            <a:avLst/>
            <a:gdLst/>
            <a:ahLst/>
            <a:cxnLst/>
            <a:rect r="r" b="b" t="t" l="l"/>
            <a:pathLst>
              <a:path h="9491267" w="17415170">
                <a:moveTo>
                  <a:pt x="0" y="0"/>
                </a:moveTo>
                <a:lnTo>
                  <a:pt x="17415170" y="0"/>
                </a:lnTo>
                <a:lnTo>
                  <a:pt x="17415170" y="9491267"/>
                </a:lnTo>
                <a:lnTo>
                  <a:pt x="0" y="9491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304121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90551" y="9201150"/>
            <a:ext cx="493930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</a:t>
            </a: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artment of Cyber Security | NMAMIT, Nitte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848377"/>
            <a:ext cx="1431244" cy="1509311"/>
          </a:xfrm>
          <a:custGeom>
            <a:avLst/>
            <a:gdLst/>
            <a:ahLst/>
            <a:cxnLst/>
            <a:rect r="r" b="b" t="t" l="l"/>
            <a:pathLst>
              <a:path h="1509311" w="1431244">
                <a:moveTo>
                  <a:pt x="0" y="0"/>
                </a:moveTo>
                <a:lnTo>
                  <a:pt x="1431244" y="0"/>
                </a:lnTo>
                <a:lnTo>
                  <a:pt x="1431244" y="1509311"/>
                </a:lnTo>
                <a:lnTo>
                  <a:pt x="0" y="1509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2560320" y="777240"/>
            <a:ext cx="1325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03298"/>
                </a:solidFill>
                <a:latin typeface="Times New Roman"/>
              </a:rPr>
              <a:t>LITERATURE SURVEY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920" y="2103120"/>
          <a:ext cx="15179040" cy="612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291840"/>
                <a:gridCol w="5120640"/>
                <a:gridCol w="3840480"/>
              </a:tblGrid>
              <a:tr h="875211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Author / Standard</a:t>
                      </a:r>
                    </a:p>
                  </a:txBody>
                  <a:tcPr anchor="ctr">
                    <a:solidFill>
                      <a:srgbClr val="3032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Domain / Contribution</a:t>
                      </a:r>
                    </a:p>
                  </a:txBody>
                  <a:tcPr anchor="ctr">
                    <a:solidFill>
                      <a:srgbClr val="3032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Key Findings &amp; Methodology</a:t>
                      </a:r>
                    </a:p>
                  </a:txBody>
                  <a:tcPr anchor="ctr">
                    <a:solidFill>
                      <a:srgbClr val="3032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Research Gap / Limitation</a:t>
                      </a:r>
                    </a:p>
                  </a:txBody>
                  <a:tcPr anchor="ctr">
                    <a:solidFill>
                      <a:srgbClr val="303298"/>
                    </a:solidFill>
                  </a:tcPr>
                </a:tc>
              </a:tr>
              <a:tr h="875211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293B"/>
                          </a:solidFill>
                          <a:latin typeface="Times New Roman"/>
                        </a:rPr>
                        <a:t>NIST FIPS 203/204/205 (Aug 2024)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Post-Quantum Cryptography Standards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Standardized ML-KEM, ML-DSA, and SLH-DSA as definitive post-quantum migration targets.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Standards specification; does not provide tools to discover existing legacy assets in code.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75211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293B"/>
                          </a:solidFill>
                          <a:latin typeface="Times New Roman"/>
                        </a:rPr>
                        <a:t>M. Mosca (IEEE S&amp;P 2018)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Quantum Risk Theorem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Formulated U = (X+Y)/Z timing inequality defining when migration must begin to avoid compromise.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Theoretical mathematical formulation without code-level scanning or dependency modeling.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75211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293B"/>
                          </a:solidFill>
                          <a:latin typeface="Times New Roman"/>
                        </a:rPr>
                        <a:t>M. Egele et al. (ACM CCS 2013)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CryptoLint (Static Analysis)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Pioneered rule-based static checking for 6 cryptographic misuses in Android Java bytecode.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Rule-based and limited to Android Java; lacks property graph topology and post-quantum triage.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75211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293B"/>
                          </a:solidFill>
                          <a:latin typeface="Times New Roman"/>
                        </a:rPr>
                        <a:t>S. Krüger et al. (ASE 2017)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CogniCrypt (Developer Tool)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Static analysis IDE plugin enforcing cryptographic misuse rules via CrySL specifications.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Developer/file-centric; does not build enterprise-wide dependency graphs or PQC roadmaps.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875211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293B"/>
                          </a:solidFill>
                          <a:latin typeface="Times New Roman"/>
                        </a:rPr>
                        <a:t>S. Brody et al. (ICLR 2022)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GATv2 Graph Attention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Introduced dynamic graph attention fixing standard GAT expressiveness bottlenecks.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Evaluated on general graph benchmarks, not on cryptographic risk propagation graphs.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75214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293B"/>
                          </a:solidFill>
                          <a:latin typeface="Times New Roman"/>
                        </a:rPr>
                        <a:t>OWASP CycloneDX v1.6 (2024)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CBOM Specification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Established standard schema for Cryptographic Bill of Materials (algorithms, certs, keys).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Produces flat asset manifests without graph call paths, composite risk scores, or lifecycle roadmaps.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088" y="506530"/>
            <a:ext cx="17415170" cy="9491267"/>
          </a:xfrm>
          <a:custGeom>
            <a:avLst/>
            <a:gdLst/>
            <a:ahLst/>
            <a:cxnLst/>
            <a:rect r="r" b="b" t="t" l="l"/>
            <a:pathLst>
              <a:path h="9491267" w="17415170">
                <a:moveTo>
                  <a:pt x="0" y="0"/>
                </a:moveTo>
                <a:lnTo>
                  <a:pt x="17415170" y="0"/>
                </a:lnTo>
                <a:lnTo>
                  <a:pt x="17415170" y="9491267"/>
                </a:lnTo>
                <a:lnTo>
                  <a:pt x="0" y="9491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459597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659651" y="947395"/>
            <a:ext cx="11534875" cy="11493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sz="3400" b="1" i="0">
                <a:solidFill>
                  <a:srgbClr val="303298"/>
                </a:solidFill>
                <a:latin typeface="Times New Roman"/>
              </a:rPr>
              <a:t>PROPOSED METHODOLOGY: ARCHITECTURAL PILLARS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201375" y="3092207"/>
            <a:ext cx="5674420" cy="359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  <a:p>
            <a:pPr algn="l" marL="734059" indent="-367030" lvl="1">
              <a:lnSpc>
                <a:spcPts val="4759"/>
              </a:lnSpc>
              <a:buAutoNum type="arabicPeriod" startAt="1"/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899781" y="9201150"/>
            <a:ext cx="493930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</a:t>
            </a: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artment of Cyber Security | NMAMIT, Nitte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848377"/>
            <a:ext cx="1431244" cy="1509311"/>
          </a:xfrm>
          <a:custGeom>
            <a:avLst/>
            <a:gdLst/>
            <a:ahLst/>
            <a:cxnLst/>
            <a:rect r="r" b="b" t="t" l="l"/>
            <a:pathLst>
              <a:path h="1509311" w="1431244">
                <a:moveTo>
                  <a:pt x="0" y="0"/>
                </a:moveTo>
                <a:lnTo>
                  <a:pt x="1431244" y="0"/>
                </a:lnTo>
                <a:lnTo>
                  <a:pt x="1431244" y="1509311"/>
                </a:lnTo>
                <a:lnTo>
                  <a:pt x="0" y="1509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8" name="Rounded Rectangle 7"/>
          <p:cNvSpPr/>
          <p:nvPr/>
        </p:nvSpPr>
        <p:spPr>
          <a:xfrm>
            <a:off x="1645920" y="2103120"/>
            <a:ext cx="2834640" cy="6217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Pillar 1: Discovery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Polyglot Scanners: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AST parsing for Python, lexical/regex analysis for Java, token/import parsing for Go.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Dependency Audits: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Manifest parsers (pom.xml, requirements.txt, go.mod) with offline OSV CVE cache.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Network &amp; Data: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X.509 cert validation, TLS endpoint discovery, and regex secret detection.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103120"/>
            <a:ext cx="2834640" cy="6217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Pillar 2: Graph Engine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6-Node Schema: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File, CryptoUsage, Certificate, Endpoint, Library, SensitiveData.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Typed Directed Edges: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CONTAINS, CALLS, USES_LIB, PROTECTS, EXPOSES, DEPENDS_ON.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Invariant Engine: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Strict structural validation ensuring zero orphan nodes and acyclic imports.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3840" y="2103120"/>
            <a:ext cx="2834640" cy="6217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Pillar 3: Risk Scoring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7-Factor Model: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Deterministic linear combination R(v) = sum(wi * fi) * 100 with sum(wi) = 1.0.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Mosca Readiness: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U = (X+Y)/Z index quantifying quantum migration deadline urgency.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Missing Data: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Formal RENORMALIZE and CONSERVATIVE fallback policies.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0" y="2103120"/>
            <a:ext cx="2834640" cy="6217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Pillar 4: GATv2 ML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Representation: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Distills heuristic labels into continuous graph attention embeddings.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Rigorous LOPO CV: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Evaluated across 8 benchmark repositories held out one-by-one.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Shuffled Controls: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Proves topological learning over edge-shuffled randomized graphs.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081760" y="2103120"/>
            <a:ext cx="2834640" cy="6217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Pillar 5: Product Layer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Migration Roadmap: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6-state lifecycle (Discovered -&gt; Deprecated) with SQLite audit logging.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Executive Triage: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2D priority matrix mapping composite risk vs. Mosca urgency.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Provenance Exports: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CBOM reports signed with Git SHA and heuristic config SHA-256.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088" y="506530"/>
            <a:ext cx="17415170" cy="9491267"/>
          </a:xfrm>
          <a:custGeom>
            <a:avLst/>
            <a:gdLst/>
            <a:ahLst/>
            <a:cxnLst/>
            <a:rect r="r" b="b" t="t" l="l"/>
            <a:pathLst>
              <a:path h="9491267" w="17415170">
                <a:moveTo>
                  <a:pt x="0" y="0"/>
                </a:moveTo>
                <a:lnTo>
                  <a:pt x="17415170" y="0"/>
                </a:lnTo>
                <a:lnTo>
                  <a:pt x="17415170" y="9491267"/>
                </a:lnTo>
                <a:lnTo>
                  <a:pt x="0" y="9491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342618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10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859707" y="2788531"/>
            <a:ext cx="12685903" cy="3599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  <a:p>
            <a:pPr algn="ctr">
              <a:lnSpc>
                <a:spcPts val="475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725422" y="9201151"/>
            <a:ext cx="493930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</a:t>
            </a: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artment of Cyber Security | NMAMIT, Nitte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848377"/>
            <a:ext cx="1431244" cy="1509311"/>
          </a:xfrm>
          <a:custGeom>
            <a:avLst/>
            <a:gdLst/>
            <a:ahLst/>
            <a:cxnLst/>
            <a:rect r="r" b="b" t="t" l="l"/>
            <a:pathLst>
              <a:path h="1509311" w="1431244">
                <a:moveTo>
                  <a:pt x="0" y="0"/>
                </a:moveTo>
                <a:lnTo>
                  <a:pt x="1431244" y="0"/>
                </a:lnTo>
                <a:lnTo>
                  <a:pt x="1431244" y="1509311"/>
                </a:lnTo>
                <a:lnTo>
                  <a:pt x="0" y="1509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7" name="TextBox 6"/>
          <p:cNvSpPr txBox="1"/>
          <p:nvPr/>
        </p:nvSpPr>
        <p:spPr>
          <a:xfrm>
            <a:off x="2560320" y="777240"/>
            <a:ext cx="1325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03298"/>
                </a:solidFill>
                <a:latin typeface="Times New Roman"/>
              </a:rPr>
              <a:t>END-TO-END PIPELINE &amp; EXECUTION WORKFLOW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2103120"/>
            <a:ext cx="15179040" cy="6217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Sequential Processing Dataflow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1D4ED8"/>
                </a:solidFill>
                <a:latin typeface="Times New Roman"/>
              </a:rPr>
              <a:t>Step 1: Source Repository Ingestion &amp; Scoping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•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Target repository is ingested within a configurable filesystem boundary (AGILEGRAPH_SCAN_ROOT) to isolate user workspaces.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1D4ED8"/>
                </a:solidFill>
                <a:latin typeface="Times New Roman"/>
              </a:rPr>
              <a:t>Step 2: Parallel Multi-Language Static Scanning (7 Scanners)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•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Python AST visitor parses hashlib/cryptography/rsa; Java parser checks JCA/JCE Cipher instances; Go scanner resolves crypto/* imports.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•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Dependency scanner maps manifests against local OSV vulnerability disk cache; Endpoint, Cert, and Secret scanners run concurrently.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1D4ED8"/>
                </a:solidFill>
                <a:latin typeface="Times New Roman"/>
              </a:rPr>
              <a:t>Step 3: Canonical Property Graph Construction &amp; Validation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•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Raw discoveries are normalized and synthesized into a typed NetworkX property graph, validating structural invariants and connectivity.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1D4ED8"/>
                </a:solidFill>
                <a:latin typeface="Times New Roman"/>
              </a:rPr>
              <a:t>Step 4: Deterministic 7-Factor Risk Scoring &amp; Mosca Index Calculation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•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Factor extractor computes Algorithm, Key, Exposure, Centrality, CVE, Difficulty, and Sensitivity scores; computes Mosca timing index U.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1D4ED8"/>
                </a:solidFill>
                <a:latin typeface="Times New Roman"/>
              </a:rPr>
              <a:t>Step 5: GATv2 Graph Representation Learning &amp; Distillation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•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Graph converted to PyG Data tensors; heterogeneous GATv2 model generates dynamic attention weights and topological node embeddings.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800" b="1" i="0">
                <a:solidFill>
                  <a:srgbClr val="1D4ED8"/>
                </a:solidFill>
                <a:latin typeface="Times New Roman"/>
              </a:rPr>
              <a:t>Step 6: Enterprise Dashboard, 6-State Roadmap &amp; CBOM Audit Export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•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FastAPI endpoints serve risk metrics to React UI; SQLite tracks 6-state roadmap transitions; generates verifiable JSON/Markdown CBOM.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088" y="506530"/>
            <a:ext cx="17415170" cy="9491267"/>
          </a:xfrm>
          <a:custGeom>
            <a:avLst/>
            <a:gdLst/>
            <a:ahLst/>
            <a:cxnLst/>
            <a:rect r="r" b="b" t="t" l="l"/>
            <a:pathLst>
              <a:path h="9491267" w="17415170">
                <a:moveTo>
                  <a:pt x="0" y="0"/>
                </a:moveTo>
                <a:lnTo>
                  <a:pt x="17415170" y="0"/>
                </a:lnTo>
                <a:lnTo>
                  <a:pt x="17415170" y="9491267"/>
                </a:lnTo>
                <a:lnTo>
                  <a:pt x="0" y="9491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338352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11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51064" y="9201151"/>
            <a:ext cx="493930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</a:t>
            </a: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artment of Cyber Security | NMAMIT, Nitte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848377"/>
            <a:ext cx="1431244" cy="1509311"/>
          </a:xfrm>
          <a:custGeom>
            <a:avLst/>
            <a:gdLst/>
            <a:ahLst/>
            <a:cxnLst/>
            <a:rect r="r" b="b" t="t" l="l"/>
            <a:pathLst>
              <a:path h="1509311" w="1431244">
                <a:moveTo>
                  <a:pt x="0" y="0"/>
                </a:moveTo>
                <a:lnTo>
                  <a:pt x="1431244" y="0"/>
                </a:lnTo>
                <a:lnTo>
                  <a:pt x="1431244" y="1509311"/>
                </a:lnTo>
                <a:lnTo>
                  <a:pt x="0" y="1509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2560320" y="777240"/>
            <a:ext cx="1325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03298"/>
                </a:solidFill>
                <a:latin typeface="Times New Roman"/>
              </a:rPr>
              <a:t>SYSTEM ARCHITECTURE: 6 COHESIVE LAYERS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057400"/>
            <a:ext cx="15179040" cy="960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D4ED8"/>
                </a:solidFill>
                <a:latin typeface="Times New Roman"/>
              </a:rPr>
              <a:t>Layer 1: Presentation Layer (Frontend):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React 18, TypeScript, TailwindCSS, Recharts, Lucide-React, Vite build tool. Features dark/light UI, interactive property graph exploration, and 6-state drag-and-drop migration roadmap.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3108960"/>
            <a:ext cx="15179040" cy="960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Layer 2: API &amp; Security Layer (Service):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FastAPI REST API with asynchronous request lifecycle, strict Pydantic schemas, bcrypt password hashing, PyJWT bearer token authentication, and token revocation blacklist.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4160520"/>
            <a:ext cx="15179040" cy="960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D4ED8"/>
                </a:solidFill>
                <a:latin typeface="Times New Roman"/>
              </a:rPr>
              <a:t>Layer 3: Risk Scoring &amp; Analytics Engine: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Deterministic 7-factor linear risk scoring, canonical weights configuration (config/heuristic_weights.json), 3-tier asset criticality proxy, and Mosca Readiness Index (U = (X+Y)/Z).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5212080"/>
            <a:ext cx="15179040" cy="960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Layer 4: Machine Learning &amp; Distillation Layer: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PyTorch 2.6 and PyTorch-Geometric (PyG). Heterogeneous GATv2 neural network with dynamic attention, 8-fold Leave-One-Project-Out (LOPO) cross-validation, and randomized graph controls.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6263640"/>
            <a:ext cx="15179040" cy="960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1D4ED8"/>
                </a:solidFill>
                <a:latin typeface="Times New Roman"/>
              </a:rPr>
              <a:t>Layer 5: Graph Modeling &amp; Invariant Engine: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6-node canonical ontology (File, CryptoUsage, Certificate, Endpoint, Library, SensitiveData) and 6 typed directed edges. Strict NetworkX validation enforcing zero orphan usages.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45920" y="7315200"/>
            <a:ext cx="15179040" cy="9601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Layer 6: Static Analysis &amp; Ingestion Layer: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Multi-language AST/lexical static scanners (Python, Java, Go), dependency manifest analyzers (pom.xml, requirements.txt, go.mod), and local OSV CVE vulnerability disk cache.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088" y="506530"/>
            <a:ext cx="17415170" cy="9491267"/>
          </a:xfrm>
          <a:custGeom>
            <a:avLst/>
            <a:gdLst/>
            <a:ahLst/>
            <a:cxnLst/>
            <a:rect r="r" b="b" t="t" l="l"/>
            <a:pathLst>
              <a:path h="9491267" w="17415170">
                <a:moveTo>
                  <a:pt x="0" y="0"/>
                </a:moveTo>
                <a:lnTo>
                  <a:pt x="17415170" y="0"/>
                </a:lnTo>
                <a:lnTo>
                  <a:pt x="17415170" y="9491267"/>
                </a:lnTo>
                <a:lnTo>
                  <a:pt x="0" y="9491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376675" y="934237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12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90551" y="9342371"/>
            <a:ext cx="493930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</a:t>
            </a: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artment of Cyber Security | NMAMIT, Nitte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848377"/>
            <a:ext cx="1431244" cy="1509311"/>
          </a:xfrm>
          <a:custGeom>
            <a:avLst/>
            <a:gdLst/>
            <a:ahLst/>
            <a:cxnLst/>
            <a:rect r="r" b="b" t="t" l="l"/>
            <a:pathLst>
              <a:path h="1509311" w="1431244">
                <a:moveTo>
                  <a:pt x="0" y="0"/>
                </a:moveTo>
                <a:lnTo>
                  <a:pt x="1431244" y="0"/>
                </a:lnTo>
                <a:lnTo>
                  <a:pt x="1431244" y="1509311"/>
                </a:lnTo>
                <a:lnTo>
                  <a:pt x="0" y="1509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2560320" y="777240"/>
            <a:ext cx="1325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03298"/>
                </a:solidFill>
                <a:latin typeface="Times New Roman"/>
              </a:rPr>
              <a:t>IMPLEMENTATION: 7 SCANNERS &amp; 6-NODE GRAPH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103120"/>
            <a:ext cx="7406640" cy="6217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7 Multi-Language Discovery Scanners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1. Python AST Scanner: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Traverses AST nodes; extracts calls to hashlib, cryptography.hazmat, rsa, pycryptodome with key sizes, modes, and parameters.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2. Java Scanner: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Lexical/regex analyzer detecting Cipher.getInstance(), KeyPairGenerator, MessageDigest, SecretKeyFactory, and JCA/JCE providers.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3. Go Scanner: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Import-aware token parser resolving crypto/rsa, crypto/ecdsa, crypto/ed25519, crypto/tls, and golang-jwt signatures.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4. Dependency Scanner: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Parses pom.xml, requirements.txt, and go.mod; matches dependencies against offline OSV vulnerability disk cache (CVSS scores).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5. Certificate Scanner: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Parses X.509 PEM/DER certificates, extracting issuer, expiration date, key size, and signature algorithm.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6. Endpoint Scanner: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Discovers exposed HTTP/TLS routes, URL endpoints, and network entry points.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7. Sensitive Data Scanner: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Scans for hardcoded cryptographic keys, JWT tokens, passwords, and PII stores.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2103120"/>
            <a:ext cx="7406640" cy="6217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6-Node Property Graph Schema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Canonical Node Types (6 Categories):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• File: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Source file container hosting code or configuration.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• CryptoUsage: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Instantiated cryptographic call site (e.g. RSA-2048, AES-CBC).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• Certificate: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X.509 digital certificate securing communications.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• Endpoint: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Network ingress route or TLS web endpoint.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• Library: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Third-party cryptographic dependency or SDK.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• SensitiveData: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Credentials, private keys, secrets, or user tokens.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Typed Directed Edge Semantics (6 Relations):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• CONTAINS: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File -&gt; CryptoUsage (ownership hierarchy).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• CALLS: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CryptoUsage -&gt; CryptoUsage (inter-procedural invocation).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• USES_LIBRARY: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File -&gt; Library (dependency binding).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• PROTECTS: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CryptoUsage -&gt; SensitiveData (security perimeter).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• EXPOSES: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Endpoint -&gt; CryptoUsage (attack surface).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• DEPENDS_ON: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Library -&gt; Library (transitive supply chain).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088" y="506530"/>
            <a:ext cx="17415170" cy="9491267"/>
          </a:xfrm>
          <a:custGeom>
            <a:avLst/>
            <a:gdLst/>
            <a:ahLst/>
            <a:cxnLst/>
            <a:rect r="r" b="b" t="t" l="l"/>
            <a:pathLst>
              <a:path h="9491267" w="17415170">
                <a:moveTo>
                  <a:pt x="0" y="0"/>
                </a:moveTo>
                <a:lnTo>
                  <a:pt x="17415170" y="0"/>
                </a:lnTo>
                <a:lnTo>
                  <a:pt x="17415170" y="9491267"/>
                </a:lnTo>
                <a:lnTo>
                  <a:pt x="0" y="9491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324163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13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90551" y="9201150"/>
            <a:ext cx="493930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</a:t>
            </a: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artment of Cyber Security | NMAMIT, Nitte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848377"/>
            <a:ext cx="1431244" cy="1509311"/>
          </a:xfrm>
          <a:custGeom>
            <a:avLst/>
            <a:gdLst/>
            <a:ahLst/>
            <a:cxnLst/>
            <a:rect r="r" b="b" t="t" l="l"/>
            <a:pathLst>
              <a:path h="1509311" w="1431244">
                <a:moveTo>
                  <a:pt x="0" y="0"/>
                </a:moveTo>
                <a:lnTo>
                  <a:pt x="1431244" y="0"/>
                </a:lnTo>
                <a:lnTo>
                  <a:pt x="1431244" y="1509311"/>
                </a:lnTo>
                <a:lnTo>
                  <a:pt x="0" y="1509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2560320" y="777240"/>
            <a:ext cx="1325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03298"/>
                </a:solidFill>
                <a:latin typeface="Times New Roman"/>
              </a:rPr>
              <a:t>IMPLEMENTATION: RISK SCORING &amp; MOSCA INDEX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103120"/>
            <a:ext cx="7406640" cy="6217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Deterministic 7-Factor Formulation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1D4ED8"/>
                </a:solidFill>
                <a:latin typeface="Times New Roman"/>
              </a:rPr>
              <a:t>Risk Formula: </a:t>
            </a:r>
            <a:r>
              <a:rPr sz="1700" b="0" i="0">
                <a:solidFill>
                  <a:srgbClr val="1E293B"/>
                </a:solidFill>
                <a:latin typeface="Times New Roman"/>
              </a:rPr>
              <a:t>R(v) = [sum(wi * fi(v))] * 100 with sum(wi) = 1.0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Canonical Weights Breakdown (Sum = 1.0):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i="0">
                <a:solidFill>
                  <a:srgbClr val="303298"/>
                </a:solidFill>
                <a:latin typeface="Times New Roman"/>
              </a:rPr>
              <a:t>• w1 = 0.25 | Algorithm Vulnerability: </a:t>
            </a:r>
            <a:r>
              <a:rPr sz="1400" b="0" i="0">
                <a:solidFill>
                  <a:srgbClr val="1E293B"/>
                </a:solidFill>
                <a:latin typeface="Times New Roman"/>
              </a:rPr>
              <a:t>Shor breakability (RSA/ECC = 1.0, AES-128 = 0.5, AES-256 = 0.1, ML-KEM/DSA = 0.0).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i="0">
                <a:solidFill>
                  <a:srgbClr val="303298"/>
                </a:solidFill>
                <a:latin typeface="Times New Roman"/>
              </a:rPr>
              <a:t>• w2 = 0.15 | Key Weakness: </a:t>
            </a:r>
            <a:r>
              <a:rPr sz="1400" b="0" i="0">
                <a:solidFill>
                  <a:srgbClr val="1E293B"/>
                </a:solidFill>
                <a:latin typeface="Times New Roman"/>
              </a:rPr>
              <a:t>Sub-standard key lengths (RSA &lt; 2048 = 1.0, RSA 2048 = 0.5, RSA 4096 = 0.2).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i="0">
                <a:solidFill>
                  <a:srgbClr val="303298"/>
                </a:solidFill>
                <a:latin typeface="Times New Roman"/>
              </a:rPr>
              <a:t>• w3 = 0.15 | Exposure Level: </a:t>
            </a:r>
            <a:r>
              <a:rPr sz="1400" b="0" i="0">
                <a:solidFill>
                  <a:srgbClr val="1E293B"/>
                </a:solidFill>
                <a:latin typeface="Times New Roman"/>
              </a:rPr>
              <a:t>Internet route = 1.0, internal service = 0.5, local helper = 0.1.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i="0">
                <a:solidFill>
                  <a:srgbClr val="303298"/>
                </a:solidFill>
                <a:latin typeface="Times New Roman"/>
              </a:rPr>
              <a:t>• w4 = 0.10 | Graph Centrality: </a:t>
            </a:r>
            <a:r>
              <a:rPr sz="1400" b="0" i="0">
                <a:solidFill>
                  <a:srgbClr val="1E293B"/>
                </a:solidFill>
                <a:latin typeface="Times New Roman"/>
              </a:rPr>
              <a:t>Normalized degree centrality in property graph call topology.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i="0">
                <a:solidFill>
                  <a:srgbClr val="303298"/>
                </a:solidFill>
                <a:latin typeface="Times New Roman"/>
              </a:rPr>
              <a:t>• w5 = 0.15 | Known Vulnerabilities: </a:t>
            </a:r>
            <a:r>
              <a:rPr sz="1400" b="0" i="0">
                <a:solidFill>
                  <a:srgbClr val="1E293B"/>
                </a:solidFill>
                <a:latin typeface="Times New Roman"/>
              </a:rPr>
              <a:t>CVSS severity mapping from OSV database matching.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i="0">
                <a:solidFill>
                  <a:srgbClr val="303298"/>
                </a:solidFill>
                <a:latin typeface="Times New Roman"/>
              </a:rPr>
              <a:t>• w6 = 0.10 | Migration Difficulty: </a:t>
            </a:r>
            <a:r>
              <a:rPr sz="1400" b="0" i="0">
                <a:solidFill>
                  <a:srgbClr val="1E293B"/>
                </a:solidFill>
                <a:latin typeface="Times New Roman"/>
              </a:rPr>
              <a:t>Hardcoded calls = 1.0, wrapped library = 0.5, agile config = 0.1.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400" b="1" i="0">
                <a:solidFill>
                  <a:srgbClr val="303298"/>
                </a:solidFill>
                <a:latin typeface="Times New Roman"/>
              </a:rPr>
              <a:t>• w7 = 0.10 | Data Sensitivity: </a:t>
            </a:r>
            <a:r>
              <a:rPr sz="1400" b="0" i="0">
                <a:solidFill>
                  <a:srgbClr val="1E293B"/>
                </a:solidFill>
                <a:latin typeface="Times New Roman"/>
              </a:rPr>
              <a:t>Private keys/passwords = 1.0, PII = 0.7, public logs = 0.1.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2103120"/>
            <a:ext cx="7406640" cy="6217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Mosca Timing &amp; Missing Data Policies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1D4ED8"/>
                </a:solidFill>
                <a:latin typeface="Times New Roman"/>
              </a:rPr>
              <a:t>Mosca Readiness Index Formula: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2000" b="1" i="0">
                <a:solidFill>
                  <a:srgbClr val="303298"/>
                </a:solidFill>
                <a:latin typeface="Times New Roman"/>
              </a:rPr>
              <a:t>U = (X + Y) / Z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• X (Migration Time):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Estimated years required to re-engineer and deploy post-quantum algorithms.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• Y (Shelf Life):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Number of years encrypted sensitive data must remain confidential.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• Z (Quantum Threat Horizon):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Years until a CRQC is operational (conservative baseline: 10 years).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B91C1C"/>
                </a:solidFill>
                <a:latin typeface="Times New Roman"/>
              </a:rPr>
              <a:t>Critical Decision Threshold: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If U &gt;= 1.0, data will be intercepted and decrypted before migration finishes. Immediate sprint triage is required!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700" b="1" i="0">
                <a:solidFill>
                  <a:srgbClr val="1D4ED8"/>
                </a:solidFill>
                <a:latin typeface="Times New Roman"/>
              </a:rPr>
              <a:t>Missing Data Handling Policies: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• RENORMALIZE: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Re-weights observed factors proportionally to sum to 1.0 (default operational mode).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• CONSERVATIVE: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Substitutes maximum risk (1.0) for unobserved factors (high-security compliance mode).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088" y="506530"/>
            <a:ext cx="17415170" cy="9491267"/>
          </a:xfrm>
          <a:custGeom>
            <a:avLst/>
            <a:gdLst/>
            <a:ahLst/>
            <a:cxnLst/>
            <a:rect r="r" b="b" t="t" l="l"/>
            <a:pathLst>
              <a:path h="9491267" w="17415170">
                <a:moveTo>
                  <a:pt x="0" y="0"/>
                </a:moveTo>
                <a:lnTo>
                  <a:pt x="17415170" y="0"/>
                </a:lnTo>
                <a:lnTo>
                  <a:pt x="17415170" y="9491267"/>
                </a:lnTo>
                <a:lnTo>
                  <a:pt x="0" y="9491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200149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14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954710" y="866775"/>
            <a:ext cx="12353925" cy="11493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sz="3400" b="1" i="0">
                <a:solidFill>
                  <a:srgbClr val="303298"/>
                </a:solidFill>
                <a:latin typeface="Times New Roman"/>
              </a:rPr>
              <a:t>RESULTS &amp; PERFORMANCE: SETUP &amp; PLATFORM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14272" y="3231693"/>
            <a:ext cx="14128237" cy="179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0411578" y="9201150"/>
            <a:ext cx="493930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</a:t>
            </a: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artment of Cyber Security | NMAMIT, Nitte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028700" y="848377"/>
            <a:ext cx="1431244" cy="1509311"/>
          </a:xfrm>
          <a:custGeom>
            <a:avLst/>
            <a:gdLst/>
            <a:ahLst/>
            <a:cxnLst/>
            <a:rect r="r" b="b" t="t" l="l"/>
            <a:pathLst>
              <a:path h="1509311" w="1431244">
                <a:moveTo>
                  <a:pt x="0" y="0"/>
                </a:moveTo>
                <a:lnTo>
                  <a:pt x="1431244" y="0"/>
                </a:lnTo>
                <a:lnTo>
                  <a:pt x="1431244" y="1509311"/>
                </a:lnTo>
                <a:lnTo>
                  <a:pt x="0" y="1509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8" name="Rounded Rectangle 7"/>
          <p:cNvSpPr/>
          <p:nvPr/>
        </p:nvSpPr>
        <p:spPr>
          <a:xfrm>
            <a:off x="1645920" y="2103120"/>
            <a:ext cx="7406640" cy="6217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Experimental Setup &amp; Verification Rigor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Hardware &amp; Operating Environment: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Intel Core i7, 16 GB RAM, Windows 11 64-bit, Python 3.13, PyTorch 2.6, NetworkX 3.4.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Polyglot Open-Source Benchmark Corpus: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8 production open-source repositories pinned by exact Git commit hashes spanning Python, Java, and Go (4,558 source files).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047857"/>
                </a:solidFill>
                <a:latin typeface="Times New Roman"/>
              </a:rPr>
              <a:t>Automated Verification Test Suite: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413 automated backend pytest unit, property, and integration tests (100% pass rate).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047857"/>
                </a:solidFill>
                <a:latin typeface="Times New Roman"/>
              </a:rPr>
              <a:t>Frontend UI Test Suite: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38 Vitest component and integration tests (100% pass rate).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Enterprise Platform Capabilities: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FastAPI asynchronous service, interactive force-directed graph view, 6-state migration roadmap, and SHA-256 provenance CBOM reports.</a:t>
            </a:r>
          </a:p>
        </p:txBody>
      </p:sp>
      <p:pic>
        <p:nvPicPr>
          <p:cNvPr id="9" name="Picture 8" descr="her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18320" y="2286000"/>
            <a:ext cx="7406640" cy="585216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088" y="506530"/>
            <a:ext cx="17415170" cy="9491267"/>
          </a:xfrm>
          <a:custGeom>
            <a:avLst/>
            <a:gdLst/>
            <a:ahLst/>
            <a:cxnLst/>
            <a:rect r="r" b="b" t="t" l="l"/>
            <a:pathLst>
              <a:path h="9491267" w="17415170">
                <a:moveTo>
                  <a:pt x="0" y="0"/>
                </a:moveTo>
                <a:lnTo>
                  <a:pt x="17415170" y="0"/>
                </a:lnTo>
                <a:lnTo>
                  <a:pt x="17415170" y="9491267"/>
                </a:lnTo>
                <a:lnTo>
                  <a:pt x="0" y="9491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327735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15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585936" y="9201151"/>
            <a:ext cx="493930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</a:t>
            </a: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artment of Cyber Security | NMAMIT, Nitte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848377"/>
            <a:ext cx="1431244" cy="1509311"/>
          </a:xfrm>
          <a:custGeom>
            <a:avLst/>
            <a:gdLst/>
            <a:ahLst/>
            <a:cxnLst/>
            <a:rect r="r" b="b" t="t" l="l"/>
            <a:pathLst>
              <a:path h="1509311" w="1431244">
                <a:moveTo>
                  <a:pt x="0" y="0"/>
                </a:moveTo>
                <a:lnTo>
                  <a:pt x="1431244" y="0"/>
                </a:lnTo>
                <a:lnTo>
                  <a:pt x="1431244" y="1509311"/>
                </a:lnTo>
                <a:lnTo>
                  <a:pt x="0" y="1509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2560320" y="777240"/>
            <a:ext cx="1325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03298"/>
                </a:solidFill>
                <a:latin typeface="Times New Roman"/>
              </a:rPr>
              <a:t>RESULTS: 8-REPOSITORY CORPUS SCAN FINDINGS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45920" y="2103120"/>
          <a:ext cx="15179040" cy="6126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280160"/>
                <a:gridCol w="1280160"/>
                <a:gridCol w="1645920"/>
                <a:gridCol w="5303520"/>
                <a:gridCol w="2560320"/>
              </a:tblGrid>
              <a:tr h="612648"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Repository</a:t>
                      </a:r>
                    </a:p>
                  </a:txBody>
                  <a:tcPr anchor="ctr">
                    <a:solidFill>
                      <a:srgbClr val="3032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Lang</a:t>
                      </a:r>
                    </a:p>
                  </a:txBody>
                  <a:tcPr anchor="ctr">
                    <a:solidFill>
                      <a:srgbClr val="3032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Files</a:t>
                      </a:r>
                    </a:p>
                  </a:txBody>
                  <a:tcPr anchor="ctr">
                    <a:solidFill>
                      <a:srgbClr val="3032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Crypto Calls</a:t>
                      </a:r>
                    </a:p>
                  </a:txBody>
                  <a:tcPr anchor="ctr">
                    <a:solidFill>
                      <a:srgbClr val="3032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Primary Algorithms Detected</a:t>
                      </a:r>
                    </a:p>
                  </a:txBody>
                  <a:tcPr anchor="ctr">
                    <a:solidFill>
                      <a:srgbClr val="30329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Times New Roman"/>
                        </a:rPr>
                        <a:t>Vulnerability Status</a:t>
                      </a:r>
                    </a:p>
                  </a:txBody>
                  <a:tcPr anchor="ctr">
                    <a:solidFill>
                      <a:srgbClr val="303298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293B"/>
                          </a:solidFill>
                          <a:latin typeface="Times New Roman"/>
                        </a:rPr>
                        <a:t>python_cryptography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Python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3,072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321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RSA, ECDSA, Ed25519, AES, ChaCha20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0 Active OSV CVEs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293B"/>
                          </a:solidFill>
                          <a:latin typeface="Times New Roman"/>
                        </a:rPr>
                        <a:t>python_bcrypt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Python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23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12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Blowfish-based KDF (Password Hashing)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0 Active OSV CVEs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293B"/>
                          </a:solidFill>
                          <a:latin typeface="Times New Roman"/>
                        </a:rPr>
                        <a:t>python_itsdangerous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Python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50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HMAC, SHA-1, SHA-256 (Signed Tokens)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0 Active OSV CVEs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293B"/>
                          </a:solidFill>
                          <a:latin typeface="Times New Roman"/>
                        </a:rPr>
                        <a:t>java_jjwt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Java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733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84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RSA, ECDSA, HMAC-SHA (JWT Security)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0 Active OSV CVEs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293B"/>
                          </a:solidFill>
                          <a:latin typeface="Times New Roman"/>
                        </a:rPr>
                        <a:t>java_java_jwt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Java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134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RSA, HMAC-SHA (Auth Provider)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0 Active OSV CVEs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293B"/>
                          </a:solidFill>
                          <a:latin typeface="Times New Roman"/>
                        </a:rPr>
                        <a:t>go_crypto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Go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418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115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RSA, ECDSA, Ed25519, AES, Curve25519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0 Active OSV CVEs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293B"/>
                          </a:solidFill>
                          <a:latin typeface="Times New Roman"/>
                        </a:rPr>
                        <a:t>go_jwt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Go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HMAC, RSA (Token Authentication)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0 Active OSV CVEs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293B"/>
                          </a:solidFill>
                          <a:latin typeface="Times New Roman"/>
                        </a:rPr>
                        <a:t>go_jwt_go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Go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51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19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HMAC, RSA (Authentication Middleware)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0 Active OSV CVEs</a:t>
                      </a:r>
                    </a:p>
                  </a:txBody>
                  <a:tcPr anchor="ctr">
                    <a:solidFill>
                      <a:srgbClr val="F8FAFC"/>
                    </a:solidFill>
                  </a:tcPr>
                </a:tc>
              </a:tr>
              <a:tr h="612648">
                <a:tc>
                  <a:txBody>
                    <a:bodyPr/>
                    <a:lstStyle/>
                    <a:p>
                      <a:pPr algn="l"/>
                      <a:r>
                        <a:rPr sz="1300" b="1" i="0">
                          <a:solidFill>
                            <a:srgbClr val="1E293B"/>
                          </a:solidFill>
                          <a:latin typeface="Times New Roman"/>
                        </a:rPr>
                        <a:t>TOTALS / SUMMARY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Polyglot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4,558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637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Full Polyglot Coverage Across 3 Languages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0" i="0">
                          <a:solidFill>
                            <a:srgbClr val="1E293B"/>
                          </a:solidFill>
                          <a:latin typeface="Times New Roman"/>
                        </a:rPr>
                        <a:t>100% Parsed Without Crash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088" y="506530"/>
            <a:ext cx="17415170" cy="9491267"/>
          </a:xfrm>
          <a:custGeom>
            <a:avLst/>
            <a:gdLst/>
            <a:ahLst/>
            <a:cxnLst/>
            <a:rect r="r" b="b" t="t" l="l"/>
            <a:pathLst>
              <a:path h="9491267" w="17415170">
                <a:moveTo>
                  <a:pt x="0" y="0"/>
                </a:moveTo>
                <a:lnTo>
                  <a:pt x="17415170" y="0"/>
                </a:lnTo>
                <a:lnTo>
                  <a:pt x="17415170" y="9491267"/>
                </a:lnTo>
                <a:lnTo>
                  <a:pt x="0" y="9491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319202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16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690551" y="9201151"/>
            <a:ext cx="493930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</a:t>
            </a: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artment of Cyber Security | NMAMIT, Nitte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28700" y="848377"/>
            <a:ext cx="1431244" cy="1509311"/>
          </a:xfrm>
          <a:custGeom>
            <a:avLst/>
            <a:gdLst/>
            <a:ahLst/>
            <a:cxnLst/>
            <a:rect r="r" b="b" t="t" l="l"/>
            <a:pathLst>
              <a:path h="1509311" w="1431244">
                <a:moveTo>
                  <a:pt x="0" y="0"/>
                </a:moveTo>
                <a:lnTo>
                  <a:pt x="1431244" y="0"/>
                </a:lnTo>
                <a:lnTo>
                  <a:pt x="1431244" y="1509311"/>
                </a:lnTo>
                <a:lnTo>
                  <a:pt x="0" y="1509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6" name="TextBox 5"/>
          <p:cNvSpPr txBox="1"/>
          <p:nvPr/>
        </p:nvSpPr>
        <p:spPr>
          <a:xfrm>
            <a:off x="2560320" y="777240"/>
            <a:ext cx="1325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03298"/>
                </a:solidFill>
                <a:latin typeface="Times New Roman"/>
              </a:rPr>
              <a:t>RESULTS: GATV2 DISTILLATION &amp; SENSITIVITY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645920" y="2103120"/>
            <a:ext cx="7406640" cy="6217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GATv2 Weak-Supervision Distillation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Evaluation Protocol: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8-fold Leave-One-Project-Out (LOPO) cross-validation across the benchmark corpus.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Model Performance: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Trained with early stopping to convergence; achieved Macro-F1 = 0.690 +/- 0.145 across held-out repositories.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047857"/>
                </a:solidFill>
                <a:latin typeface="Times New Roman"/>
              </a:rPr>
              <a:t>Randomized Control Comparison: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Outperformed randomized edge-shuffled graph control (Macro-F1 = 0.640) by delta = +0.050, demonstrating genuine structural topological awareness.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1D4ED8"/>
                </a:solidFill>
                <a:latin typeface="Times New Roman"/>
              </a:rPr>
              <a:t>Explicit Scientific Caveat: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GATv2 distills weak labels from the deterministic heuristic engine; it is evaluated on representation fidelity and does not claim empirical cryptanalytic risk prediction.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2103120"/>
            <a:ext cx="7406640" cy="6217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One-At-a-Time (OAT) Sensitivity Analysis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Methodology: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Perturbed all 7 factor weights by +/-20% across all nodes.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500" b="1" i="0">
                <a:solidFill>
                  <a:srgbClr val="303298"/>
                </a:solidFill>
                <a:latin typeface="Times New Roman"/>
              </a:rPr>
              <a:t>Monotonic Rank Stability: </a:t>
            </a:r>
            <a:r>
              <a:rPr sz="1500" b="0" i="0">
                <a:solidFill>
                  <a:srgbClr val="1E293B"/>
                </a:solidFill>
                <a:latin typeface="Times New Roman"/>
              </a:rPr>
              <a:t>Spearman rank correlation rho &gt; 0.94 across all perturbations, confirming ranking stability.</a:t>
            </a:r>
          </a:p>
        </p:txBody>
      </p:sp>
      <p:pic>
        <p:nvPicPr>
          <p:cNvPr id="9" name="Picture 8" descr="sensitivity_tornad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0" y="3840480"/>
            <a:ext cx="6858000" cy="42976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088" y="506530"/>
            <a:ext cx="17415170" cy="9491267"/>
          </a:xfrm>
          <a:custGeom>
            <a:avLst/>
            <a:gdLst/>
            <a:ahLst/>
            <a:cxnLst/>
            <a:rect r="r" b="b" t="t" l="l"/>
            <a:pathLst>
              <a:path h="9491267" w="17415170">
                <a:moveTo>
                  <a:pt x="0" y="0"/>
                </a:moveTo>
                <a:lnTo>
                  <a:pt x="17415170" y="0"/>
                </a:lnTo>
                <a:lnTo>
                  <a:pt x="17415170" y="9491267"/>
                </a:lnTo>
                <a:lnTo>
                  <a:pt x="0" y="9491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6361866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17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316427" y="788831"/>
            <a:ext cx="5595938" cy="11493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sz="3400" b="1" i="0">
                <a:solidFill>
                  <a:srgbClr val="303298"/>
                </a:solidFill>
                <a:latin typeface="Times New Roman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02379" y="9201151"/>
            <a:ext cx="493930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</a:t>
            </a: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artment of Cyber Security | NMAMIT, Nitte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848377"/>
            <a:ext cx="1431244" cy="1509311"/>
          </a:xfrm>
          <a:custGeom>
            <a:avLst/>
            <a:gdLst/>
            <a:ahLst/>
            <a:cxnLst/>
            <a:rect r="r" b="b" t="t" l="l"/>
            <a:pathLst>
              <a:path h="1509311" w="1431244">
                <a:moveTo>
                  <a:pt x="0" y="0"/>
                </a:moveTo>
                <a:lnTo>
                  <a:pt x="1431244" y="0"/>
                </a:lnTo>
                <a:lnTo>
                  <a:pt x="1431244" y="1509311"/>
                </a:lnTo>
                <a:lnTo>
                  <a:pt x="0" y="1509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7" name="Rounded Rectangle 6"/>
          <p:cNvSpPr/>
          <p:nvPr/>
        </p:nvSpPr>
        <p:spPr>
          <a:xfrm>
            <a:off x="1645920" y="2103120"/>
            <a:ext cx="713232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1. Automated Polyglot Discovery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Outcome: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Eliminated cryptographic visibility blind spots by building 7 static scanners parsing Python, Java, and Go, discovering 637 crypto call sites across 4,558 files.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103120"/>
            <a:ext cx="768096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2. Relational Property Graph Topology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Outcome: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Advanced beyond flat CBOM inventories to a unified 6-node property graph modeling structural containment, call paths, network exposures, and sensitive data reachability.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5303520"/>
            <a:ext cx="7132320" cy="3017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3. Deterministic &amp; Explainable Risk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Outcome: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Delivered a mathematically transparent 7-factor linear risk scoring engine and Mosca Readiness Index (U) aligned with official NIST FIPS 203–205 standards.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5303520"/>
            <a:ext cx="7680960" cy="3017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4. Rigorous ML &amp; Enterprise Delivery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Outcome: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Evaluated GATv2 representation distillation under 8-fold LOPO cross-validation against edge-shuffled controls, packaged in a production-ready web platform with 413 tests passing.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088" y="506530"/>
            <a:ext cx="17415170" cy="9491267"/>
          </a:xfrm>
          <a:custGeom>
            <a:avLst/>
            <a:gdLst/>
            <a:ahLst/>
            <a:cxnLst/>
            <a:rect r="r" b="b" t="t" l="l"/>
            <a:pathLst>
              <a:path h="9491267" w="17415170">
                <a:moveTo>
                  <a:pt x="0" y="0"/>
                </a:moveTo>
                <a:lnTo>
                  <a:pt x="17415170" y="0"/>
                </a:lnTo>
                <a:lnTo>
                  <a:pt x="17415170" y="9491267"/>
                </a:lnTo>
                <a:lnTo>
                  <a:pt x="0" y="9491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6324362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18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17222" y="866775"/>
            <a:ext cx="6558855" cy="11493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sz="3400" b="1" i="0">
                <a:solidFill>
                  <a:srgbClr val="303298"/>
                </a:solidFill>
                <a:latin typeface="Times New Roman"/>
              </a:rPr>
              <a:t>FUTURE SCOPE &amp; EXTENSIONS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620807" y="9201151"/>
            <a:ext cx="493930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</a:t>
            </a: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artment of Cyber Security | NMAMIT, Nitte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848377"/>
            <a:ext cx="1431244" cy="1509311"/>
          </a:xfrm>
          <a:custGeom>
            <a:avLst/>
            <a:gdLst/>
            <a:ahLst/>
            <a:cxnLst/>
            <a:rect r="r" b="b" t="t" l="l"/>
            <a:pathLst>
              <a:path h="1509311" w="1431244">
                <a:moveTo>
                  <a:pt x="0" y="0"/>
                </a:moveTo>
                <a:lnTo>
                  <a:pt x="1431244" y="0"/>
                </a:lnTo>
                <a:lnTo>
                  <a:pt x="1431244" y="1509311"/>
                </a:lnTo>
                <a:lnTo>
                  <a:pt x="0" y="1509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7" name="Rounded Rectangle 6"/>
          <p:cNvSpPr/>
          <p:nvPr/>
        </p:nvSpPr>
        <p:spPr>
          <a:xfrm>
            <a:off x="1645920" y="2103120"/>
            <a:ext cx="713232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1. CI/CD Automated Security Gating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Extension: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Integrate AgileGraph into GitHub Actions and pre-commit hooks to block pull requests introducing quantum-vulnerable cryptographic primitives (e.g. RSA &lt; 2048 or unpadded RSA).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0" y="2103120"/>
            <a:ext cx="7680960" cy="29260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2. Dynamic Runtime Tracing via eBPF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Extension: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Deploy Linux eBPF kernel probes to trace in-memory TLS cipher negotiations, active session keys, and dynamic crypto library linking in live Kubernetes container pods.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645920" y="5303520"/>
            <a:ext cx="7132320" cy="3017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3. Automated AST Code Refactoring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Extension: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Build automated AST code-rewriting modules that generate pull requests replacing deprecated classical primitives with post-quantum hybrid libraries (e.g. ML-KEM).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5303520"/>
            <a:ext cx="7680960" cy="30175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4. Constrained Hardware Benchmarking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600" b="1" i="0">
                <a:solidFill>
                  <a:srgbClr val="303298"/>
                </a:solidFill>
                <a:latin typeface="Times New Roman"/>
              </a:rPr>
              <a:t>Extension: </a:t>
            </a:r>
            <a:r>
              <a:rPr sz="1600" b="0" i="0">
                <a:solidFill>
                  <a:srgbClr val="1E293B"/>
                </a:solidFill>
                <a:latin typeface="Times New Roman"/>
              </a:rPr>
              <a:t>Empirically benchmark memory overhead, power consumption, and TLS handshake latency of NIST PQC standards on embedded IoT and ARM edge microcontrollers.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088" y="506530"/>
            <a:ext cx="17415170" cy="9491267"/>
          </a:xfrm>
          <a:custGeom>
            <a:avLst/>
            <a:gdLst/>
            <a:ahLst/>
            <a:cxnLst/>
            <a:rect r="r" b="b" t="t" l="l"/>
            <a:pathLst>
              <a:path h="9491267" w="17415170">
                <a:moveTo>
                  <a:pt x="0" y="0"/>
                </a:moveTo>
                <a:lnTo>
                  <a:pt x="17415170" y="0"/>
                </a:lnTo>
                <a:lnTo>
                  <a:pt x="17415170" y="9491267"/>
                </a:lnTo>
                <a:lnTo>
                  <a:pt x="0" y="9491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6324362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19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021452" y="866775"/>
            <a:ext cx="5550396" cy="1149350"/>
          </a:xfrm>
          <a:prstGeom prst="rect">
            <a:avLst/>
          </a:prstGeom>
        </p:spPr>
        <p:txBody>
          <a:bodyPr anchor="t" rtlCol="false" tIns="0" lIns="0" bIns="0" rIns="0" wrap="square">
            <a:spAutoFit/>
          </a:bodyPr>
          <a:lstStyle/>
          <a:p>
            <a:pPr algn="l">
              <a:lnSpc>
                <a:spcPts val="9100"/>
              </a:lnSpc>
            </a:pPr>
            <a:r>
              <a:rPr sz="3400" b="1" i="0">
                <a:solidFill>
                  <a:srgbClr val="303298"/>
                </a:solidFill>
                <a:latin typeface="Times New Roman"/>
              </a:rPr>
              <a:t>REFERENCES (20 AUTHORITATIVE CITATIONS)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888481" y="9217661"/>
            <a:ext cx="4752677" cy="34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Cyber Security | NMAMIT, Nitte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848377"/>
            <a:ext cx="1431244" cy="1509311"/>
          </a:xfrm>
          <a:custGeom>
            <a:avLst/>
            <a:gdLst/>
            <a:ahLst/>
            <a:cxnLst/>
            <a:rect r="r" b="b" t="t" l="l"/>
            <a:pathLst>
              <a:path h="1509311" w="1431244">
                <a:moveTo>
                  <a:pt x="0" y="0"/>
                </a:moveTo>
                <a:lnTo>
                  <a:pt x="1431244" y="0"/>
                </a:lnTo>
                <a:lnTo>
                  <a:pt x="1431244" y="1509311"/>
                </a:lnTo>
                <a:lnTo>
                  <a:pt x="0" y="1509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7" name="Rounded Rectangle 6"/>
          <p:cNvSpPr/>
          <p:nvPr/>
        </p:nvSpPr>
        <p:spPr>
          <a:xfrm>
            <a:off x="1645920" y="2011680"/>
            <a:ext cx="7406640" cy="6400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Standards &amp; Theoretical Foundations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50" b="1" i="0">
                <a:solidFill>
                  <a:srgbClr val="303298"/>
                </a:solidFill>
                <a:latin typeface="Times New Roman"/>
              </a:rPr>
              <a:t>[1] </a:t>
            </a:r>
            <a:r>
              <a:rPr sz="1250" b="0" i="0">
                <a:solidFill>
                  <a:srgbClr val="1E293B"/>
                </a:solidFill>
                <a:latin typeface="Times New Roman"/>
              </a:rPr>
              <a:t>NIST, FIPS 203 (ML-KEM): Module-Lattice-Based Key-Encapsulation Mechanism, Aug 2024.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50" b="1" i="0">
                <a:solidFill>
                  <a:srgbClr val="303298"/>
                </a:solidFill>
                <a:latin typeface="Times New Roman"/>
              </a:rPr>
              <a:t>[2] </a:t>
            </a:r>
            <a:r>
              <a:rPr sz="1250" b="0" i="0">
                <a:solidFill>
                  <a:srgbClr val="1E293B"/>
                </a:solidFill>
                <a:latin typeface="Times New Roman"/>
              </a:rPr>
              <a:t>NIST, FIPS 204 (ML-DSA): Module-Lattice-Based Digital Signature Standard, Aug 2024.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50" b="1" i="0">
                <a:solidFill>
                  <a:srgbClr val="303298"/>
                </a:solidFill>
                <a:latin typeface="Times New Roman"/>
              </a:rPr>
              <a:t>[3] </a:t>
            </a:r>
            <a:r>
              <a:rPr sz="1250" b="0" i="0">
                <a:solidFill>
                  <a:srgbClr val="1E293B"/>
                </a:solidFill>
                <a:latin typeface="Times New Roman"/>
              </a:rPr>
              <a:t>NIST, FIPS 205 (SLH-DSA): Stateless Hash-Based Digital Signature Standard, Aug 2024.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50" b="1" i="0">
                <a:solidFill>
                  <a:srgbClr val="303298"/>
                </a:solidFill>
                <a:latin typeface="Times New Roman"/>
              </a:rPr>
              <a:t>[4] </a:t>
            </a:r>
            <a:r>
              <a:rPr sz="1250" b="0" i="0">
                <a:solidFill>
                  <a:srgbClr val="1E293B"/>
                </a:solidFill>
                <a:latin typeface="Times New Roman"/>
              </a:rPr>
              <a:t>M. Mosca, “Cybersecurity in an Era with Quantum Computers: Will We Be Ready?,” IEEE Security &amp; Privacy, vol. 16, no. 5, pp. 38–41, 2018.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50" b="1" i="0">
                <a:solidFill>
                  <a:srgbClr val="303298"/>
                </a:solidFill>
                <a:latin typeface="Times New Roman"/>
              </a:rPr>
              <a:t>[5] </a:t>
            </a:r>
            <a:r>
              <a:rPr sz="1250" b="0" i="0">
                <a:solidFill>
                  <a:srgbClr val="1E293B"/>
                </a:solidFill>
                <a:latin typeface="Times New Roman"/>
              </a:rPr>
              <a:t>P. W. Shor, “Polynomial-Time Algorithms for Prime Factorization and Discrete Logarithms on a Quantum Computer,” SIAM J. Comput., vol. 26, no. 5, 1997.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50" b="1" i="0">
                <a:solidFill>
                  <a:srgbClr val="303298"/>
                </a:solidFill>
                <a:latin typeface="Times New Roman"/>
              </a:rPr>
              <a:t>[6] </a:t>
            </a:r>
            <a:r>
              <a:rPr sz="1250" b="0" i="0">
                <a:solidFill>
                  <a:srgbClr val="1E293B"/>
                </a:solidFill>
                <a:latin typeface="Times New Roman"/>
              </a:rPr>
              <a:t>S. Brody, U. Alon, and E. Yahav, “How Attentive Are Graph Attention Networks?,” in Proc. ICLR, 2022, pp. 1–18.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50" b="1" i="0">
                <a:solidFill>
                  <a:srgbClr val="303298"/>
                </a:solidFill>
                <a:latin typeface="Times New Roman"/>
              </a:rPr>
              <a:t>[7] </a:t>
            </a:r>
            <a:r>
              <a:rPr sz="1250" b="0" i="0">
                <a:solidFill>
                  <a:srgbClr val="1E293B"/>
                </a:solidFill>
                <a:latin typeface="Times New Roman"/>
              </a:rPr>
              <a:t>P. Veličković et al., “Graph Attention Networks,” in Proc. ICLR, 2018, pp. 1–12.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50" b="1" i="0">
                <a:solidFill>
                  <a:srgbClr val="303298"/>
                </a:solidFill>
                <a:latin typeface="Times New Roman"/>
              </a:rPr>
              <a:t>[8] </a:t>
            </a:r>
            <a:r>
              <a:rPr sz="1250" b="0" i="0">
                <a:solidFill>
                  <a:srgbClr val="1E293B"/>
                </a:solidFill>
                <a:latin typeface="Times New Roman"/>
              </a:rPr>
              <a:t>NIST, “Migration to Post-Quantum Cryptography,” NIST Special Publication 1800-38B, Preliminary Draft, Dec 2023.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50" b="1" i="0">
                <a:solidFill>
                  <a:srgbClr val="303298"/>
                </a:solidFill>
                <a:latin typeface="Times New Roman"/>
              </a:rPr>
              <a:t>[9] </a:t>
            </a:r>
            <a:r>
              <a:rPr sz="1250" b="0" i="0">
                <a:solidFill>
                  <a:srgbClr val="1E293B"/>
                </a:solidFill>
                <a:latin typeface="Times New Roman"/>
              </a:rPr>
              <a:t>OWASP / CycloneDX, “Authoritative Specification: Cryptographic Bill of Materials (CBOM),” CycloneDX v1.6, Apr 2024.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50" b="1" i="0">
                <a:solidFill>
                  <a:srgbClr val="303298"/>
                </a:solidFill>
                <a:latin typeface="Times New Roman"/>
              </a:rPr>
              <a:t>[10] </a:t>
            </a:r>
            <a:r>
              <a:rPr sz="1250" b="0" i="0">
                <a:solidFill>
                  <a:srgbClr val="1E293B"/>
                </a:solidFill>
                <a:latin typeface="Times New Roman"/>
              </a:rPr>
              <a:t>M. Egele et al., “An Empirical Study of Cryptographic Misuse in Android Applications,” in Proc. ACM CCS, 2013, pp. 73–84.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18320" y="2011680"/>
            <a:ext cx="7406640" cy="6400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800"/>
              </a:spcAft>
            </a:pPr>
            <a:r>
              <a:rPr sz="1900" b="1" i="0">
                <a:solidFill>
                  <a:srgbClr val="303298"/>
                </a:solidFill>
                <a:latin typeface="Times New Roman"/>
              </a:rPr>
              <a:t>Static Analysis &amp; Graph Systems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50" b="1" i="0">
                <a:solidFill>
                  <a:srgbClr val="303298"/>
                </a:solidFill>
                <a:latin typeface="Times New Roman"/>
              </a:rPr>
              <a:t>[11] </a:t>
            </a:r>
            <a:r>
              <a:rPr sz="1250" b="0" i="0">
                <a:solidFill>
                  <a:srgbClr val="1E293B"/>
                </a:solidFill>
                <a:latin typeface="Times New Roman"/>
              </a:rPr>
              <a:t>S. Krüger et al., “CogniCrypt: Supporting Developers in using Cryptography,” in Proc. IEEE/ACM ASE, 2017, pp. 931–936.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50" b="1" i="0">
                <a:solidFill>
                  <a:srgbClr val="303298"/>
                </a:solidFill>
                <a:latin typeface="Times New Roman"/>
              </a:rPr>
              <a:t>[12] </a:t>
            </a:r>
            <a:r>
              <a:rPr sz="1250" b="0" i="0">
                <a:solidFill>
                  <a:srgbClr val="1E293B"/>
                </a:solidFill>
                <a:latin typeface="Times New Roman"/>
              </a:rPr>
              <a:t>National Security Agency (NSA), “Commercial National Security Algorithm Suite 2.0 (CNSA 2.0),” Cybersecurity Advisory, Sep 2022.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50" b="1" i="0">
                <a:solidFill>
                  <a:srgbClr val="303298"/>
                </a:solidFill>
                <a:latin typeface="Times New Roman"/>
              </a:rPr>
              <a:t>[13] </a:t>
            </a:r>
            <a:r>
              <a:rPr sz="1250" b="0" i="0">
                <a:solidFill>
                  <a:srgbClr val="1E293B"/>
                </a:solidFill>
                <a:latin typeface="Times New Roman"/>
              </a:rPr>
              <a:t>F. Yamaguchi et al., “Modeling and Discovering Vulnerabilities with Code Property Graphs,” in Proc. IEEE S&amp;P, 2014, pp. 590–604.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50" b="1" i="0">
                <a:solidFill>
                  <a:srgbClr val="303298"/>
                </a:solidFill>
                <a:latin typeface="Times New Roman"/>
              </a:rPr>
              <a:t>[14] </a:t>
            </a:r>
            <a:r>
              <a:rPr sz="1250" b="0" i="0">
                <a:solidFill>
                  <a:srgbClr val="1E293B"/>
                </a:solidFill>
                <a:latin typeface="Times New Roman"/>
              </a:rPr>
              <a:t>B. Sullivan, “Cryptographic Agility,” IEEE Security &amp; Privacy, vol. 11, no. 3, pp. 73–75, 2013.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50" b="1" i="0">
                <a:solidFill>
                  <a:srgbClr val="303298"/>
                </a:solidFill>
                <a:latin typeface="Times New Roman"/>
              </a:rPr>
              <a:t>[15] </a:t>
            </a:r>
            <a:r>
              <a:rPr sz="1250" b="0" i="0">
                <a:solidFill>
                  <a:srgbClr val="1E293B"/>
                </a:solidFill>
                <a:latin typeface="Times New Roman"/>
              </a:rPr>
              <a:t>M. Fey and J. E. Lenssen, “Fast Graph Representation Learning with PyTorch Geometric,” in ICLR Workshop, 2019.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50" b="1" i="0">
                <a:solidFill>
                  <a:srgbClr val="303298"/>
                </a:solidFill>
                <a:latin typeface="Times New Roman"/>
              </a:rPr>
              <a:t>[16] </a:t>
            </a:r>
            <a:r>
              <a:rPr sz="1250" b="0" i="0">
                <a:solidFill>
                  <a:srgbClr val="1E293B"/>
                </a:solidFill>
                <a:latin typeface="Times New Roman"/>
              </a:rPr>
              <a:t>P. Schwabe, D. Stebila, and T. Wiggers, “Post-Quantum TLS Without Handshake Signatures,” in Proc. ACM CCS, 2020, pp. 1461–1480.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50" b="1" i="0">
                <a:solidFill>
                  <a:srgbClr val="303298"/>
                </a:solidFill>
                <a:latin typeface="Times New Roman"/>
              </a:rPr>
              <a:t>[17] </a:t>
            </a:r>
            <a:r>
              <a:rPr sz="1250" b="0" i="0">
                <a:solidFill>
                  <a:srgbClr val="1E293B"/>
                </a:solidFill>
                <a:latin typeface="Times New Roman"/>
              </a:rPr>
              <a:t>P. Ladisa et al., “SoK: Taxonomy of Attacks on Open-Source Software Supply Chains,” in Proc. IEEE S&amp;P, 2023, pp. 1509–1526.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50" b="1" i="0">
                <a:solidFill>
                  <a:srgbClr val="303298"/>
                </a:solidFill>
                <a:latin typeface="Times New Roman"/>
              </a:rPr>
              <a:t>[18] </a:t>
            </a:r>
            <a:r>
              <a:rPr sz="1250" b="0" i="0">
                <a:solidFill>
                  <a:srgbClr val="1E293B"/>
                </a:solidFill>
                <a:latin typeface="Times New Roman"/>
              </a:rPr>
              <a:t>Y. Zhou et al., “Devign: Effective Vulnerability Identification by Learning Comprehensive Program Semantics via GNNs,” in NeurIPS, 2019.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50" b="1" i="0">
                <a:solidFill>
                  <a:srgbClr val="303298"/>
                </a:solidFill>
                <a:latin typeface="Times New Roman"/>
              </a:rPr>
              <a:t>[19] </a:t>
            </a:r>
            <a:r>
              <a:rPr sz="1250" b="0" i="0">
                <a:solidFill>
                  <a:srgbClr val="1E293B"/>
                </a:solidFill>
                <a:latin typeface="Times New Roman"/>
              </a:rPr>
              <a:t>D. Moody, “The Transition to Post-Quantum Cryptography,” IEEE Security &amp; Privacy, vol. 21, no. 5, pp. 4–6, 2023.</a:t>
            </a:r>
          </a:p>
          <a:p>
            <a:pPr>
              <a:spcBef>
                <a:spcPts val="200"/>
              </a:spcBef>
              <a:spcAft>
                <a:spcPts val="300"/>
              </a:spcAft>
            </a:pPr>
            <a:r>
              <a:rPr sz="1250" b="1" i="0">
                <a:solidFill>
                  <a:srgbClr val="303298"/>
                </a:solidFill>
                <a:latin typeface="Times New Roman"/>
              </a:rPr>
              <a:t>[20] </a:t>
            </a:r>
            <a:r>
              <a:rPr sz="1250" b="0" i="0">
                <a:solidFill>
                  <a:srgbClr val="1E293B"/>
                </a:solidFill>
                <a:latin typeface="Times New Roman"/>
              </a:rPr>
              <a:t>D. A. Basin et al., “Model Checking Security Protocols,” in Handbook of Model Checking, Springer, 2018, pp. 727–762.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4088" y="506530"/>
            <a:ext cx="17415170" cy="9491267"/>
          </a:xfrm>
          <a:custGeom>
            <a:avLst/>
            <a:gdLst/>
            <a:ahLst/>
            <a:cxnLst/>
            <a:rect r="r" b="b" t="t" l="l"/>
            <a:pathLst>
              <a:path h="9491267" w="17415170">
                <a:moveTo>
                  <a:pt x="0" y="0"/>
                </a:moveTo>
                <a:lnTo>
                  <a:pt x="17415170" y="0"/>
                </a:lnTo>
                <a:lnTo>
                  <a:pt x="17415170" y="9491267"/>
                </a:lnTo>
                <a:lnTo>
                  <a:pt x="0" y="949126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6320790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20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508972" y="4217353"/>
            <a:ext cx="7270056" cy="1623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481321" y="9201150"/>
            <a:ext cx="493930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</a:t>
            </a: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artment of Cyber Security | NMAMIT, Nitte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848377"/>
            <a:ext cx="1431244" cy="1509311"/>
          </a:xfrm>
          <a:custGeom>
            <a:avLst/>
            <a:gdLst/>
            <a:ahLst/>
            <a:cxnLst/>
            <a:rect r="r" b="b" t="t" l="l"/>
            <a:pathLst>
              <a:path h="1509311" w="1431244">
                <a:moveTo>
                  <a:pt x="0" y="0"/>
                </a:moveTo>
                <a:lnTo>
                  <a:pt x="1431244" y="0"/>
                </a:lnTo>
                <a:lnTo>
                  <a:pt x="1431244" y="1509311"/>
                </a:lnTo>
                <a:lnTo>
                  <a:pt x="0" y="1509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7" name="TextBox 6"/>
          <p:cNvSpPr txBox="1"/>
          <p:nvPr/>
        </p:nvSpPr>
        <p:spPr>
          <a:xfrm>
            <a:off x="2560320" y="777240"/>
            <a:ext cx="1325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03298"/>
                </a:solidFill>
                <a:latin typeface="Times New Roman"/>
              </a:rPr>
              <a:t>ACKNOWLEDGMENT &amp; THANK YOU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86000" y="2194560"/>
            <a:ext cx="13898880" cy="603504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4200" b="1" i="0">
                <a:solidFill>
                  <a:srgbClr val="303298"/>
                </a:solidFill>
                <a:latin typeface="Times New Roman"/>
              </a:rPr>
              <a:t>AGILEGRAPH</a:t>
            </a:r>
          </a:p>
          <a:p>
            <a:pPr algn="ctr">
              <a:spcBef>
                <a:spcPts val="800"/>
              </a:spcBef>
            </a:pPr>
            <a:r>
              <a:rPr sz="2100" b="1" i="0">
                <a:solidFill>
                  <a:srgbClr val="1E293B"/>
                </a:solidFill>
                <a:latin typeface="Times New Roman"/>
              </a:rPr>
              <a:t>Graph-Learned Crypto-Agility Risk Scoring for Post-Quantum Migration</a:t>
            </a:r>
          </a:p>
          <a:p>
            <a:pPr algn="ctr">
              <a:spcBef>
                <a:spcPts val="1600"/>
              </a:spcBef>
            </a:pPr>
            <a:r>
              <a:rPr sz="1900" b="0" i="0">
                <a:solidFill>
                  <a:srgbClr val="303298"/>
                </a:solidFill>
                <a:latin typeface="Times New Roman"/>
              </a:rPr>
              <a:t>Department of Computer Science (Cyber Security)
NMAM Institute of Technology (NMAMIT), Nitte (Deemed to be University)</a:t>
            </a:r>
          </a:p>
          <a:p>
            <a:pPr algn="ctr">
              <a:spcBef>
                <a:spcPts val="1400"/>
              </a:spcBef>
            </a:pPr>
            <a:r>
              <a:rPr sz="1700" b="1" i="0">
                <a:solidFill>
                  <a:srgbClr val="475569"/>
                </a:solidFill>
                <a:latin typeface="Times New Roman"/>
              </a:rPr>
              <a:t>Project Guide: Ms. Madhushree | Academic Year 2023–27 (Final Year B.Tech)</a:t>
            </a:r>
          </a:p>
          <a:p>
            <a:pPr algn="ctr">
              <a:spcBef>
                <a:spcPts val="1200"/>
              </a:spcBef>
            </a:pPr>
            <a:r>
              <a:rPr sz="1500" b="0" i="0">
                <a:solidFill>
                  <a:srgbClr val="1E293B"/>
                </a:solidFill>
                <a:latin typeface="Times New Roman"/>
              </a:rPr>
              <a:t>Team: Spoorthi (NNM23CB058) | Sindhoora R (NNM23CB057) | Nivedita V Shetty (NNM23CB033) | Sujan S (NNM23CB062)</a:t>
            </a:r>
          </a:p>
          <a:p>
            <a:pPr algn="ctr">
              <a:spcBef>
                <a:spcPts val="1400"/>
              </a:spcBef>
            </a:pPr>
            <a:r>
              <a:rPr sz="1600" b="0" i="0">
                <a:solidFill>
                  <a:srgbClr val="1D4ED8"/>
                </a:solidFill>
                <a:latin typeface="Times New Roman"/>
              </a:rPr>
              <a:t>GitHub Repository: https://github.com/spoorthi2615/agilegraph--major-project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6415" y="397866"/>
            <a:ext cx="17415170" cy="9491267"/>
          </a:xfrm>
          <a:custGeom>
            <a:avLst/>
            <a:gdLst/>
            <a:ahLst/>
            <a:cxnLst/>
            <a:rect r="r" b="b" t="t" l="l"/>
            <a:pathLst>
              <a:path h="9491267" w="17415170">
                <a:moveTo>
                  <a:pt x="0" y="0"/>
                </a:moveTo>
                <a:lnTo>
                  <a:pt x="17415170" y="0"/>
                </a:lnTo>
                <a:lnTo>
                  <a:pt x="17415170" y="9491268"/>
                </a:lnTo>
                <a:lnTo>
                  <a:pt x="0" y="949126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  <p:txBody>
          <a:bodyPr/>
          <a:p/>
        </p:txBody>
      </p:sp>
      <p:sp>
        <p:nvSpPr>
          <p:cNvPr name="TextBox 3" id="3"/>
          <p:cNvSpPr txBox="true"/>
          <p:nvPr/>
        </p:nvSpPr>
        <p:spPr>
          <a:xfrm rot="0">
            <a:off x="15899306" y="9201150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Page 21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81032" y="4217353"/>
            <a:ext cx="2725936" cy="1623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306963" y="9201151"/>
            <a:ext cx="4939308" cy="35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</a:t>
            </a:r>
            <a:r>
              <a:rPr lang="en-US" sz="2000">
                <a:solidFill>
                  <a:srgbClr val="30329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artment of Cyber Security | NMAMIT, Nitte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028700" y="848377"/>
            <a:ext cx="1431244" cy="1509311"/>
          </a:xfrm>
          <a:custGeom>
            <a:avLst/>
            <a:gdLst/>
            <a:ahLst/>
            <a:cxnLst/>
            <a:rect r="r" b="b" t="t" l="l"/>
            <a:pathLst>
              <a:path h="1509311" w="1431244">
                <a:moveTo>
                  <a:pt x="0" y="0"/>
                </a:moveTo>
                <a:lnTo>
                  <a:pt x="1431244" y="0"/>
                </a:lnTo>
                <a:lnTo>
                  <a:pt x="1431244" y="1509311"/>
                </a:lnTo>
                <a:lnTo>
                  <a:pt x="0" y="150931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7" name="TextBox 6"/>
          <p:cNvSpPr txBox="1"/>
          <p:nvPr/>
        </p:nvSpPr>
        <p:spPr>
          <a:xfrm>
            <a:off x="2560320" y="777240"/>
            <a:ext cx="1325880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303298"/>
                </a:solidFill>
                <a:latin typeface="Times New Roman"/>
              </a:rPr>
              <a:t>QUESTIONS &amp; ANSWERS (Q&amp;A)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2377440"/>
            <a:ext cx="12984480" cy="5669280"/>
          </a:xfrm>
          <a:prstGeom prst="roundRect">
            <a:avLst/>
          </a:prstGeom>
          <a:solidFill>
            <a:srgbClr val="EEF2F6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/>
            <a:r>
              <a:rPr sz="5400" b="1" i="0">
                <a:solidFill>
                  <a:srgbClr val="303298"/>
                </a:solidFill>
                <a:latin typeface="Times New Roman"/>
              </a:rPr>
              <a:t>Q &amp; A</a:t>
            </a:r>
          </a:p>
          <a:p>
            <a:pPr algn="ctr">
              <a:spcBef>
                <a:spcPts val="1400"/>
              </a:spcBef>
            </a:pPr>
            <a:r>
              <a:rPr sz="2400" b="1" i="0">
                <a:solidFill>
                  <a:srgbClr val="1E293B"/>
                </a:solidFill>
                <a:latin typeface="Times New Roman"/>
              </a:rPr>
              <a:t>Open for Questions, Evaluation &amp; Technical Discussion</a:t>
            </a:r>
          </a:p>
          <a:p>
            <a:pPr algn="ctr">
              <a:spcBef>
                <a:spcPts val="2000"/>
              </a:spcBef>
            </a:pPr>
            <a:r>
              <a:rPr sz="2000" b="0" i="1">
                <a:solidFill>
                  <a:srgbClr val="303298"/>
                </a:solidFill>
                <a:latin typeface="Times New Roman"/>
              </a:rPr>
              <a:t>Thank You for Your Time &amp; Valuable Guidance!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DAHXzWo3tDE</dc:identifier>
  <dcterms:modified xsi:type="dcterms:W3CDTF">2011-08-01T06:04:30Z</dcterms:modified>
  <cp:revision>1</cp:revision>
  <dc:title>major project phase-2</dc:title>
</cp:coreProperties>
</file>