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5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8288000" cy="10287000"/>
  <p:notesSz cx="6858000" cy="9144000"/>
  <p:embeddedFontLst>
    <p:embeddedFont>
      <p:font typeface="Times New Roman" charset="1" panose="02020603050405020304"/>
      <p:regular r:id="rId27"/>
    </p:embeddedFont>
    <p:embeddedFont>
      <p:font typeface="Times New Roman Bold" charset="1" panose="02020803070505020304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font" Target="fonts/font27.fntdata"/><Relationship Id="rId28" Type="http://schemas.openxmlformats.org/officeDocument/2006/relationships/font" Target="fonts/font28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4.png"/><Relationship Id="rId5" Type="http://schemas.openxmlformats.org/officeDocument/2006/relationships/image" Target="../media/image5.sv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Relationship Id="rId5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Relationship Id="rId5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Relationship Id="rId5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6473587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1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37930" y="9172575"/>
            <a:ext cx="14771110" cy="599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sz="1400" b="1" i="0">
                <a:solidFill>
                  <a:srgbClr val="303298"/>
                </a:solidFill>
                <a:latin typeface="Times New Roman"/>
              </a:rPr>
              <a:t>Department of Cyber Security | NMAMIT, Nitte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028700" y="772699"/>
            <a:ext cx="16226433" cy="2078627"/>
          </a:xfrm>
          <a:custGeom>
            <a:avLst/>
            <a:gdLst/>
            <a:ahLst/>
            <a:cxnLst/>
            <a:rect r="r" b="b" t="t" l="l"/>
            <a:pathLst>
              <a:path h="2078627" w="16226433">
                <a:moveTo>
                  <a:pt x="0" y="0"/>
                </a:moveTo>
                <a:lnTo>
                  <a:pt x="16226433" y="0"/>
                </a:lnTo>
                <a:lnTo>
                  <a:pt x="16226433" y="2078627"/>
                </a:lnTo>
                <a:lnTo>
                  <a:pt x="0" y="20786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7738" r="0" b="-467"/>
            </a:stretch>
          </a:blipFill>
        </p:spPr>
        <p:txBody>
          <a:bodyPr/>
          <a:p/>
        </p:txBody>
      </p:sp>
      <p:sp>
        <p:nvSpPr>
          <p:cNvPr id="6" name="TextBox 5"/>
          <p:cNvSpPr txBox="1"/>
          <p:nvPr/>
        </p:nvSpPr>
        <p:spPr>
          <a:xfrm>
            <a:off x="1828800" y="2011680"/>
            <a:ext cx="1463040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600" b="1">
                <a:solidFill>
                  <a:srgbClr val="303298"/>
                </a:solidFill>
                <a:latin typeface="Times New Roman"/>
              </a:rPr>
              <a:t>AGILEGRAPH</a:t>
            </a:r>
          </a:p>
          <a:p>
            <a:pPr algn="ctr">
              <a:spcBef>
                <a:spcPts val="800"/>
              </a:spcBef>
            </a:pPr>
            <a:r>
              <a:rPr sz="2200" b="1">
                <a:solidFill>
                  <a:srgbClr val="1E2B58"/>
                </a:solidFill>
                <a:latin typeface="Times New Roman"/>
              </a:rPr>
              <a:t>Graph-Based Cryptographic Risk Analysis for Post-Quantum Migration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3931920"/>
            <a:ext cx="4023360" cy="59436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Times New Roman"/>
              </a:rPr>
              <a:t>PHASE 2 | 2026–2027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5120640"/>
            <a:ext cx="6858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03298"/>
                </a:solidFill>
                <a:latin typeface="Times New Roman"/>
              </a:rPr>
              <a:t>Project Team: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E293B"/>
                </a:solidFill>
                <a:latin typeface="Times New Roman"/>
              </a:rPr>
              <a:t>• Spoorthi — NNM23CB058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E293B"/>
                </a:solidFill>
                <a:latin typeface="Times New Roman"/>
              </a:rPr>
              <a:t>• Sindhoora R — NNM23CB057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E293B"/>
                </a:solidFill>
                <a:latin typeface="Times New Roman"/>
              </a:rPr>
              <a:t>• Nivedita V Shetty — NNM23CB033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E293B"/>
                </a:solidFill>
                <a:latin typeface="Times New Roman"/>
              </a:rPr>
              <a:t>• Sujan S — NNM23CB062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5120640"/>
            <a:ext cx="6858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03298"/>
                </a:solidFill>
                <a:latin typeface="Times New Roman"/>
              </a:rPr>
              <a:t>Project Guide:</a:t>
            </a:r>
          </a:p>
          <a:p>
            <a:pPr>
              <a:spcBef>
                <a:spcPts val="300"/>
              </a:spcBef>
            </a:pPr>
            <a:r>
              <a:rPr sz="1700" b="1">
                <a:solidFill>
                  <a:srgbClr val="1E293B"/>
                </a:solidFill>
                <a:latin typeface="Times New Roman"/>
              </a:rPr>
              <a:t>Ms. Madhushree</a:t>
            </a:r>
          </a:p>
          <a:p>
            <a:pPr>
              <a:spcBef>
                <a:spcPts val="300"/>
              </a:spcBef>
            </a:pPr>
            <a:r>
              <a:rPr sz="1600" b="0">
                <a:solidFill>
                  <a:srgbClr val="64748B"/>
                </a:solidFill>
                <a:latin typeface="Times New Roman"/>
              </a:rPr>
              <a:t>Assistant Professor</a:t>
            </a:r>
          </a:p>
          <a:p>
            <a:pPr>
              <a:spcBef>
                <a:spcPts val="300"/>
              </a:spcBef>
            </a:pPr>
            <a:r>
              <a:rPr sz="1600" b="0">
                <a:solidFill>
                  <a:srgbClr val="1E293B"/>
                </a:solidFill>
                <a:latin typeface="Times New Roman"/>
              </a:rPr>
              <a:t>Dept. of Computer Science (Cyber Security)</a:t>
            </a:r>
          </a:p>
          <a:p>
            <a:pPr>
              <a:spcBef>
                <a:spcPts val="300"/>
              </a:spcBef>
            </a:pPr>
            <a:r>
              <a:rPr sz="1600" b="0">
                <a:solidFill>
                  <a:srgbClr val="1E293B"/>
                </a:solidFill>
                <a:latin typeface="Times New Roman"/>
              </a:rPr>
              <a:t>NMAM Institute of Technology, Nitte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16473587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777240"/>
            <a:ext cx="144475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>
                <a:solidFill>
                  <a:srgbClr val="303298"/>
                </a:solidFill>
                <a:latin typeface="Times New Roman"/>
              </a:rPr>
              <a:t>PRESENTATION OUTLINE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2103120"/>
            <a:ext cx="6766560" cy="10515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86000" y="2286000"/>
            <a:ext cx="685800" cy="68580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286000"/>
            <a:ext cx="5394960" cy="6858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2000" b="1">
                <a:solidFill>
                  <a:srgbClr val="1E2B58"/>
                </a:solidFill>
                <a:latin typeface="Times New Roman"/>
              </a:rPr>
              <a:t>Introduction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429000"/>
            <a:ext cx="6766560" cy="10515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0" y="3611880"/>
            <a:ext cx="685800" cy="68580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611880"/>
            <a:ext cx="5394960" cy="6858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2000" b="1">
                <a:solidFill>
                  <a:srgbClr val="1E2B58"/>
                </a:solidFill>
                <a:latin typeface="Times New Roman"/>
              </a:rPr>
              <a:t>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0" y="4754879"/>
            <a:ext cx="6766560" cy="10515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0" y="4937759"/>
            <a:ext cx="685800" cy="68580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937759"/>
            <a:ext cx="5394960" cy="6858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2000" b="1">
                <a:solidFill>
                  <a:srgbClr val="1E2B58"/>
                </a:solidFill>
                <a:latin typeface="Times New Roman"/>
              </a:rPr>
              <a:t>Review of Phase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6080759"/>
            <a:ext cx="6766560" cy="10515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86000" y="6263639"/>
            <a:ext cx="685800" cy="68580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6263639"/>
            <a:ext cx="5394960" cy="6858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2000" b="1">
                <a:solidFill>
                  <a:srgbClr val="1E2B58"/>
                </a:solidFill>
                <a:latin typeface="Times New Roman"/>
              </a:rPr>
              <a:t>Problem Statement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0" y="7406640"/>
            <a:ext cx="6766560" cy="10515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286000" y="7589520"/>
            <a:ext cx="685800" cy="68580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7589520"/>
            <a:ext cx="5394960" cy="6858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2000" b="1">
                <a:solidFill>
                  <a:srgbClr val="1E2B58"/>
                </a:solidFill>
                <a:latin typeface="Times New Roman"/>
              </a:rPr>
              <a:t>Objectives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09759" y="2103120"/>
            <a:ext cx="6766560" cy="10515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784079" y="2286000"/>
            <a:ext cx="685800" cy="68580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79" y="2286000"/>
            <a:ext cx="5394960" cy="6858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2000" b="1">
                <a:solidFill>
                  <a:srgbClr val="1E2B58"/>
                </a:solidFill>
                <a:latin typeface="Times New Roman"/>
              </a:rPr>
              <a:t>Proposed Methodology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09759" y="3429000"/>
            <a:ext cx="6766560" cy="10515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784079" y="3611880"/>
            <a:ext cx="685800" cy="68580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79" y="3611880"/>
            <a:ext cx="5394960" cy="6858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2000" b="1">
                <a:solidFill>
                  <a:srgbClr val="1E2B58"/>
                </a:solidFill>
                <a:latin typeface="Times New Roman"/>
              </a:rPr>
              <a:t>System Architecture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4754879"/>
            <a:ext cx="6766560" cy="10515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784079" y="4937759"/>
            <a:ext cx="685800" cy="68580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79" y="4937759"/>
            <a:ext cx="5394960" cy="6858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2000" b="1">
                <a:solidFill>
                  <a:srgbClr val="1E2B58"/>
                </a:solidFill>
                <a:latin typeface="Times New Roman"/>
              </a:rPr>
              <a:t>Tools &amp; Technologies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09759" y="6080759"/>
            <a:ext cx="6766560" cy="10515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84079" y="6263639"/>
            <a:ext cx="685800" cy="68580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79" y="6263639"/>
            <a:ext cx="5394960" cy="6858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2000" b="1">
                <a:solidFill>
                  <a:srgbClr val="1E2B58"/>
                </a:solidFill>
                <a:latin typeface="Times New Roman"/>
              </a:rPr>
              <a:t>Results &amp; Performance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7406640"/>
            <a:ext cx="6766560" cy="10515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784079" y="7589520"/>
            <a:ext cx="685800" cy="68580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79" y="7589520"/>
            <a:ext cx="5394960" cy="6858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2000" b="1">
                <a:solidFill>
                  <a:srgbClr val="1E2B58"/>
                </a:solidFill>
                <a:latin typeface="Times New Roman"/>
              </a:rPr>
              <a:t>Conclusion &amp; Future Scope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554438" cy="9567169"/>
          </a:xfrm>
          <a:custGeom>
            <a:avLst/>
            <a:gdLst/>
            <a:ahLst/>
            <a:cxnLst/>
            <a:rect r="r" b="b" t="t" l="l"/>
            <a:pathLst>
              <a:path h="9567169" w="17554438">
                <a:moveTo>
                  <a:pt x="0" y="0"/>
                </a:moveTo>
                <a:lnTo>
                  <a:pt x="17554438" y="0"/>
                </a:lnTo>
                <a:lnTo>
                  <a:pt x="17554438" y="9567169"/>
                </a:lnTo>
                <a:lnTo>
                  <a:pt x="0" y="95671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name="TextBox 5" id="5"/>
          <p:cNvSpPr txBox="true"/>
          <p:nvPr/>
        </p:nvSpPr>
        <p:spPr>
          <a:xfrm rot="0">
            <a:off x="16862475" y="948359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236163" y="9483591"/>
            <a:ext cx="4920457" cy="3587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</a:t>
            </a: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artment of Cyber Security | NMAMIT, Nitte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8" name="TextBox 7"/>
          <p:cNvSpPr txBox="1"/>
          <p:nvPr/>
        </p:nvSpPr>
        <p:spPr>
          <a:xfrm>
            <a:off x="2560320" y="777240"/>
            <a:ext cx="144475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>
                <a:solidFill>
                  <a:srgbClr val="303298"/>
                </a:solidFill>
                <a:latin typeface="Times New Roman"/>
              </a:rPr>
              <a:t>INTRODUCTION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2011680"/>
            <a:ext cx="7315200" cy="65836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286000"/>
            <a:ext cx="658368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1">
                <a:solidFill>
                  <a:srgbClr val="303298"/>
                </a:solidFill>
                <a:latin typeface="Times New Roman"/>
              </a:rPr>
              <a:t>Background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Modern applications use encryption such as RSA and ECC to protect data.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Future quantum computers may break many widely used encryption methods.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Attackers may store encrypted data today and try to decrypt it later (Harvest Now, Decrypt Later).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Existing tools may miss risks spread across connected software components.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2011680"/>
            <a:ext cx="7315200" cy="658368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0" y="2286000"/>
            <a:ext cx="658368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Why AgileGraph?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Scans software for cryptographic components across multiple languages.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Connects components through a property graph to reveal exposure paths.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Scores and prioritizes migration risks using deterministic metrics.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Prepares actionable CBOM reports for post-quantum cryptographic agility.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6859300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4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251958" y="9201151"/>
            <a:ext cx="4920457" cy="3587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</a:t>
            </a: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artment of Cyber Security | NMAMIT, Nitte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6" name="TextBox 5"/>
          <p:cNvSpPr txBox="1"/>
          <p:nvPr/>
        </p:nvSpPr>
        <p:spPr>
          <a:xfrm>
            <a:off x="2560320" y="777240"/>
            <a:ext cx="144475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>
                <a:solidFill>
                  <a:srgbClr val="303298"/>
                </a:solidFill>
                <a:latin typeface="Times New Roman"/>
              </a:rPr>
              <a:t>RESEARCH GAP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2011680"/>
            <a:ext cx="7315200" cy="65836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286000"/>
            <a:ext cx="658368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1">
                <a:solidFill>
                  <a:srgbClr val="303298"/>
                </a:solidFill>
                <a:latin typeface="Times New Roman"/>
              </a:rPr>
              <a:t>Existing Tools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Dependency scanners focus mainly on third-party software packages.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Traditional tools may miss relationships between cryptographic components.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Risk prioritization is often subjective rather than mathematically grounded.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Code components are often analyzed separately without call context.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2011680"/>
            <a:ext cx="7315200" cy="658368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2286000"/>
            <a:ext cx="658368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What AgileGraph Adds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Scans multiple programming languages (Python, Java, Go).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Builds a graph of connected software components and endpoints.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Calculates deterministic cryptographic risk scores and Mosca urgency.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Uses GATv2 to analyze graph relationships and connected patterns.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Supports CycloneDX CBOM reporting and immutable audit logs.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6462871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5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848038" y="9201151"/>
            <a:ext cx="4939308" cy="3587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</a:t>
            </a: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artment of Cyber Security | NMAMIT, Nitte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9" name="TextBox 8"/>
          <p:cNvSpPr txBox="1"/>
          <p:nvPr/>
        </p:nvSpPr>
        <p:spPr>
          <a:xfrm>
            <a:off x="2560320" y="777240"/>
            <a:ext cx="144475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>
                <a:solidFill>
                  <a:srgbClr val="303298"/>
                </a:solidFill>
                <a:latin typeface="Times New Roman"/>
              </a:rPr>
              <a:t>REVIEW OF PHASE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011680"/>
            <a:ext cx="7315200" cy="65836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2286000"/>
            <a:ext cx="658368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1">
                <a:solidFill>
                  <a:srgbClr val="303298"/>
                </a:solidFill>
                <a:latin typeface="Times New Roman"/>
              </a:rPr>
              <a:t>Work Completed in Phase 1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Reviewed research on cryptographic misuse and post-quantum migration.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Developed an initial single-language static-analysis prototype.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Explored graph-based representation of software dependencies.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Identified evaluator feedback on the need for multi-language automated risk prioritization.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2011680"/>
            <a:ext cx="7315200" cy="658368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0" y="2286000"/>
            <a:ext cx="658368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Progress in Phase 2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Expanded scanning across 3 major enterprise programming languages.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Implemented 7-factor linear risk scoring and the Mosca Readiness Index.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Developed the 6-node property graph and evaluated the GATv2 model.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Tested and verified the system across an 8-repository corpus with 451 passing tests.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6449675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832216" y="9201150"/>
            <a:ext cx="4939308" cy="3587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</a:t>
            </a: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artment of Cyber Security | NMAMIT, Nitte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9" name="TextBox 8"/>
          <p:cNvSpPr txBox="1"/>
          <p:nvPr/>
        </p:nvSpPr>
        <p:spPr>
          <a:xfrm>
            <a:off x="2560320" y="777240"/>
            <a:ext cx="144475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>
                <a:solidFill>
                  <a:srgbClr val="303298"/>
                </a:solidFill>
                <a:latin typeface="Times New Roman"/>
              </a:rPr>
              <a:t>PROBLEM STATEMENT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011680"/>
            <a:ext cx="15361920" cy="201168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2194560"/>
            <a:ext cx="1463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BBF24"/>
                </a:solidFill>
                <a:latin typeface="Times New Roman"/>
              </a:rPr>
              <a:t>Problem</a:t>
            </a:r>
          </a:p>
          <a:p>
            <a:pPr>
              <a:spcBef>
                <a:spcPts val="800"/>
              </a:spcBef>
            </a:pPr>
            <a:r>
              <a:rPr sz="1900" b="0">
                <a:solidFill>
                  <a:srgbClr val="FFFFFF"/>
                </a:solidFill>
                <a:latin typeface="Times New Roman"/>
              </a:rPr>
              <a:t>Existing tools do not provide a complete graph-based assessment of cryptographic risks across software projects, making post-quantum migration priorities difficult to determine.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4297680"/>
            <a:ext cx="7315200" cy="42976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4480560"/>
            <a:ext cx="6583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303298"/>
                </a:solidFill>
                <a:latin typeface="Times New Roman"/>
              </a:rPr>
              <a:t>Who Is Affected?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Enterprise software development teams.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Banking and financial transaction systems.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Organizations managing long-term confidential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4297680"/>
            <a:ext cx="7315200" cy="429768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0" y="4480560"/>
            <a:ext cx="6583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Project Scope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Analyze source code and configuration files.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Identify cryptographic risks and vulnerabilities.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Recommend clear, sprint-level migration priorities.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36415" y="795733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" id="5"/>
          <p:cNvSpPr txBox="true"/>
          <p:nvPr/>
        </p:nvSpPr>
        <p:spPr>
          <a:xfrm rot="0">
            <a:off x="16487676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7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74440" y="9201151"/>
            <a:ext cx="4939308" cy="3587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</a:t>
            </a: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artment of Cyber Security | NMAMIT, Nitte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275982" y="1028700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8" name="TextBox 7"/>
          <p:cNvSpPr txBox="1"/>
          <p:nvPr/>
        </p:nvSpPr>
        <p:spPr>
          <a:xfrm>
            <a:off x="2560320" y="777240"/>
            <a:ext cx="144475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>
                <a:solidFill>
                  <a:srgbClr val="303298"/>
                </a:solidFill>
                <a:latin typeface="Times New Roman"/>
              </a:rPr>
              <a:t>OBJECTIVES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2011680"/>
            <a:ext cx="1536192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800" y="2212848"/>
            <a:ext cx="685800" cy="68580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194560"/>
            <a:ext cx="13716000" cy="7315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900" b="1">
                <a:solidFill>
                  <a:srgbClr val="303298"/>
                </a:solidFill>
                <a:latin typeface="Times New Roman"/>
              </a:rPr>
              <a:t>Cryptographic Discovery:  </a:t>
            </a:r>
            <a:r>
              <a:rPr sz="1800" b="0">
                <a:solidFill>
                  <a:srgbClr val="1E293B"/>
                </a:solidFill>
                <a:latin typeface="Times New Roman"/>
              </a:rPr>
              <a:t>Identify cryptographic algorithms and components across supported languages.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3337560"/>
            <a:ext cx="1536192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3538728"/>
            <a:ext cx="685800" cy="68580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20440"/>
            <a:ext cx="13716000" cy="7315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900" b="1">
                <a:solidFill>
                  <a:srgbClr val="303298"/>
                </a:solidFill>
                <a:latin typeface="Times New Roman"/>
              </a:rPr>
              <a:t>Graph Construction:  </a:t>
            </a:r>
            <a:r>
              <a:rPr sz="1800" b="0">
                <a:solidFill>
                  <a:srgbClr val="1E293B"/>
                </a:solidFill>
                <a:latin typeface="Times New Roman"/>
              </a:rPr>
              <a:t>Represent software components and relationships using a property graph.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63040" y="4663440"/>
            <a:ext cx="1536192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828800" y="4864608"/>
            <a:ext cx="685800" cy="68580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846320"/>
            <a:ext cx="13716000" cy="7315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900" b="1">
                <a:solidFill>
                  <a:srgbClr val="303298"/>
                </a:solidFill>
                <a:latin typeface="Times New Roman"/>
              </a:rPr>
              <a:t>Risk Prioritization:  </a:t>
            </a:r>
            <a:r>
              <a:rPr sz="1800" b="0">
                <a:solidFill>
                  <a:srgbClr val="1E293B"/>
                </a:solidFill>
                <a:latin typeface="Times New Roman"/>
              </a:rPr>
              <a:t>Calculate risk scores and migration urgency using the heuristic model and Mosca Index.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5989320"/>
            <a:ext cx="1536192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828800" y="6190488"/>
            <a:ext cx="685800" cy="68580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6172200"/>
            <a:ext cx="13716000" cy="7315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900" b="1">
                <a:solidFill>
                  <a:srgbClr val="303298"/>
                </a:solidFill>
                <a:latin typeface="Times New Roman"/>
              </a:rPr>
              <a:t>Graph Learning:  </a:t>
            </a:r>
            <a:r>
              <a:rPr sz="1800" b="0">
                <a:solidFill>
                  <a:srgbClr val="1E293B"/>
                </a:solidFill>
                <a:latin typeface="Times New Roman"/>
              </a:rPr>
              <a:t>Evaluate GATv2 for identifying risk patterns across connected components.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63040" y="7315200"/>
            <a:ext cx="1536192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28800" y="7516368"/>
            <a:ext cx="685800" cy="68580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7498080"/>
            <a:ext cx="13716000" cy="7315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900" b="1">
                <a:solidFill>
                  <a:srgbClr val="303298"/>
                </a:solidFill>
                <a:latin typeface="Times New Roman"/>
              </a:rPr>
              <a:t>Migration Support:  </a:t>
            </a:r>
            <a:r>
              <a:rPr sz="1800" b="0">
                <a:solidFill>
                  <a:srgbClr val="1E293B"/>
                </a:solidFill>
                <a:latin typeface="Times New Roman"/>
              </a:rPr>
              <a:t>Generate CBOM reports and maintain auditable cryptographic records.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6304121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8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690551" y="9201150"/>
            <a:ext cx="4939308" cy="3587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</a:t>
            </a: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artment of Cyber Security | NMAMIT, Nitte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6" name="TextBox 5"/>
          <p:cNvSpPr txBox="1"/>
          <p:nvPr/>
        </p:nvSpPr>
        <p:spPr>
          <a:xfrm>
            <a:off x="2560320" y="777240"/>
            <a:ext cx="144475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>
                <a:solidFill>
                  <a:srgbClr val="303298"/>
                </a:solidFill>
                <a:latin typeface="Times New Roman"/>
              </a:rPr>
              <a:t>PROPOSED METHODOLOGY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2011680"/>
            <a:ext cx="3566160" cy="4663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28800" y="2286000"/>
            <a:ext cx="640080" cy="64008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108960"/>
            <a:ext cx="2834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303298"/>
                </a:solidFill>
                <a:latin typeface="Times New Roman"/>
              </a:rPr>
              <a:t>Cryptographic
Discovery</a:t>
            </a:r>
          </a:p>
          <a:p>
            <a:pPr>
              <a:spcBef>
                <a:spcPts val="800"/>
              </a:spcBef>
            </a:pPr>
            <a:r>
              <a:rPr sz="1600" b="0">
                <a:solidFill>
                  <a:srgbClr val="1E293B"/>
                </a:solidFill>
                <a:latin typeface="Times New Roman"/>
              </a:rPr>
              <a:t>Scan code and identify algorithms, keys, and configurations.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2011680"/>
            <a:ext cx="3566160" cy="4663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60720" y="2286000"/>
            <a:ext cx="640080" cy="64008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108960"/>
            <a:ext cx="2834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303298"/>
                </a:solidFill>
                <a:latin typeface="Times New Roman"/>
              </a:rPr>
              <a:t>Graph
Construction</a:t>
            </a:r>
          </a:p>
          <a:p>
            <a:pPr>
              <a:spcBef>
                <a:spcPts val="800"/>
              </a:spcBef>
            </a:pPr>
            <a:r>
              <a:rPr sz="1600" b="0">
                <a:solidFill>
                  <a:srgbClr val="1E293B"/>
                </a:solidFill>
                <a:latin typeface="Times New Roman"/>
              </a:rPr>
              <a:t>Connect files, functions, crypto assets, and dependencies.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2011680"/>
            <a:ext cx="3566160" cy="4663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0" y="2286000"/>
            <a:ext cx="640080" cy="64008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3108960"/>
            <a:ext cx="2834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303298"/>
                </a:solidFill>
                <a:latin typeface="Times New Roman"/>
              </a:rPr>
              <a:t>Risk
Assessment</a:t>
            </a:r>
          </a:p>
          <a:p>
            <a:pPr>
              <a:spcBef>
                <a:spcPts val="800"/>
              </a:spcBef>
            </a:pPr>
            <a:r>
              <a:rPr sz="1600" b="0">
                <a:solidFill>
                  <a:srgbClr val="1E293B"/>
                </a:solidFill>
                <a:latin typeface="Times New Roman"/>
              </a:rPr>
              <a:t>Calculate risk scores and Mosca-based urgency.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58799" y="2011680"/>
            <a:ext cx="3566160" cy="466344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624559" y="2286000"/>
            <a:ext cx="640080" cy="64008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624559" y="3108960"/>
            <a:ext cx="2834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Graph Learning
&amp; Reporting</a:t>
            </a:r>
          </a:p>
          <a:p>
            <a:pPr>
              <a:spcBef>
                <a:spcPts val="800"/>
              </a:spcBef>
            </a:pPr>
            <a:r>
              <a:rPr sz="1600" b="0">
                <a:solidFill>
                  <a:srgbClr val="FFFFFF"/>
                </a:solidFill>
                <a:latin typeface="Times New Roman"/>
              </a:rPr>
              <a:t>Use GATv2 and generate prioritized results and CBOM.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7040880"/>
            <a:ext cx="15361920" cy="146304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0" y="7223760"/>
            <a:ext cx="146304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BBF24"/>
                </a:solidFill>
                <a:latin typeface="Times New Roman"/>
              </a:rPr>
              <a:t>Output:  </a:t>
            </a:r>
            <a:r>
              <a:rPr sz="2000" b="1">
                <a:solidFill>
                  <a:srgbClr val="FFFFFF"/>
                </a:solidFill>
                <a:latin typeface="Times New Roman"/>
              </a:rPr>
              <a:t>Risk scores  •  Migration priorities  •  Cryptographic Bill of Materials (CBOM)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6459597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9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99781" y="9201150"/>
            <a:ext cx="4939308" cy="3587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</a:t>
            </a: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artment of Cyber Security | NMAMIT, Nitte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8" name="TextBox 7"/>
          <p:cNvSpPr txBox="1"/>
          <p:nvPr/>
        </p:nvSpPr>
        <p:spPr>
          <a:xfrm>
            <a:off x="2560320" y="777240"/>
            <a:ext cx="144475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>
                <a:solidFill>
                  <a:srgbClr val="303298"/>
                </a:solidFill>
                <a:latin typeface="Times New Roman"/>
              </a:rPr>
              <a:t>SYSTEM ARCHITECTURE</a:t>
            </a:r>
          </a:p>
          <a:p>
            <a:pPr>
              <a:spcBef>
                <a:spcPts val="400"/>
              </a:spcBef>
            </a:pPr>
            <a:r>
              <a:rPr sz="1600" i="1">
                <a:solidFill>
                  <a:srgbClr val="64748B"/>
                </a:solidFill>
                <a:latin typeface="Times New Roman"/>
              </a:rPr>
              <a:t>End-to-end flow from source code to migration-prioritization results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2011680"/>
            <a:ext cx="15361920" cy="91440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121408"/>
            <a:ext cx="14630400" cy="6858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900" b="1">
                <a:solidFill>
                  <a:srgbClr val="FBBF24"/>
                </a:solidFill>
                <a:latin typeface="Times New Roman"/>
              </a:rPr>
              <a:t>1. Source Code Input  — 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Repositories, manifests, and configuration 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3090672"/>
            <a:ext cx="15361920" cy="9144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3200400"/>
            <a:ext cx="14630400" cy="6858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900" b="1">
                <a:solidFill>
                  <a:srgbClr val="303298"/>
                </a:solidFill>
                <a:latin typeface="Times New Roman"/>
              </a:rPr>
              <a:t>2. Static Analysis  — 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Identify cryptographic components across Python, Java, and 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4169664"/>
            <a:ext cx="15361920" cy="9144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4279392"/>
            <a:ext cx="14630400" cy="6858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900" b="1">
                <a:solidFill>
                  <a:srgbClr val="303298"/>
                </a:solidFill>
                <a:latin typeface="Times New Roman"/>
              </a:rPr>
              <a:t>3. Property Graph  — 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Connect files, functions, crypto assets, and dependencies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63040" y="5248656"/>
            <a:ext cx="15361920" cy="9144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0" y="5358384"/>
            <a:ext cx="14630400" cy="6858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900" b="1">
                <a:solidFill>
                  <a:srgbClr val="303298"/>
                </a:solidFill>
                <a:latin typeface="Times New Roman"/>
              </a:rPr>
              <a:t>4. Risk Assessment  — 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Heuristic 7-factor score and Mosca Readiness Index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6327648"/>
            <a:ext cx="15361920" cy="9144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6437376"/>
            <a:ext cx="14630400" cy="6858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900" b="1">
                <a:solidFill>
                  <a:srgbClr val="303298"/>
                </a:solidFill>
                <a:latin typeface="Times New Roman"/>
              </a:rPr>
              <a:t>5. GATv2 Model  — 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Analyze graph relationships and topological risk patterns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7406640"/>
            <a:ext cx="15361920" cy="91440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0" y="7516368"/>
            <a:ext cx="14630400" cy="6858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900" b="1">
                <a:solidFill>
                  <a:srgbClr val="FBBF24"/>
                </a:solidFill>
                <a:latin typeface="Times New Roman"/>
              </a:rPr>
              <a:t>6. Results &amp; Reports  — 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Interactive dashboard, risk priorities, and CBOM output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6342618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10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725422" y="9201151"/>
            <a:ext cx="4939308" cy="3587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</a:t>
            </a: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artment of Cyber Security | NMAMIT, Nitte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7" name="TextBox 6"/>
          <p:cNvSpPr txBox="1"/>
          <p:nvPr/>
        </p:nvSpPr>
        <p:spPr>
          <a:xfrm>
            <a:off x="2560320" y="777240"/>
            <a:ext cx="144475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>
                <a:solidFill>
                  <a:srgbClr val="303298"/>
                </a:solidFill>
                <a:latin typeface="Times New Roman"/>
              </a:rPr>
              <a:t>TOOLS &amp;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103120"/>
            <a:ext cx="4846320" cy="28346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468880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CODE ANALYSIS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  <a:latin typeface="Times New Roman"/>
              </a:rPr>
              <a:t>• Python AST + Tree-sitter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1E293B"/>
                </a:solidFill>
                <a:latin typeface="Times New Roman"/>
              </a:rPr>
              <a:t>• Scan code and identify crypto components.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2103120"/>
            <a:ext cx="4846320" cy="283464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468880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GRAPH MODELING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• NetworkX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FFFFFF"/>
                </a:solidFill>
                <a:latin typeface="Times New Roman"/>
              </a:rPr>
              <a:t>• Build and analyze dependency graphs.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978640" y="2103120"/>
            <a:ext cx="4846320" cy="28346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468880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MACHINE LEARNING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  <a:latin typeface="Times New Roman"/>
              </a:rPr>
              <a:t>• PyTorch Geometric + GATv2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1E293B"/>
                </a:solidFill>
                <a:latin typeface="Times New Roman"/>
              </a:rPr>
              <a:t>• Learn patterns from graph relationships.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5303520"/>
            <a:ext cx="4846320" cy="28346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669280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BACKEND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  <a:latin typeface="Times New Roman"/>
              </a:rPr>
              <a:t>• FastAPI + Pydantic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1E293B"/>
                </a:solidFill>
                <a:latin typeface="Times New Roman"/>
              </a:rPr>
              <a:t>• Build backend APIs and validate data.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5303520"/>
            <a:ext cx="4846320" cy="283464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5669280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FRONTEND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• React + TypeScript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FFFFFF"/>
                </a:solidFill>
                <a:latin typeface="Times New Roman"/>
              </a:rPr>
              <a:t>• Display interactive graphs and risk results.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978640" y="5303520"/>
            <a:ext cx="4846320" cy="28346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0" y="5669280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REPORTING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  <a:latin typeface="Times New Roman"/>
              </a:rPr>
              <a:t>• SQLite + CycloneDX v1.6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1E293B"/>
                </a:solidFill>
                <a:latin typeface="Times New Roman"/>
              </a:rPr>
              <a:t>• Store audit records and generate CBOMs.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6338352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11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6" name="TextBox 5"/>
          <p:cNvSpPr txBox="1"/>
          <p:nvPr/>
        </p:nvSpPr>
        <p:spPr>
          <a:xfrm>
            <a:off x="2560320" y="777240"/>
            <a:ext cx="144475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>
                <a:solidFill>
                  <a:srgbClr val="303298"/>
                </a:solidFill>
                <a:latin typeface="Times New Roman"/>
              </a:rPr>
              <a:t>DATASETS &amp; BENCHMARK CORPUS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2011680"/>
            <a:ext cx="7315200" cy="658368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286000"/>
            <a:ext cx="658368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Benchmark Overview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Eight open-source software repositories.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4,558 source files analyzed across projects.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520 structural evaluation nodes extracted.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Projects include multiple programming languages (Python, Java, Go).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7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Covers diverse software architectures: cryptography libraries, JWT tokens, and network servers.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2011680"/>
            <a:ext cx="7315200" cy="49377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219456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303298"/>
                </a:solidFill>
                <a:latin typeface="Times New Roman"/>
              </a:rPr>
              <a:t>Reported Risk Distribution</a:t>
            </a:r>
          </a:p>
          <a:p>
            <a:pPr>
              <a:spcBef>
                <a:spcPts val="400"/>
              </a:spcBef>
              <a:spcAft>
                <a:spcPts val="1600"/>
              </a:spcAft>
            </a:pPr>
            <a:r>
              <a:rPr sz="1600" b="1">
                <a:solidFill>
                  <a:srgbClr val="1E293B"/>
                </a:solidFill>
                <a:latin typeface="Times New Roman"/>
              </a:rPr>
              <a:t>• 251 Low Risk  • 166 Medium Risk  • 103 High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3657600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600" b="1">
                <a:solidFill>
                  <a:srgbClr val="1E293B"/>
                </a:solidFill>
                <a:latin typeface="Times New Roman"/>
              </a:rPr>
              <a:t>Low Risk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3703320"/>
            <a:ext cx="3474720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270480" y="3657600"/>
            <a:ext cx="9144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600" b="1">
                <a:solidFill>
                  <a:srgbClr val="1E293B"/>
                </a:solidFill>
                <a:latin typeface="Times New Roman"/>
              </a:rPr>
              <a:t>251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4663440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600" b="1">
                <a:solidFill>
                  <a:srgbClr val="1E293B"/>
                </a:solidFill>
                <a:latin typeface="Times New Roman"/>
              </a:rPr>
              <a:t>Medium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704320" y="4709160"/>
            <a:ext cx="2377440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0" y="4663440"/>
            <a:ext cx="9144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600" b="1">
                <a:solidFill>
                  <a:srgbClr val="1E293B"/>
                </a:solidFill>
                <a:latin typeface="Times New Roman"/>
              </a:rPr>
              <a:t>166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5669280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600" b="1">
                <a:solidFill>
                  <a:srgbClr val="1E293B"/>
                </a:solidFill>
                <a:latin typeface="Times New Roman"/>
              </a:rPr>
              <a:t>High Risk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704320" y="5715000"/>
            <a:ext cx="1645920" cy="3657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441680" y="5669280"/>
            <a:ext cx="9144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600" b="1">
                <a:solidFill>
                  <a:srgbClr val="1E293B"/>
                </a:solidFill>
                <a:latin typeface="Times New Roman"/>
              </a:rPr>
              <a:t>103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7223760"/>
            <a:ext cx="7315200" cy="137160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0" y="7360920"/>
            <a:ext cx="65836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BBF24"/>
                </a:solidFill>
                <a:latin typeface="Times New Roman"/>
              </a:rPr>
              <a:t>Evaluation
</a:t>
            </a:r>
            <a:r>
              <a:rPr sz="1600">
                <a:solidFill>
                  <a:srgbClr val="FFFFFF"/>
                </a:solidFill>
                <a:latin typeface="Times New Roman"/>
              </a:rPr>
              <a:t>Leave-One-Project-Out (LOPO) and stratified 5-fold validation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6376675" y="934237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12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6" name="TextBox 5"/>
          <p:cNvSpPr txBox="1"/>
          <p:nvPr/>
        </p:nvSpPr>
        <p:spPr>
          <a:xfrm>
            <a:off x="2560320" y="777240"/>
            <a:ext cx="144475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>
                <a:solidFill>
                  <a:srgbClr val="303298"/>
                </a:solidFill>
                <a:latin typeface="Times New Roman"/>
              </a:rPr>
              <a:t>DISCOVERY &amp; PROPERTY GRAPH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2103120"/>
            <a:ext cx="15361920" cy="13716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286000"/>
            <a:ext cx="146304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1">
                <a:solidFill>
                  <a:srgbClr val="303298"/>
                </a:solidFill>
                <a:latin typeface="Times New Roman"/>
              </a:rPr>
              <a:t>LAYER 1 | STATIC CODE SCANNING</a:t>
            </a:r>
          </a:p>
          <a:p>
            <a:pPr>
              <a:spcBef>
                <a:spcPts val="400"/>
              </a:spcBef>
            </a:pPr>
            <a:r>
              <a:rPr sz="1700" b="0">
                <a:solidFill>
                  <a:srgbClr val="1E293B"/>
                </a:solidFill>
                <a:latin typeface="Times New Roman"/>
              </a:rPr>
              <a:t>Scans supported languages and identifies cryptographic components.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3840479"/>
            <a:ext cx="15361920" cy="13716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023359"/>
            <a:ext cx="146304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1">
                <a:solidFill>
                  <a:srgbClr val="303298"/>
                </a:solidFill>
                <a:latin typeface="Times New Roman"/>
              </a:rPr>
              <a:t>LAYER 2 | PREPROCESSING</a:t>
            </a:r>
          </a:p>
          <a:p>
            <a:pPr>
              <a:spcBef>
                <a:spcPts val="400"/>
              </a:spcBef>
            </a:pPr>
            <a:r>
              <a:rPr sz="1700" b="0">
                <a:solidFill>
                  <a:srgbClr val="1E293B"/>
                </a:solidFill>
                <a:latin typeface="Times New Roman"/>
              </a:rPr>
              <a:t>Removes comments before analysis to reduce false-positive detections.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5577840"/>
            <a:ext cx="15361920" cy="137160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5760720"/>
            <a:ext cx="146304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1">
                <a:solidFill>
                  <a:srgbClr val="FBBF24"/>
                </a:solidFill>
                <a:latin typeface="Times New Roman"/>
              </a:rPr>
              <a:t>LAYER 3 | PROPERTY GRAPH</a:t>
            </a:r>
          </a:p>
          <a:p>
            <a:pPr>
              <a:spcBef>
                <a:spcPts val="400"/>
              </a:spcBef>
            </a:pPr>
            <a:r>
              <a:rPr sz="1700" b="0">
                <a:solidFill>
                  <a:srgbClr val="FFFFFF"/>
                </a:solidFill>
                <a:latin typeface="Times New Roman"/>
              </a:rPr>
              <a:t>Represents repositories, files, functions, crypto assets, dependencies, and infrastructure.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7589520"/>
            <a:ext cx="15361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03298"/>
                </a:solidFill>
                <a:latin typeface="Times New Roman"/>
              </a:rPr>
              <a:t>Why a property graph? It helps trace how risks may connect across software components.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6324163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13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6" name="TextBox 5"/>
          <p:cNvSpPr txBox="1"/>
          <p:nvPr/>
        </p:nvSpPr>
        <p:spPr>
          <a:xfrm>
            <a:off x="2560320" y="777240"/>
            <a:ext cx="144475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>
                <a:solidFill>
                  <a:srgbClr val="303298"/>
                </a:solidFill>
                <a:latin typeface="Times New Roman"/>
              </a:rPr>
              <a:t>RISK SCORING &amp; MOSCA INDEX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2011680"/>
            <a:ext cx="4846320" cy="54864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2194560"/>
            <a:ext cx="4297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303298"/>
                </a:solidFill>
                <a:latin typeface="Times New Roman"/>
              </a:rPr>
              <a:t>1. Risk Scoring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6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600" b="0">
                <a:solidFill>
                  <a:srgbClr val="1E293B"/>
                </a:solidFill>
                <a:latin typeface="Times New Roman"/>
              </a:rPr>
              <a:t>Algorithm vulnerability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6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600" b="0">
                <a:solidFill>
                  <a:srgbClr val="1E293B"/>
                </a:solidFill>
                <a:latin typeface="Times New Roman"/>
              </a:rPr>
              <a:t>Key weakness and exposure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6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600" b="0">
                <a:solidFill>
                  <a:srgbClr val="1E293B"/>
                </a:solidFill>
                <a:latin typeface="Times New Roman"/>
              </a:rPr>
              <a:t>Dependency importance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6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600" b="0">
                <a:solidFill>
                  <a:srgbClr val="1E293B"/>
                </a:solidFill>
                <a:latin typeface="Times New Roman"/>
              </a:rPr>
              <a:t>Known vulnerabilities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6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600" b="0">
                <a:solidFill>
                  <a:srgbClr val="1E293B"/>
                </a:solidFill>
                <a:latin typeface="Times New Roman"/>
              </a:rPr>
              <a:t>Migration difficulty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6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600" b="0">
                <a:solidFill>
                  <a:srgbClr val="1E293B"/>
                </a:solidFill>
                <a:latin typeface="Times New Roman"/>
              </a:rPr>
              <a:t>Data confidentiality period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011680"/>
            <a:ext cx="4846320" cy="548640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2194560"/>
            <a:ext cx="4297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2. Mosca Index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600" b="0">
                <a:solidFill>
                  <a:srgbClr val="FFFFFF"/>
                </a:solidFill>
                <a:latin typeface="Times New Roman"/>
              </a:rPr>
              <a:t>Compares data-protection time and migration time with expected quantum-threat timeline.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600" b="0">
                <a:solidFill>
                  <a:srgbClr val="FFFFFF"/>
                </a:solidFill>
                <a:latin typeface="Times New Roman"/>
              </a:rPr>
              <a:t>Formula: U = (X + Y) / Z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600" b="0">
                <a:solidFill>
                  <a:srgbClr val="FFFFFF"/>
                </a:solidFill>
                <a:latin typeface="Times New Roman"/>
              </a:rPr>
              <a:t>X = Migration Time, Y = Shelf Life, Z = Threat Horizon.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>
                <a:solidFill>
                  <a:srgbClr val="FBBF24"/>
                </a:solidFill>
                <a:latin typeface="Times New Roman"/>
              </a:rPr>
              <a:t>• </a:t>
            </a:r>
            <a:r>
              <a:rPr sz="1600" b="0">
                <a:solidFill>
                  <a:srgbClr val="FFFFFF"/>
                </a:solidFill>
                <a:latin typeface="Times New Roman"/>
              </a:rPr>
              <a:t>Helps assess whether migration should begin sooner.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78640" y="2011680"/>
            <a:ext cx="4846320" cy="54864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52960" y="2194560"/>
            <a:ext cx="4297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303298"/>
                </a:solidFill>
                <a:latin typeface="Times New Roman"/>
              </a:rPr>
              <a:t>3. Migration Priority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Immediate Action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Strategic Migration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Monitored Retention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• </a:t>
            </a:r>
            <a:r>
              <a:rPr sz="1700" b="0">
                <a:solidFill>
                  <a:srgbClr val="1E293B"/>
                </a:solidFill>
                <a:latin typeface="Times New Roman"/>
              </a:rPr>
              <a:t>Routine Maintenance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7772400"/>
            <a:ext cx="1536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303298"/>
                </a:solidFill>
                <a:latin typeface="Times New Roman"/>
              </a:rPr>
              <a:t>Risk score + urgency  →  clearer migration priorities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6200149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14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11578" y="9201150"/>
            <a:ext cx="4939308" cy="3587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</a:t>
            </a: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artment of Cyber Security | NMAMIT, Nitte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8" name="TextBox 7"/>
          <p:cNvSpPr txBox="1"/>
          <p:nvPr/>
        </p:nvSpPr>
        <p:spPr>
          <a:xfrm>
            <a:off x="2560320" y="777240"/>
            <a:ext cx="144475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>
                <a:solidFill>
                  <a:srgbClr val="303298"/>
                </a:solidFill>
                <a:latin typeface="Times New Roman"/>
              </a:rPr>
              <a:t>RESULTS AND PERFORMANCE</a:t>
            </a:r>
          </a:p>
          <a:p>
            <a:pPr>
              <a:spcBef>
                <a:spcPts val="400"/>
              </a:spcBef>
            </a:pPr>
            <a:r>
              <a:rPr sz="1600" i="1">
                <a:solidFill>
                  <a:srgbClr val="64748B"/>
                </a:solidFill>
                <a:latin typeface="Times New Roman"/>
              </a:rPr>
              <a:t>Reported model comparison from the supplied project blueprint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2103120"/>
          <a:ext cx="153619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0"/>
                <a:gridCol w="3474720"/>
                <a:gridCol w="3474720"/>
              </a:tblGrid>
              <a:tr h="762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Times New Roman"/>
                        </a:rPr>
                        <a:t>Model</a:t>
                      </a:r>
                    </a:p>
                  </a:txBody>
                  <a:tcPr anchor="ctr">
                    <a:solidFill>
                      <a:srgbClr val="1E2B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Times New Roman"/>
                        </a:rPr>
                        <a:t>Accuracy</a:t>
                      </a:r>
                    </a:p>
                  </a:txBody>
                  <a:tcPr anchor="ctr">
                    <a:solidFill>
                      <a:srgbClr val="1E2B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Times New Roman"/>
                        </a:rPr>
                        <a:t>F1-Score</a:t>
                      </a:r>
                    </a:p>
                  </a:txBody>
                  <a:tcPr anchor="ctr">
                    <a:solidFill>
                      <a:srgbClr val="1E2B58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B"/>
                          </a:solidFill>
                          <a:latin typeface="Times New Roman"/>
                        </a:rPr>
                        <a:t>Static Heuristic Rules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E293B"/>
                          </a:solidFill>
                          <a:latin typeface="Times New Roman"/>
                        </a:rPr>
                        <a:t>52.12%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E293B"/>
                          </a:solidFill>
                          <a:latin typeface="Times New Roman"/>
                        </a:rPr>
                        <a:t>0.3567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B"/>
                          </a:solidFill>
                          <a:latin typeface="Times New Roman"/>
                        </a:rPr>
                        <a:t>Feature-Only MLP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E293B"/>
                          </a:solidFill>
                          <a:latin typeface="Times New Roman"/>
                        </a:rPr>
                        <a:t>98.08%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E293B"/>
                          </a:solidFill>
                          <a:latin typeface="Times New Roman"/>
                        </a:rPr>
                        <a:t>0.9802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B"/>
                          </a:solidFill>
                          <a:latin typeface="Times New Roman"/>
                        </a:rPr>
                        <a:t>Randomized-Edge GATv2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E293B"/>
                          </a:solidFill>
                          <a:latin typeface="Times New Roman"/>
                        </a:rPr>
                        <a:t>74.81%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E293B"/>
                          </a:solidFill>
                          <a:latin typeface="Times New Roman"/>
                        </a:rPr>
                        <a:t>0.6629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E293B"/>
                          </a:solidFill>
                          <a:latin typeface="Times New Roman"/>
                        </a:rPr>
                        <a:t>Canonical GATv2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E293B"/>
                          </a:solidFill>
                          <a:latin typeface="Times New Roman"/>
                        </a:rPr>
                        <a:t>83.08%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E293B"/>
                          </a:solidFill>
                          <a:latin typeface="Times New Roman"/>
                        </a:rPr>
                        <a:t>0.7176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E293B"/>
                          </a:solidFill>
                          <a:latin typeface="Times New Roman"/>
                        </a:rPr>
                        <a:t>Stratified 5-Fold GATv2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E293B"/>
                          </a:solidFill>
                          <a:latin typeface="Times New Roman"/>
                        </a:rPr>
                        <a:t>84.81%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E293B"/>
                          </a:solidFill>
                          <a:latin typeface="Times New Roman"/>
                        </a:rPr>
                        <a:t>0.8005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1463040" y="7040880"/>
            <a:ext cx="15361920" cy="128016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7178040"/>
            <a:ext cx="146304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200"/>
              </a:spcAft>
            </a:pPr>
            <a:r>
              <a:rPr sz="2000" b="1">
                <a:solidFill>
                  <a:srgbClr val="FBBF24"/>
                </a:solidFill>
                <a:latin typeface="Times New Roman"/>
              </a:rPr>
              <a:t>Key Observation:  </a:t>
            </a:r>
            <a:r>
              <a:rPr sz="1800">
                <a:solidFill>
                  <a:srgbClr val="FFFFFF"/>
                </a:solidFill>
                <a:latin typeface="Times New Roman"/>
              </a:rPr>
              <a:t>Stratified 5-fold GATv2 reported 84.81% accuracy, outperforming the randomized-edge control by +8.27%.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6327735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15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585936" y="9201151"/>
            <a:ext cx="4939308" cy="3587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</a:t>
            </a: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artment of Cyber Security | NMAMIT, Nitte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6" name="TextBox 5"/>
          <p:cNvSpPr txBox="1"/>
          <p:nvPr/>
        </p:nvSpPr>
        <p:spPr>
          <a:xfrm>
            <a:off x="2560320" y="777240"/>
            <a:ext cx="144475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>
                <a:solidFill>
                  <a:srgbClr val="303298"/>
                </a:solidFill>
                <a:latin typeface="Times New Roman"/>
              </a:rPr>
              <a:t>GATV2 EVALUATION RESULTS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2103120"/>
            <a:ext cx="7498079" cy="237744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40" y="2468880"/>
            <a:ext cx="6583679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Times New Roman"/>
              </a:rPr>
              <a:t>89.38%</a:t>
            </a:r>
          </a:p>
          <a:p>
            <a:pPr algn="ctr"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Times New Roman"/>
              </a:rPr>
              <a:t>Reported unweighted mean accuracy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2103120"/>
            <a:ext cx="7498079" cy="2377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468880"/>
            <a:ext cx="6583679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303298"/>
                </a:solidFill>
                <a:latin typeface="Times New Roman"/>
              </a:rPr>
              <a:t>+8.27%</a:t>
            </a:r>
          </a:p>
          <a:p>
            <a:pPr algn="ctr">
              <a:spcBef>
                <a:spcPts val="400"/>
              </a:spcBef>
            </a:pPr>
            <a:r>
              <a:rPr sz="1800">
                <a:solidFill>
                  <a:srgbClr val="1E293B"/>
                </a:solidFill>
                <a:latin typeface="Times New Roman"/>
              </a:rPr>
              <a:t>Reported gain over randomized-edge control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754879"/>
            <a:ext cx="7498079" cy="2377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5120639"/>
            <a:ext cx="6583679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303298"/>
                </a:solidFill>
                <a:latin typeface="Times New Roman"/>
              </a:rPr>
              <a:t>96.55%</a:t>
            </a:r>
          </a:p>
          <a:p>
            <a:pPr algn="ctr">
              <a:spcBef>
                <a:spcPts val="400"/>
              </a:spcBef>
            </a:pPr>
            <a:r>
              <a:rPr sz="1800">
                <a:solidFill>
                  <a:srgbClr val="1E293B"/>
                </a:solidFill>
                <a:latin typeface="Times New Roman"/>
              </a:rPr>
              <a:t>Reported high-risk 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4754879"/>
            <a:ext cx="7498079" cy="237744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0" y="5120639"/>
            <a:ext cx="6583679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Times New Roman"/>
              </a:rPr>
              <a:t>p &lt; 0.001</a:t>
            </a:r>
          </a:p>
          <a:p>
            <a:pPr algn="ctr"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Times New Roman"/>
              </a:rPr>
              <a:t>Reported statistical significance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7680960"/>
            <a:ext cx="1536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03298"/>
                </a:solidFill>
                <a:latin typeface="Times New Roman"/>
              </a:rPr>
              <a:t>Graph relationships may provide useful signals for identifying connected cryptographic risks.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6319202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16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6" name="TextBox 5"/>
          <p:cNvSpPr txBox="1"/>
          <p:nvPr/>
        </p:nvSpPr>
        <p:spPr>
          <a:xfrm>
            <a:off x="2560320" y="777240"/>
            <a:ext cx="144475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>
                <a:solidFill>
                  <a:srgbClr val="303298"/>
                </a:solidFill>
                <a:latin typeface="Times New Roman"/>
              </a:rPr>
              <a:t>SENSITIVITY &amp; PLATFORM VERIFICATION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2103120"/>
            <a:ext cx="7498079" cy="2377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40" y="2468880"/>
            <a:ext cx="6583679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1">
                <a:solidFill>
                  <a:srgbClr val="303298"/>
                </a:solidFill>
                <a:latin typeface="Times New Roman"/>
              </a:rPr>
              <a:t>ρ &gt; 0.94</a:t>
            </a:r>
          </a:p>
          <a:p>
            <a:pPr algn="ctr">
              <a:spcBef>
                <a:spcPts val="400"/>
              </a:spcBef>
            </a:pPr>
            <a:r>
              <a:rPr sz="1800">
                <a:solidFill>
                  <a:srgbClr val="1E293B"/>
                </a:solidFill>
                <a:latin typeface="Times New Roman"/>
              </a:rPr>
              <a:t>Reported rank correlation under parameter changes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2103120"/>
            <a:ext cx="7498079" cy="237744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2468880"/>
            <a:ext cx="6583679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</a:rPr>
              <a:t>84.17% ± 1.28%</a:t>
            </a:r>
          </a:p>
          <a:p>
            <a:pPr algn="ctr"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Times New Roman"/>
              </a:rPr>
              <a:t>Reported multi-seed performance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754879"/>
            <a:ext cx="7498079" cy="237744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5120639"/>
            <a:ext cx="6583679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</a:rPr>
              <a:t>100% Pass</a:t>
            </a:r>
          </a:p>
          <a:p>
            <a:pPr algn="ctr"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Times New Roman"/>
              </a:rPr>
              <a:t>Reported backend and frontend tests (451 tests)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4754879"/>
            <a:ext cx="7498079" cy="237744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0" y="5120639"/>
            <a:ext cx="6583679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1">
                <a:solidFill>
                  <a:srgbClr val="303298"/>
                </a:solidFill>
                <a:latin typeface="Times New Roman"/>
              </a:rPr>
              <a:t>CycloneDX v1.6</a:t>
            </a:r>
          </a:p>
          <a:p>
            <a:pPr algn="ctr">
              <a:spcBef>
                <a:spcPts val="400"/>
              </a:spcBef>
            </a:pPr>
            <a:r>
              <a:rPr sz="1800">
                <a:solidFill>
                  <a:srgbClr val="1E293B"/>
                </a:solidFill>
                <a:latin typeface="Times New Roman"/>
              </a:rPr>
              <a:t>CBOM export and audit logging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7680960"/>
            <a:ext cx="1536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03298"/>
                </a:solidFill>
                <a:latin typeface="Times New Roman"/>
              </a:rPr>
              <a:t>Prioritization rankings remain stable and robust across sensitivity tests and 451 automated test cases.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6361866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17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7" name="TextBox 6"/>
          <p:cNvSpPr txBox="1"/>
          <p:nvPr/>
        </p:nvSpPr>
        <p:spPr>
          <a:xfrm>
            <a:off x="2560320" y="777240"/>
            <a:ext cx="144475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>
                <a:solidFill>
                  <a:srgbClr val="303298"/>
                </a:solidFill>
                <a:latin typeface="Times New Roman"/>
              </a:rPr>
              <a:t>CONCLUSION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011680"/>
            <a:ext cx="15361920" cy="960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828800" y="2176272"/>
            <a:ext cx="640080" cy="64008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121408"/>
            <a:ext cx="13716000" cy="7315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900" b="1">
                <a:solidFill>
                  <a:srgbClr val="303298"/>
                </a:solidFill>
                <a:latin typeface="Times New Roman"/>
              </a:rPr>
              <a:t>Discovery:  </a:t>
            </a:r>
            <a:r>
              <a:rPr sz="1800" b="0">
                <a:solidFill>
                  <a:srgbClr val="1E293B"/>
                </a:solidFill>
                <a:latin typeface="Times New Roman"/>
              </a:rPr>
              <a:t>Identifies cryptographic components across supported programming languages.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3127248"/>
            <a:ext cx="15361920" cy="960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28800" y="3291840"/>
            <a:ext cx="640080" cy="64008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236976"/>
            <a:ext cx="13716000" cy="7315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900" b="1">
                <a:solidFill>
                  <a:srgbClr val="303298"/>
                </a:solidFill>
                <a:latin typeface="Times New Roman"/>
              </a:rPr>
              <a:t>Graph Modeling:  </a:t>
            </a:r>
            <a:r>
              <a:rPr sz="1800" b="0">
                <a:solidFill>
                  <a:srgbClr val="1E293B"/>
                </a:solidFill>
                <a:latin typeface="Times New Roman"/>
              </a:rPr>
              <a:t>Connects software components and dependencies in a property graph.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4242816"/>
            <a:ext cx="15361920" cy="960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28800" y="4407408"/>
            <a:ext cx="640080" cy="64008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4352544"/>
            <a:ext cx="13716000" cy="7315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900" b="1">
                <a:solidFill>
                  <a:srgbClr val="303298"/>
                </a:solidFill>
                <a:latin typeface="Times New Roman"/>
              </a:rPr>
              <a:t>Risk Prioritization:  </a:t>
            </a:r>
            <a:r>
              <a:rPr sz="1800" b="0">
                <a:solidFill>
                  <a:srgbClr val="1E293B"/>
                </a:solidFill>
                <a:latin typeface="Times New Roman"/>
              </a:rPr>
              <a:t>Combines risk scoring with Mosca-based urgency.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5358384"/>
            <a:ext cx="15361920" cy="960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28800" y="5522976"/>
            <a:ext cx="640080" cy="64008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5468112"/>
            <a:ext cx="13716000" cy="7315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900" b="1">
                <a:solidFill>
                  <a:srgbClr val="303298"/>
                </a:solidFill>
                <a:latin typeface="Times New Roman"/>
              </a:rPr>
              <a:t>Graph Learning:  </a:t>
            </a:r>
            <a:r>
              <a:rPr sz="1800" b="0">
                <a:solidFill>
                  <a:srgbClr val="1E293B"/>
                </a:solidFill>
                <a:latin typeface="Times New Roman"/>
              </a:rPr>
              <a:t>Evaluates GATv2 for learning risk patterns from graph structure.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6473952"/>
            <a:ext cx="15361920" cy="960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6638544"/>
            <a:ext cx="640080" cy="640080"/>
          </a:xfrm>
          <a:prstGeom prst="ellipse">
            <a:avLst/>
          </a:prstGeom>
          <a:solidFill>
            <a:srgbClr val="3032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6583680"/>
            <a:ext cx="13716000" cy="7315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900" b="1">
                <a:solidFill>
                  <a:srgbClr val="303298"/>
                </a:solidFill>
                <a:latin typeface="Times New Roman"/>
              </a:rPr>
              <a:t>Reporting:  </a:t>
            </a:r>
            <a:r>
              <a:rPr sz="1800" b="0">
                <a:solidFill>
                  <a:srgbClr val="1E293B"/>
                </a:solidFill>
                <a:latin typeface="Times New Roman"/>
              </a:rPr>
              <a:t>Supports CBOM generation and audit logging.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7772400"/>
            <a:ext cx="1536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303298"/>
                </a:solidFill>
                <a:latin typeface="Times New Roman"/>
              </a:rPr>
              <a:t>AgileGraph supports evidence-based planning for post-quantum migration.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6324362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18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7" name="TextBox 6"/>
          <p:cNvSpPr txBox="1"/>
          <p:nvPr/>
        </p:nvSpPr>
        <p:spPr>
          <a:xfrm>
            <a:off x="2560320" y="777240"/>
            <a:ext cx="144475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>
                <a:solidFill>
                  <a:srgbClr val="303298"/>
                </a:solidFill>
                <a:latin typeface="Times New Roman"/>
              </a:rPr>
              <a:t>FUTURE SCOPE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103120"/>
            <a:ext cx="4846320" cy="2743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46888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303298"/>
                </a:solidFill>
                <a:latin typeface="Times New Roman"/>
              </a:rPr>
              <a:t>Runtime Analysis</a:t>
            </a:r>
          </a:p>
          <a:p>
            <a:pPr>
              <a:spcBef>
                <a:spcPts val="600"/>
              </a:spcBef>
            </a:pPr>
            <a:r>
              <a:rPr sz="1700" b="0">
                <a:solidFill>
                  <a:srgbClr val="1E293B"/>
                </a:solidFill>
                <a:latin typeface="Times New Roman"/>
              </a:rPr>
              <a:t>Monitor cryptographic operations while applications run.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2103120"/>
            <a:ext cx="4846320" cy="274320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46888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FBBF24"/>
                </a:solidFill>
                <a:latin typeface="Times New Roman"/>
              </a:rPr>
              <a:t>Automated Migration</a:t>
            </a:r>
          </a:p>
          <a:p>
            <a:pPr>
              <a:spcBef>
                <a:spcPts val="600"/>
              </a:spcBef>
            </a:pPr>
            <a:r>
              <a:rPr sz="1700" b="0">
                <a:solidFill>
                  <a:srgbClr val="FFFFFF"/>
                </a:solidFill>
                <a:latin typeface="Times New Roman"/>
              </a:rPr>
              <a:t>Explore assisted replacement of vulnerable algorithms.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978640" y="2103120"/>
            <a:ext cx="4846320" cy="2743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46888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303298"/>
                </a:solidFill>
                <a:latin typeface="Times New Roman"/>
              </a:rPr>
              <a:t>Security Verification</a:t>
            </a:r>
          </a:p>
          <a:p>
            <a:pPr>
              <a:spcBef>
                <a:spcPts val="600"/>
              </a:spcBef>
            </a:pPr>
            <a:r>
              <a:rPr sz="1700" b="0">
                <a:solidFill>
                  <a:srgbClr val="1E293B"/>
                </a:solidFill>
                <a:latin typeface="Times New Roman"/>
              </a:rPr>
              <a:t>Test migrated systems for protocol weaknesses.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5212079"/>
            <a:ext cx="4846320" cy="2743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577839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303298"/>
                </a:solidFill>
                <a:latin typeface="Times New Roman"/>
              </a:rPr>
              <a:t>CI/CD Integration</a:t>
            </a:r>
          </a:p>
          <a:p>
            <a:pPr>
              <a:spcBef>
                <a:spcPts val="600"/>
              </a:spcBef>
            </a:pPr>
            <a:r>
              <a:rPr sz="1700" b="0">
                <a:solidFill>
                  <a:srgbClr val="1E293B"/>
                </a:solidFill>
                <a:latin typeface="Times New Roman"/>
              </a:rPr>
              <a:t>Add cryptographic checks to development pipelines.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5212079"/>
            <a:ext cx="4846320" cy="274320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5577839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FBBF24"/>
                </a:solidFill>
                <a:latin typeface="Times New Roman"/>
              </a:rPr>
              <a:t>Performance Testing</a:t>
            </a:r>
          </a:p>
          <a:p>
            <a:pPr>
              <a:spcBef>
                <a:spcPts val="600"/>
              </a:spcBef>
            </a:pPr>
            <a:r>
              <a:rPr sz="1700" b="0">
                <a:solidFill>
                  <a:srgbClr val="FFFFFF"/>
                </a:solidFill>
                <a:latin typeface="Times New Roman"/>
              </a:rPr>
              <a:t>Evaluate post-quantum methods on different hardware.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978640" y="5212079"/>
            <a:ext cx="4846320" cy="2743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0" y="5577839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303298"/>
                </a:solidFill>
                <a:latin typeface="Times New Roman"/>
              </a:rPr>
              <a:t>Improved Reporting</a:t>
            </a:r>
          </a:p>
          <a:p>
            <a:pPr>
              <a:spcBef>
                <a:spcPts val="600"/>
              </a:spcBef>
            </a:pPr>
            <a:r>
              <a:rPr sz="1700" b="0">
                <a:solidFill>
                  <a:srgbClr val="1E293B"/>
                </a:solidFill>
                <a:latin typeface="Times New Roman"/>
              </a:rPr>
              <a:t>Extend CBOM and software-supply-chain audit support.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6324362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19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7" name="TextBox 6"/>
          <p:cNvSpPr txBox="1"/>
          <p:nvPr/>
        </p:nvSpPr>
        <p:spPr>
          <a:xfrm>
            <a:off x="2560320" y="777240"/>
            <a:ext cx="144475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200" b="1">
                <a:solidFill>
                  <a:srgbClr val="303298"/>
                </a:solidFill>
                <a:latin typeface="Times New Roman"/>
              </a:rPr>
              <a:t>REFERENCES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011680"/>
            <a:ext cx="7315200" cy="65836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194560"/>
            <a:ext cx="6583680" cy="621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303298"/>
                </a:solidFill>
                <a:latin typeface="Times New Roman"/>
              </a:rPr>
              <a:t>Key References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Times New Roman"/>
              </a:rPr>
              <a:t>[1] NIST, FIPS 203: ML-KEM, 2024.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Times New Roman"/>
              </a:rPr>
              <a:t>[2] NIST, FIPS 204: ML-DSA, 2024.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Times New Roman"/>
              </a:rPr>
              <a:t>[3] NIST, FIPS 205: SLH-DSA, 2024.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Times New Roman"/>
              </a:rPr>
              <a:t>[4] M. Mosca, "Cybersecurity in an era with quantum computers," IEEE Security &amp; Privacy, 2018.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Times New Roman"/>
              </a:rPr>
              <a:t>[5] P. W. Shor, "Algorithms for quantum computation," FOCS, 1994.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Times New Roman"/>
              </a:rPr>
              <a:t>[6] M. Fey and J. E. Lenssen, "Fast Graph Representation Learning with PyTorch Geometric," 2019.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Times New Roman"/>
              </a:rPr>
              <a:t>[7] S. Brody, U. Alon, and E. Yahav, "How Attentive are Graph Attention Networks?" ICLR, 2022.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Times New Roman"/>
              </a:rPr>
              <a:t>[8] OWASP Foundation, CycloneDX Specification v1.6, 2024.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2011680"/>
            <a:ext cx="7315200" cy="6583680"/>
          </a:xfrm>
          <a:prstGeom prst="roundRect">
            <a:avLst/>
          </a:prstGeom>
          <a:solidFill>
            <a:srgbClr val="1E2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0" y="2194560"/>
            <a:ext cx="6583680" cy="6217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Key References (continued)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Times New Roman"/>
              </a:rPr>
              <a:t>[9] M. Egele et al., "Cryptographic Misuse in Android Applications," ACM CCS, 2013.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Times New Roman"/>
              </a:rPr>
              <a:t>[10] S. Krüger et al., "CogniCrypt: Supporting Developers in Cryptography," IEEE ASE, 2017.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Times New Roman"/>
              </a:rPr>
              <a:t>[11] NSA, "Commercial National Security Algorithm Suite 2.0 (CNSA 2.0)," 2022.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Times New Roman"/>
              </a:rPr>
              <a:t>[12] F. Yamaguchi et al., "Modeling Vulnerabilities with Code Property Graphs," IEEE S&amp;P, 2014.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Times New Roman"/>
              </a:rPr>
              <a:t>[13] P. Schwabe, D. Stebila, and T. Wiggers, "Post-Quantum TLS," ACM CCS, 2020.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Times New Roman"/>
              </a:rPr>
              <a:t>[14] Y. Zhou et al., "Devign: Effective Vulnerability Identification via GNNs," NeurIPS, 2019.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Times New Roman"/>
              </a:rPr>
              <a:t>[15] D. Moody, "The Transition to Post-Quantum Cryptography," IEEE Security &amp; Privacy, 2023.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Times New Roman"/>
              </a:rPr>
              <a:t>[16] P. Veličković et al., "Graph Attention Networks," ICLR, 2018.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4088" y="506530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7"/>
                </a:lnTo>
                <a:lnTo>
                  <a:pt x="0" y="9491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6320790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20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481321" y="9201150"/>
            <a:ext cx="4939308" cy="3587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sz="1800" b="1">
                <a:solidFill>
                  <a:srgbClr val="303298"/>
                </a:solidFill>
                <a:latin typeface="Times New Roman"/>
              </a:rPr>
              <a:t>Department of Cyber Security | NMAMIT, Nitte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7" name="TextBox 6"/>
          <p:cNvSpPr txBox="1"/>
          <p:nvPr/>
        </p:nvSpPr>
        <p:spPr>
          <a:xfrm>
            <a:off x="1828800" y="2011680"/>
            <a:ext cx="14630400" cy="6217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400" b="1">
                <a:solidFill>
                  <a:srgbClr val="303298"/>
                </a:solidFill>
                <a:latin typeface="Times New Roman"/>
              </a:rPr>
              <a:t>THANK YOU!</a:t>
            </a:r>
          </a:p>
          <a:p>
            <a:pPr algn="ctr">
              <a:spcBef>
                <a:spcPts val="1600"/>
              </a:spcBef>
            </a:pPr>
            <a:r>
              <a:rPr sz="3000" b="1">
                <a:solidFill>
                  <a:srgbClr val="1E2B58"/>
                </a:solidFill>
                <a:latin typeface="Times New Roman"/>
              </a:rPr>
              <a:t>AGILEGRAPH</a:t>
            </a:r>
          </a:p>
          <a:p>
            <a:pPr algn="ctr">
              <a:spcBef>
                <a:spcPts val="600"/>
              </a:spcBef>
              <a:spcAft>
                <a:spcPts val="2000"/>
              </a:spcAft>
            </a:pPr>
            <a:r>
              <a:rPr sz="2000" i="1">
                <a:solidFill>
                  <a:srgbClr val="64748B"/>
                </a:solidFill>
                <a:latin typeface="Times New Roman"/>
              </a:rPr>
              <a:t>Supporting Post-Quantum Migration Through Graph-Based Risk Analysis</a:t>
            </a:r>
          </a:p>
          <a:p>
            <a:pPr algn="ctr">
              <a:spcBef>
                <a:spcPts val="1400"/>
              </a:spcBef>
            </a:pPr>
            <a:r>
              <a:rPr sz="1800" b="1">
                <a:solidFill>
                  <a:srgbClr val="1E293B"/>
                </a:solidFill>
                <a:latin typeface="Times New Roman"/>
              </a:rPr>
              <a:t>Presented by:
Spoorthi (NNM23CB058) | Sindhoora R (NNM23CB057)
Nivedita V Shetty (NNM23CB033) | Sujan S (NNM23CB062)</a:t>
            </a:r>
          </a:p>
          <a:p>
            <a:pPr algn="ctr">
              <a:spcBef>
                <a:spcPts val="1400"/>
              </a:spcBef>
            </a:pPr>
            <a:r>
              <a:rPr sz="1700" b="1">
                <a:solidFill>
                  <a:srgbClr val="303298"/>
                </a:solidFill>
                <a:latin typeface="Times New Roman"/>
              </a:rPr>
              <a:t>Project Guide: Ms. Madhushree, Assistant Professor
Dept. of Computer Science (Cyber Security)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36415" y="397866"/>
            <a:ext cx="17415170" cy="9491267"/>
          </a:xfrm>
          <a:custGeom>
            <a:avLst/>
            <a:gdLst/>
            <a:ahLst/>
            <a:cxnLst/>
            <a:rect r="r" b="b" t="t" l="l"/>
            <a:pathLst>
              <a:path h="9491267" w="17415170">
                <a:moveTo>
                  <a:pt x="0" y="0"/>
                </a:moveTo>
                <a:lnTo>
                  <a:pt x="17415170" y="0"/>
                </a:lnTo>
                <a:lnTo>
                  <a:pt x="17415170" y="9491268"/>
                </a:lnTo>
                <a:lnTo>
                  <a:pt x="0" y="94912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5899306" y="9201150"/>
            <a:ext cx="152400" cy="2095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0329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Page 21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306963" y="9201151"/>
            <a:ext cx="4939308" cy="3587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sz="1800" b="1">
                <a:solidFill>
                  <a:srgbClr val="303298"/>
                </a:solidFill>
                <a:latin typeface="Times New Roman"/>
              </a:rPr>
              <a:t>Department of Cyber Security | NMAMIT, Nitte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028700" y="848377"/>
            <a:ext cx="1431244" cy="1509311"/>
          </a:xfrm>
          <a:custGeom>
            <a:avLst/>
            <a:gdLst/>
            <a:ahLst/>
            <a:cxnLst/>
            <a:rect r="r" b="b" t="t" l="l"/>
            <a:pathLst>
              <a:path h="1509311" w="1431244">
                <a:moveTo>
                  <a:pt x="0" y="0"/>
                </a:moveTo>
                <a:lnTo>
                  <a:pt x="1431244" y="0"/>
                </a:lnTo>
                <a:lnTo>
                  <a:pt x="1431244" y="1509311"/>
                </a:lnTo>
                <a:lnTo>
                  <a:pt x="0" y="15093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8" name="TextBox 7"/>
          <p:cNvSpPr txBox="1"/>
          <p:nvPr/>
        </p:nvSpPr>
        <p:spPr>
          <a:xfrm>
            <a:off x="1828800" y="2377440"/>
            <a:ext cx="14630400" cy="5303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200" b="1">
                <a:solidFill>
                  <a:srgbClr val="303298"/>
                </a:solidFill>
                <a:latin typeface="Times New Roman"/>
              </a:rPr>
              <a:t>Q &amp; A</a:t>
            </a:r>
          </a:p>
          <a:p>
            <a:pPr algn="ctr">
              <a:spcBef>
                <a:spcPts val="1600"/>
              </a:spcBef>
              <a:spcAft>
                <a:spcPts val="2000"/>
              </a:spcAft>
            </a:pPr>
            <a:r>
              <a:rPr sz="2400" b="1">
                <a:solidFill>
                  <a:srgbClr val="1E2B58"/>
                </a:solidFill>
                <a:latin typeface="Times New Roman"/>
              </a:rPr>
              <a:t>Questions, Technical Discussion &amp; Evaluation</a:t>
            </a:r>
          </a:p>
          <a:p>
            <a:pPr algn="ctr">
              <a:spcBef>
                <a:spcPts val="1000"/>
              </a:spcBef>
            </a:pPr>
            <a:r>
              <a:rPr sz="2200" b="1">
                <a:solidFill>
                  <a:srgbClr val="D97706"/>
                </a:solidFill>
                <a:latin typeface="Times New Roman"/>
              </a:rPr>
              <a:t>AGILEGRAPH</a:t>
            </a:r>
          </a:p>
          <a:p>
            <a:pPr algn="ctr">
              <a:spcBef>
                <a:spcPts val="800"/>
              </a:spcBef>
            </a:pPr>
            <a:r>
              <a:rPr sz="1800">
                <a:solidFill>
                  <a:srgbClr val="64748B"/>
                </a:solidFill>
                <a:latin typeface="Times New Roman"/>
              </a:rPr>
              <a:t>Department of Cyber Security | NMAMIT, Nitte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DAHXzWo3tDE</dc:identifier>
  <dcterms:modified xsi:type="dcterms:W3CDTF">2011-08-01T06:04:30Z</dcterms:modified>
  <cp:revision>1</cp:revision>
  <dc:title>major project phase-2</dc:title>
</cp:coreProperties>
</file>