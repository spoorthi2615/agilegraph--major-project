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5.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Times New Roman" charset="1" panose="02020603050405020304"/>
      <p:regular r:id="rId27"/>
    </p:embeddedFont>
    <p:embeddedFont>
      <p:font typeface="Times New Roman Bold" charset="1" panose="02020803070505020304"/>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font" Target="fonts/font27.fntdata"/><Relationship Id="rId28" Type="http://schemas.openxmlformats.org/officeDocument/2006/relationships/font" Target="fonts/font2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4.png"/><Relationship Id="rId5" Type="http://schemas.openxmlformats.org/officeDocument/2006/relationships/image" Target="../media/image5.svg"/><Relationship Id="rId6"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6.png"/><Relationship Id="rId5"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6.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6.png"/><Relationship Id="rId5"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6.png"/><Relationship Id="rId5"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6.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24088" y="506530"/>
            <a:ext cx="17415170" cy="9491267"/>
          </a:xfrm>
          <a:custGeom>
            <a:avLst/>
            <a:gdLst/>
            <a:ahLst/>
            <a:cxnLst/>
            <a:rect r="r" b="b" t="t" l="l"/>
            <a:pathLst>
              <a:path h="9491267" w="17415170">
                <a:moveTo>
                  <a:pt x="0" y="0"/>
                </a:moveTo>
                <a:lnTo>
                  <a:pt x="17415170" y="0"/>
                </a:lnTo>
                <a:lnTo>
                  <a:pt x="17415170" y="9491267"/>
                </a:lnTo>
                <a:lnTo>
                  <a:pt x="0" y="9491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16473587" y="920115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303298"/>
                </a:solidFill>
                <a:latin typeface="Times New Roman"/>
                <a:ea typeface="Times New Roman"/>
                <a:cs typeface="Times New Roman"/>
                <a:sym typeface="Times New Roman"/>
              </a:rPr>
              <a:t>Page 1</a:t>
            </a:r>
          </a:p>
        </p:txBody>
      </p:sp>
      <p:sp>
        <p:nvSpPr>
          <p:cNvPr name="TextBox 4" id="4"/>
          <p:cNvSpPr txBox="true"/>
          <p:nvPr/>
        </p:nvSpPr>
        <p:spPr>
          <a:xfrm rot="0">
            <a:off x="1237930" y="9172575"/>
            <a:ext cx="14771110" cy="599440"/>
          </a:xfrm>
          <a:prstGeom prst="rect">
            <a:avLst/>
          </a:prstGeom>
        </p:spPr>
        <p:txBody>
          <a:bodyPr anchor="t" rtlCol="false" tIns="0" lIns="0" bIns="0" rIns="0">
            <a:spAutoFit/>
          </a:bodyPr>
          <a:lstStyle/>
          <a:p>
            <a:pPr algn="ctr">
              <a:lnSpc>
                <a:spcPts val="4759"/>
              </a:lnSpc>
            </a:pPr>
            <a:r>
              <a:rPr sz="1400" b="1" i="0">
                <a:solidFill>
                  <a:srgbClr val="303298"/>
                </a:solidFill>
                <a:latin typeface="Times New Roman"/>
              </a:rPr>
              <a:t>Department of Cyber Security | NMAMIT, Nitte</a:t>
            </a:r>
          </a:p>
        </p:txBody>
      </p:sp>
      <p:sp>
        <p:nvSpPr>
          <p:cNvPr name="Freeform 5" id="5"/>
          <p:cNvSpPr/>
          <p:nvPr/>
        </p:nvSpPr>
        <p:spPr>
          <a:xfrm flipH="false" flipV="false" rot="0">
            <a:off x="1028700" y="772699"/>
            <a:ext cx="16226433" cy="2078627"/>
          </a:xfrm>
          <a:custGeom>
            <a:avLst/>
            <a:gdLst/>
            <a:ahLst/>
            <a:cxnLst/>
            <a:rect r="r" b="b" t="t" l="l"/>
            <a:pathLst>
              <a:path h="2078627" w="16226433">
                <a:moveTo>
                  <a:pt x="0" y="0"/>
                </a:moveTo>
                <a:lnTo>
                  <a:pt x="16226433" y="0"/>
                </a:lnTo>
                <a:lnTo>
                  <a:pt x="16226433" y="2078627"/>
                </a:lnTo>
                <a:lnTo>
                  <a:pt x="0" y="2078627"/>
                </a:lnTo>
                <a:lnTo>
                  <a:pt x="0" y="0"/>
                </a:lnTo>
                <a:close/>
              </a:path>
            </a:pathLst>
          </a:custGeom>
          <a:blipFill>
            <a:blip r:embed="rId4"/>
            <a:stretch>
              <a:fillRect l="0" t="-7738" r="0" b="-467"/>
            </a:stretch>
          </a:blipFill>
        </p:spPr>
      </p:sp>
      <p:sp>
        <p:nvSpPr>
          <p:cNvPr name="TextBox 6" id="6"/>
          <p:cNvSpPr txBox="true"/>
          <p:nvPr/>
        </p:nvSpPr>
        <p:spPr>
          <a:xfrm rot="0">
            <a:off x="5159004" y="3028648"/>
            <a:ext cx="7945338" cy="1222375"/>
          </a:xfrm>
          <a:prstGeom prst="rect">
            <a:avLst/>
          </a:prstGeom>
        </p:spPr>
        <p:txBody>
          <a:bodyPr anchor="t" rtlCol="false" tIns="0" lIns="0" bIns="0" rIns="0" wrap="square">
            <a:spAutoFit/>
          </a:bodyPr>
          <a:lstStyle/>
          <a:p>
            <a:pPr algn="ctr">
              <a:lnSpc>
                <a:spcPts val="9799"/>
              </a:lnSpc>
            </a:pPr>
            <a:r>
              <a:rPr sz="2600" b="1" i="0">
                <a:solidFill>
                  <a:srgbClr val="303298"/>
                </a:solidFill>
                <a:latin typeface="Times New Roman"/>
              </a:rPr>
              <a:t>AGILEGRAPH: GRAPH REPRESENTATION LEARNING AND CRYPTOGRAPHIC AGILITY PRIORITIZATION FOR POST-QUANTUM MIGRATION IN ENTERPRISE SOFTWARE ARCHITECTURES</a:t>
            </a:r>
          </a:p>
          <a:p>
            <a:pPr algn="ctr">
              <a:spcBef>
                <a:spcPts val="600"/>
              </a:spcBef>
            </a:pPr>
          </a:p>
          <a:p>
            <a:pPr algn="ctr">
              <a:spcBef>
                <a:spcPts val="400"/>
              </a:spcBef>
            </a:pPr>
          </a:p>
        </p:txBody>
      </p:sp>
      <p:sp>
        <p:nvSpPr>
          <p:cNvPr name="TextBox 7" id="7"/>
          <p:cNvSpPr txBox="true"/>
          <p:nvPr/>
        </p:nvSpPr>
        <p:spPr>
          <a:xfrm rot="0">
            <a:off x="7015337" y="5657938"/>
            <a:ext cx="4232672" cy="698500"/>
          </a:xfrm>
          <a:prstGeom prst="rect">
            <a:avLst/>
          </a:prstGeom>
        </p:spPr>
        <p:txBody>
          <a:bodyPr anchor="t" rtlCol="false" tIns="0" lIns="0" bIns="0" rIns="0">
            <a:spAutoFit/>
          </a:bodyPr>
          <a:lstStyle/>
          <a:p>
            <a:pPr algn="ctr">
              <a:lnSpc>
                <a:spcPts val="5599"/>
              </a:lnSpc>
            </a:pPr>
            <a:r>
              <a:rPr sz="1800" b="1" i="0">
                <a:solidFill>
                  <a:srgbClr val="303298"/>
                </a:solidFill>
                <a:latin typeface="Times New Roman"/>
              </a:rPr>
              <a:t>PHASE 2 (2026-27)</a:t>
            </a:r>
          </a:p>
        </p:txBody>
      </p:sp>
      <p:sp>
        <p:nvSpPr>
          <p:cNvPr name="TextBox 8" id="8"/>
          <p:cNvSpPr txBox="true"/>
          <p:nvPr/>
        </p:nvSpPr>
        <p:spPr>
          <a:xfrm rot="0">
            <a:off x="1237930" y="8658860"/>
            <a:ext cx="7030918" cy="599440"/>
          </a:xfrm>
          <a:prstGeom prst="rect">
            <a:avLst/>
          </a:prstGeom>
        </p:spPr>
        <p:txBody>
          <a:bodyPr anchor="t" rtlCol="false" tIns="0" lIns="0" bIns="0" rIns="0">
            <a:spAutoFit/>
          </a:bodyPr>
          <a:lstStyle/>
          <a:p>
            <a:pPr algn="l">
              <a:lnSpc>
                <a:spcPts val="4759"/>
              </a:lnSpc>
            </a:pPr>
            <a:r>
              <a:rPr sz="1400" b="1" i="0">
                <a:solidFill>
                  <a:srgbClr val="1E293B"/>
                </a:solidFill>
                <a:latin typeface="Times New Roman"/>
              </a:rPr>
              <a:t>Guide Name: Dr. [Faculty Guide Name] / Research Guide
Department of Computer Science &amp; Engineering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24088" y="506530"/>
            <a:ext cx="17415170" cy="9491267"/>
          </a:xfrm>
          <a:custGeom>
            <a:avLst/>
            <a:gdLst/>
            <a:ahLst/>
            <a:cxnLst/>
            <a:rect r="r" b="b" t="t" l="l"/>
            <a:pathLst>
              <a:path h="9491267" w="17415170">
                <a:moveTo>
                  <a:pt x="0" y="0"/>
                </a:moveTo>
                <a:lnTo>
                  <a:pt x="17415170" y="0"/>
                </a:lnTo>
                <a:lnTo>
                  <a:pt x="17415170" y="9491267"/>
                </a:lnTo>
                <a:lnTo>
                  <a:pt x="0" y="9491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2095333" y="1932114"/>
            <a:ext cx="14771110" cy="6986016"/>
          </a:xfrm>
          <a:prstGeom prst="rect">
            <a:avLst/>
          </a:prstGeom>
        </p:spPr>
        <p:txBody>
          <a:bodyPr anchor="t" rtlCol="false" tIns="0" lIns="0" bIns="0" rIns="0" wrap="square">
            <a:spAutoFit/>
          </a:bodyPr>
          <a:lstStyle/>
          <a:p>
            <a:pPr algn="l">
              <a:lnSpc>
                <a:spcPts val="6221"/>
              </a:lnSpc>
            </a:pPr>
          </a:p>
          <a:p>
            <a:pPr algn="ctr">
              <a:lnSpc>
                <a:spcPts val="6221"/>
              </a:lnSpc>
            </a:pPr>
          </a:p>
          <a:p>
            <a:pPr algn="ctr">
              <a:lnSpc>
                <a:spcPts val="6221"/>
              </a:lnSpc>
            </a:pPr>
          </a:p>
          <a:p>
            <a:pPr algn="ctr">
              <a:lnSpc>
                <a:spcPts val="6221"/>
              </a:lnSpc>
            </a:pPr>
          </a:p>
          <a:p>
            <a:pPr algn="ctr">
              <a:lnSpc>
                <a:spcPts val="6221"/>
              </a:lnSpc>
            </a:pPr>
          </a:p>
          <a:p>
            <a:pPr algn="ctr">
              <a:lnSpc>
                <a:spcPts val="6221"/>
              </a:lnSpc>
            </a:pPr>
          </a:p>
          <a:p>
            <a:pPr algn="ctr">
              <a:lnSpc>
                <a:spcPts val="6221"/>
              </a:lnSpc>
            </a:pPr>
          </a:p>
          <a:p>
            <a:pPr algn="ctr">
              <a:lnSpc>
                <a:spcPts val="6221"/>
              </a:lnSpc>
            </a:pPr>
          </a:p>
          <a:p>
            <a:pPr algn="ctr">
              <a:lnSpc>
                <a:spcPts val="6221"/>
              </a:lnSpc>
            </a:pPr>
          </a:p>
          <a:p>
            <a:pPr>
              <a:spcBef>
                <a:spcPts val="200"/>
              </a:spcBef>
              <a:spcAft>
                <a:spcPts val="800"/>
              </a:spcAft>
            </a:pPr>
            <a:r>
              <a:rPr sz="1600" b="1" i="0">
                <a:solidFill>
                  <a:srgbClr val="303298"/>
                </a:solidFill>
                <a:latin typeface="Times New Roman"/>
              </a:rPr>
              <a:t>1. Team Introduction: </a:t>
            </a:r>
            <a:r>
              <a:rPr sz="1600" b="0" i="0">
                <a:solidFill>
                  <a:srgbClr val="1E293B"/>
                </a:solidFill>
                <a:latin typeface="Times New Roman"/>
              </a:rPr>
              <a:t>Project candidates, faculty guide, and institutional credentials.</a:t>
            </a:r>
          </a:p>
          <a:p>
            <a:pPr>
              <a:spcBef>
                <a:spcPts val="200"/>
              </a:spcBef>
              <a:spcAft>
                <a:spcPts val="800"/>
              </a:spcAft>
            </a:pPr>
            <a:r>
              <a:rPr sz="1600" b="1" i="0">
                <a:solidFill>
                  <a:srgbClr val="303298"/>
                </a:solidFill>
                <a:latin typeface="Times New Roman"/>
              </a:rPr>
              <a:t>2. Project Title: </a:t>
            </a:r>
            <a:r>
              <a:rPr sz="1600" b="0" i="0">
                <a:solidFill>
                  <a:srgbClr val="1E293B"/>
                </a:solidFill>
                <a:latin typeface="Times New Roman"/>
              </a:rPr>
              <a:t>AgileGraph - Graph Representation Learning &amp; Cryptographic Agility Prioritization.</a:t>
            </a:r>
          </a:p>
          <a:p>
            <a:pPr>
              <a:spcBef>
                <a:spcPts val="200"/>
              </a:spcBef>
              <a:spcAft>
                <a:spcPts val="800"/>
              </a:spcAft>
            </a:pPr>
            <a:r>
              <a:rPr sz="1600" b="1" i="0">
                <a:solidFill>
                  <a:srgbClr val="303298"/>
                </a:solidFill>
                <a:latin typeface="Times New Roman"/>
              </a:rPr>
              <a:t>3. Brief Introduction: </a:t>
            </a:r>
            <a:r>
              <a:rPr sz="1600" b="0" i="0">
                <a:solidFill>
                  <a:srgbClr val="1E293B"/>
                </a:solidFill>
                <a:latin typeface="Times New Roman"/>
              </a:rPr>
              <a:t>Post-Quantum Cryptography (PQC) imperative, Shor's algorithm, and HNDL threat vector.</a:t>
            </a:r>
          </a:p>
          <a:p>
            <a:pPr>
              <a:spcBef>
                <a:spcPts val="200"/>
              </a:spcBef>
              <a:spcAft>
                <a:spcPts val="800"/>
              </a:spcAft>
            </a:pPr>
            <a:r>
              <a:rPr sz="1600" b="1" i="0">
                <a:solidFill>
                  <a:srgbClr val="303298"/>
                </a:solidFill>
                <a:latin typeface="Times New Roman"/>
              </a:rPr>
              <a:t>4. Objectives: </a:t>
            </a:r>
            <a:r>
              <a:rPr sz="1600" b="0" i="0">
                <a:solidFill>
                  <a:srgbClr val="1E293B"/>
                </a:solidFill>
                <a:latin typeface="Times New Roman"/>
              </a:rPr>
              <a:t>5 core academic and technical objectives for Phase 2 implementation.</a:t>
            </a:r>
          </a:p>
          <a:p>
            <a:pPr>
              <a:spcBef>
                <a:spcPts val="200"/>
              </a:spcBef>
              <a:spcAft>
                <a:spcPts val="800"/>
              </a:spcAft>
            </a:pPr>
            <a:r>
              <a:rPr sz="1600" b="1" i="0">
                <a:solidFill>
                  <a:srgbClr val="303298"/>
                </a:solidFill>
                <a:latin typeface="Times New Roman"/>
              </a:rPr>
              <a:t>5. Research Gap: </a:t>
            </a:r>
            <a:r>
              <a:rPr sz="1600" b="0" i="0">
                <a:solidFill>
                  <a:srgbClr val="1E293B"/>
                </a:solidFill>
                <a:latin typeface="Times New Roman"/>
              </a:rPr>
              <a:t>Critical limitations of flat SBOM/CBOM inventories and non-relational static analysis.</a:t>
            </a:r>
          </a:p>
          <a:p>
            <a:pPr>
              <a:spcBef>
                <a:spcPts val="200"/>
              </a:spcBef>
              <a:spcAft>
                <a:spcPts val="800"/>
              </a:spcAft>
            </a:pPr>
            <a:r>
              <a:rPr sz="1600" b="1" i="0">
                <a:solidFill>
                  <a:srgbClr val="303298"/>
                </a:solidFill>
                <a:latin typeface="Times New Roman"/>
              </a:rPr>
              <a:t>6. Review of Phase 1 Presentation: </a:t>
            </a:r>
            <a:r>
              <a:rPr sz="1600" b="0" i="0">
                <a:solidFill>
                  <a:srgbClr val="1E293B"/>
                </a:solidFill>
                <a:latin typeface="Times New Roman"/>
              </a:rPr>
              <a:t>Summary of Phase 1 baselines, evaluator feedback, and Phase 2 progress.</a:t>
            </a:r>
          </a:p>
          <a:p>
            <a:pPr>
              <a:spcBef>
                <a:spcPts val="200"/>
              </a:spcBef>
              <a:spcAft>
                <a:spcPts val="800"/>
              </a:spcAft>
            </a:pPr>
            <a:r>
              <a:rPr sz="1600" b="1" i="0">
                <a:solidFill>
                  <a:srgbClr val="303298"/>
                </a:solidFill>
                <a:latin typeface="Times New Roman"/>
              </a:rPr>
              <a:t>7. Project Implementation: </a:t>
            </a:r>
            <a:r>
              <a:rPr sz="1600" b="0" i="0">
                <a:solidFill>
                  <a:srgbClr val="1E293B"/>
                </a:solidFill>
                <a:latin typeface="Times New Roman"/>
              </a:rPr>
              <a:t>Polyglot AST discovery, 6-node property graph, 7-factor risk model, GATv2 neural distillation.</a:t>
            </a:r>
          </a:p>
          <a:p>
            <a:pPr>
              <a:spcBef>
                <a:spcPts val="200"/>
              </a:spcBef>
              <a:spcAft>
                <a:spcPts val="800"/>
              </a:spcAft>
            </a:pPr>
            <a:r>
              <a:rPr sz="1600" b="1" i="0">
                <a:solidFill>
                  <a:srgbClr val="303298"/>
                </a:solidFill>
                <a:latin typeface="Times New Roman"/>
              </a:rPr>
              <a:t>8. Results and Performance: </a:t>
            </a:r>
            <a:r>
              <a:rPr sz="1600" b="0" i="0">
                <a:solidFill>
                  <a:srgbClr val="1E293B"/>
                </a:solidFill>
                <a:latin typeface="Times New Roman"/>
              </a:rPr>
              <a:t>LOPO benchmark evaluation across 8 enterprise repos, topological controls, and CBOM audit export.</a:t>
            </a:r>
          </a:p>
        </p:txBody>
      </p:sp>
      <p:sp>
        <p:nvSpPr>
          <p:cNvPr name="Freeform 4" id="4"/>
          <p:cNvSpPr/>
          <p:nvPr/>
        </p:nvSpPr>
        <p:spPr>
          <a:xfrm flipH="false" flipV="false" rot="0">
            <a:off x="4968609" y="3482023"/>
            <a:ext cx="411480" cy="4114800"/>
          </a:xfrm>
          <a:custGeom>
            <a:avLst/>
            <a:gdLst/>
            <a:ahLst/>
            <a:cxnLst/>
            <a:rect r="r" b="b" t="t" l="l"/>
            <a:pathLst>
              <a:path h="4114800" w="411480">
                <a:moveTo>
                  <a:pt x="0" y="0"/>
                </a:moveTo>
                <a:lnTo>
                  <a:pt x="411480" y="0"/>
                </a:lnTo>
                <a:lnTo>
                  <a:pt x="41148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28700" y="848377"/>
            <a:ext cx="1431244" cy="1509311"/>
          </a:xfrm>
          <a:custGeom>
            <a:avLst/>
            <a:gdLst/>
            <a:ahLst/>
            <a:cxnLst/>
            <a:rect r="r" b="b" t="t" l="l"/>
            <a:pathLst>
              <a:path h="1509311" w="1431244">
                <a:moveTo>
                  <a:pt x="0" y="0"/>
                </a:moveTo>
                <a:lnTo>
                  <a:pt x="1431244" y="0"/>
                </a:lnTo>
                <a:lnTo>
                  <a:pt x="1431244" y="1509311"/>
                </a:lnTo>
                <a:lnTo>
                  <a:pt x="0" y="1509311"/>
                </a:lnTo>
                <a:lnTo>
                  <a:pt x="0" y="0"/>
                </a:lnTo>
                <a:close/>
              </a:path>
            </a:pathLst>
          </a:custGeom>
          <a:blipFill>
            <a:blip r:embed="rId6"/>
            <a:stretch>
              <a:fillRect l="0" t="0" r="0" b="0"/>
            </a:stretch>
          </a:blipFill>
        </p:spPr>
      </p:sp>
      <p:sp>
        <p:nvSpPr>
          <p:cNvPr name="TextBox 6" id="6"/>
          <p:cNvSpPr txBox="true"/>
          <p:nvPr/>
        </p:nvSpPr>
        <p:spPr>
          <a:xfrm rot="0">
            <a:off x="2711648" y="876300"/>
            <a:ext cx="12726804" cy="1139826"/>
          </a:xfrm>
          <a:prstGeom prst="rect">
            <a:avLst/>
          </a:prstGeom>
        </p:spPr>
        <p:txBody>
          <a:bodyPr anchor="t" rtlCol="false" tIns="0" lIns="0" bIns="0" rIns="0">
            <a:spAutoFit/>
          </a:bodyPr>
          <a:lstStyle/>
          <a:p>
            <a:pPr algn="ctr">
              <a:lnSpc>
                <a:spcPts val="9099"/>
              </a:lnSpc>
            </a:pPr>
            <a:r>
              <a:rPr sz="3200" b="1">
                <a:solidFill>
                  <a:srgbClr val="303298"/>
                </a:solidFill>
                <a:latin typeface="Times New Roman"/>
              </a:rPr>
              <a:t>PRESENTATION OUTLINE</a:t>
            </a:r>
          </a:p>
        </p:txBody>
      </p:sp>
      <p:sp>
        <p:nvSpPr>
          <p:cNvPr name="TextBox 7" id="7"/>
          <p:cNvSpPr txBox="true"/>
          <p:nvPr/>
        </p:nvSpPr>
        <p:spPr>
          <a:xfrm rot="0">
            <a:off x="16473587" y="920115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303298"/>
                </a:solidFill>
                <a:latin typeface="Times New Roman"/>
                <a:ea typeface="Times New Roman"/>
                <a:cs typeface="Times New Roman"/>
                <a:sym typeface="Times New Roman"/>
              </a:rPr>
              <a:t>Page 2</a:t>
            </a:r>
          </a:p>
        </p:txBody>
      </p:sp>
      <p:sp>
        <p:nvSpPr>
          <p:cNvPr name="TextBox 8" id="8"/>
          <p:cNvSpPr txBox="true"/>
          <p:nvPr/>
        </p:nvSpPr>
        <p:spPr>
          <a:xfrm rot="0">
            <a:off x="3360720" y="5057775"/>
            <a:ext cx="1462385" cy="599440"/>
          </a:xfrm>
          <a:prstGeom prst="rect">
            <a:avLst/>
          </a:prstGeom>
        </p:spPr>
        <p:txBody>
          <a:bodyPr anchor="t" rtlCol="false" tIns="0" lIns="0" bIns="0" rIns="0">
            <a:spAutoFit/>
          </a:bodyPr>
          <a:lstStyle/>
          <a:p>
            <a:pPr algn="ctr">
              <a:lnSpc>
                <a:spcPts val="475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24088" y="506530"/>
            <a:ext cx="17554438" cy="9567169"/>
          </a:xfrm>
          <a:custGeom>
            <a:avLst/>
            <a:gdLst/>
            <a:ahLst/>
            <a:cxnLst/>
            <a:rect r="r" b="b" t="t" l="l"/>
            <a:pathLst>
              <a:path h="9567169" w="17554438">
                <a:moveTo>
                  <a:pt x="0" y="0"/>
                </a:moveTo>
                <a:lnTo>
                  <a:pt x="17554438" y="0"/>
                </a:lnTo>
                <a:lnTo>
                  <a:pt x="17554438" y="9567169"/>
                </a:lnTo>
                <a:lnTo>
                  <a:pt x="0" y="95671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w="38100" cap="sq">
            <a:solidFill>
              <a:srgbClr val="000000"/>
            </a:solidFill>
            <a:prstDash val="solid"/>
            <a:miter/>
          </a:ln>
        </p:spPr>
      </p:sp>
      <p:sp>
        <p:nvSpPr>
          <p:cNvPr name="TextBox 3" id="3"/>
          <p:cNvSpPr txBox="true"/>
          <p:nvPr/>
        </p:nvSpPr>
        <p:spPr>
          <a:xfrm rot="0">
            <a:off x="2595182" y="947395"/>
            <a:ext cx="13097636" cy="1149350"/>
          </a:xfrm>
          <a:prstGeom prst="rect">
            <a:avLst/>
          </a:prstGeom>
        </p:spPr>
        <p:txBody>
          <a:bodyPr anchor="t" rtlCol="false" tIns="0" lIns="0" bIns="0" rIns="0" wrap="square">
            <a:spAutoFit/>
          </a:bodyPr>
          <a:lstStyle/>
          <a:p>
            <a:pPr algn="l">
              <a:lnSpc>
                <a:spcPts val="9100"/>
              </a:lnSpc>
            </a:pPr>
            <a:r>
              <a:rPr sz="3200" b="1" i="0">
                <a:solidFill>
                  <a:srgbClr val="303298"/>
                </a:solidFill>
                <a:latin typeface="Times New Roman"/>
              </a:rPr>
              <a:t>INTRODUCTION</a:t>
            </a:r>
          </a:p>
        </p:txBody>
      </p:sp>
      <p:sp>
        <p:nvSpPr>
          <p:cNvPr name="TextBox 4" id="4"/>
          <p:cNvSpPr txBox="true"/>
          <p:nvPr/>
        </p:nvSpPr>
        <p:spPr>
          <a:xfrm rot="0">
            <a:off x="6719449" y="2011680"/>
            <a:ext cx="13258800" cy="6400800"/>
          </a:xfrm>
          <a:prstGeom prst="rect">
            <a:avLst/>
          </a:prstGeom>
        </p:spPr>
        <p:txBody>
          <a:bodyPr anchor="t" rtlCol="false" tIns="0" lIns="0" bIns="0" rIns="0" wrap="square">
            <a:spAutoFit/>
          </a:bodyPr>
          <a:lstStyle/>
          <a:p>
            <a:pPr algn="ctr">
              <a:lnSpc>
                <a:spcPts val="4759"/>
              </a:lnSpc>
            </a:pPr>
          </a:p>
          <a:p>
            <a:pPr algn="ctr">
              <a:lnSpc>
                <a:spcPts val="4759"/>
              </a:lnSpc>
            </a:pPr>
          </a:p>
          <a:p>
            <a:pPr algn="ctr">
              <a:lnSpc>
                <a:spcPts val="4759"/>
              </a:lnSpc>
            </a:pPr>
          </a:p>
          <a:p>
            <a:pPr>
              <a:spcBef>
                <a:spcPts val="200"/>
              </a:spcBef>
              <a:spcAft>
                <a:spcPts val="200"/>
              </a:spcAft>
            </a:pPr>
            <a:r>
              <a:rPr sz="1800" b="1" i="0">
                <a:solidFill>
                  <a:srgbClr val="303298"/>
                </a:solidFill>
                <a:latin typeface="Times New Roman"/>
              </a:rPr>
              <a:t>Background of the Project:
</a:t>
            </a:r>
          </a:p>
          <a:p>
            <a:pPr lvl="1">
              <a:spcBef>
                <a:spcPts val="200"/>
              </a:spcBef>
              <a:spcAft>
                <a:spcPts val="400"/>
              </a:spcAft>
            </a:pPr>
            <a:r>
              <a:rPr sz="1500" b="1" i="0">
                <a:solidFill>
                  <a:srgbClr val="303298"/>
                </a:solidFill>
                <a:latin typeface="Times New Roman"/>
              </a:rPr>
              <a:t>• Quantum Computing Inflection: </a:t>
            </a:r>
            <a:r>
              <a:rPr sz="1500" b="0" i="0">
                <a:solidFill>
                  <a:srgbClr val="1E293B"/>
                </a:solidFill>
                <a:latin typeface="Times New Roman"/>
              </a:rPr>
              <a:t>Shor's algorithm solves prime factorization and discrete logarithms in polynomial time O((log N)^3), completely breaking ubiquitous classical asymmetric cryptography—including RSA, ECC (ECDSA, ECDH), and Diffie-Hellman.</a:t>
            </a:r>
          </a:p>
          <a:p>
            <a:pPr lvl="1">
              <a:spcBef>
                <a:spcPts val="200"/>
              </a:spcBef>
              <a:spcAft>
                <a:spcPts val="800"/>
              </a:spcAft>
            </a:pPr>
            <a:r>
              <a:rPr sz="1500" b="1" i="0">
                <a:solidFill>
                  <a:srgbClr val="303298"/>
                </a:solidFill>
                <a:latin typeface="Times New Roman"/>
              </a:rPr>
              <a:t>• Symmetric Impact: </a:t>
            </a:r>
            <a:r>
              <a:rPr sz="1500" b="0" i="0">
                <a:solidFill>
                  <a:srgbClr val="1E293B"/>
                </a:solidFill>
                <a:latin typeface="Times New Roman"/>
              </a:rPr>
              <a:t>Grover's algorithm provides a quadratic speedup for unstructured search, reducing effective key strength by half (AES-128 offers 64-bit quantum security).</a:t>
            </a:r>
          </a:p>
          <a:p>
            <a:pPr>
              <a:spcBef>
                <a:spcPts val="200"/>
              </a:spcBef>
              <a:spcAft>
                <a:spcPts val="200"/>
              </a:spcAft>
            </a:pPr>
            <a:r>
              <a:rPr sz="1800" b="1" i="0">
                <a:solidFill>
                  <a:srgbClr val="303298"/>
                </a:solidFill>
                <a:latin typeface="Times New Roman"/>
              </a:rPr>
              <a:t>The 'Harvest-Now-Decrypt-Later' (HNDL) Threat Vector:
</a:t>
            </a:r>
          </a:p>
          <a:p>
            <a:pPr lvl="1">
              <a:spcBef>
                <a:spcPts val="200"/>
              </a:spcBef>
              <a:spcAft>
                <a:spcPts val="400"/>
              </a:spcAft>
            </a:pPr>
            <a:r>
              <a:rPr sz="1500" b="1" i="0">
                <a:solidFill>
                  <a:srgbClr val="303298"/>
                </a:solidFill>
                <a:latin typeface="Times New Roman"/>
              </a:rPr>
              <a:t>• Adversarial Harvesting: </a:t>
            </a:r>
            <a:r>
              <a:rPr sz="1500" b="0" i="0">
                <a:solidFill>
                  <a:srgbClr val="1E293B"/>
                </a:solidFill>
                <a:latin typeface="Times New Roman"/>
              </a:rPr>
              <a:t>Nation-state adversaries and threat actors are intercepting and archiving encrypted enterprise traffic and sensitive records today, awaiting Cryptanalytically Relevant Quantum Computers (CRQCs) for retrospective exfiltration.</a:t>
            </a:r>
          </a:p>
          <a:p>
            <a:pPr lvl="1">
              <a:spcBef>
                <a:spcPts val="200"/>
              </a:spcBef>
              <a:spcAft>
                <a:spcPts val="800"/>
              </a:spcAft>
            </a:pPr>
            <a:r>
              <a:rPr sz="1500" b="1" i="0">
                <a:solidFill>
                  <a:srgbClr val="303298"/>
                </a:solidFill>
                <a:latin typeface="Times New Roman"/>
              </a:rPr>
              <a:t>• Shelf-Life Violation: </a:t>
            </a:r>
            <a:r>
              <a:rPr sz="1500" b="0" i="0">
                <a:solidFill>
                  <a:srgbClr val="1E293B"/>
                </a:solidFill>
                <a:latin typeface="Times New Roman"/>
              </a:rPr>
              <a:t>Whenever data confidentiality shelf-life (S_life, 10-30 years) exceeds the quantum arrival timeline (T_quantum), encrypted assets are already compromised at transmission.</a:t>
            </a:r>
          </a:p>
          <a:p>
            <a:pPr>
              <a:spcBef>
                <a:spcPts val="200"/>
              </a:spcBef>
              <a:spcAft>
                <a:spcPts val="200"/>
              </a:spcAft>
            </a:pPr>
            <a:r>
              <a:rPr sz="1800" b="1" i="0">
                <a:solidFill>
                  <a:srgbClr val="303298"/>
                </a:solidFill>
                <a:latin typeface="Times New Roman"/>
              </a:rPr>
              <a:t>Why the Project is Important:
</a:t>
            </a:r>
          </a:p>
          <a:p>
            <a:pPr lvl="1">
              <a:spcBef>
                <a:spcPts val="200"/>
              </a:spcBef>
              <a:spcAft>
                <a:spcPts val="400"/>
              </a:spcAft>
            </a:pPr>
            <a:r>
              <a:rPr sz="1500" b="1" i="0">
                <a:solidFill>
                  <a:srgbClr val="303298"/>
                </a:solidFill>
                <a:latin typeface="Times New Roman"/>
              </a:rPr>
              <a:t>• Standardization Mandate: </a:t>
            </a:r>
            <a:r>
              <a:rPr sz="1500" b="0" i="0">
                <a:solidFill>
                  <a:srgbClr val="1E293B"/>
                </a:solidFill>
                <a:latin typeface="Times New Roman"/>
              </a:rPr>
              <a:t>NIST finalized post-quantum standards in August 2024 (FIPS 203 ML-KEM, FIPS 204 ML-DSA, FIPS 205 SLH-DSA). White House NSM-10, OMB M-23-02, and NSA CNSA 2.0 mandate full deprecation of classical primitives by 2030–2035.</a:t>
            </a:r>
          </a:p>
          <a:p>
            <a:pPr lvl="1">
              <a:spcBef>
                <a:spcPts val="200"/>
              </a:spcBef>
              <a:spcAft>
                <a:spcPts val="600"/>
              </a:spcAft>
            </a:pPr>
            <a:r>
              <a:rPr sz="1500" b="1" i="0">
                <a:solidFill>
                  <a:srgbClr val="303298"/>
                </a:solidFill>
                <a:latin typeface="Times New Roman"/>
              </a:rPr>
              <a:t>• Enterprise Cryptographic Debt: </a:t>
            </a:r>
            <a:r>
              <a:rPr sz="1500" b="0" i="0">
                <a:solidFill>
                  <a:srgbClr val="1E293B"/>
                </a:solidFill>
                <a:latin typeface="Times New Roman"/>
              </a:rPr>
              <a:t>Modern microservices suffer from uninventoried hardcoded keys, obsolete cipher suites, and implicit supply chain dependencies. AgileGraph solves this by providing automated discovery, property graph modeling, and explainable risk prioritization.</a:t>
            </a:r>
          </a:p>
        </p:txBody>
      </p:sp>
      <p:sp>
        <p:nvSpPr>
          <p:cNvPr name="TextBox 5" id="5"/>
          <p:cNvSpPr txBox="true"/>
          <p:nvPr/>
        </p:nvSpPr>
        <p:spPr>
          <a:xfrm rot="0">
            <a:off x="16862475" y="948359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303298"/>
                </a:solidFill>
                <a:latin typeface="Times New Roman"/>
                <a:ea typeface="Times New Roman"/>
                <a:cs typeface="Times New Roman"/>
                <a:sym typeface="Times New Roman"/>
              </a:rPr>
              <a:t>Page 3</a:t>
            </a:r>
          </a:p>
        </p:txBody>
      </p:sp>
      <p:sp>
        <p:nvSpPr>
          <p:cNvPr name="TextBox 6" id="6"/>
          <p:cNvSpPr txBox="true"/>
          <p:nvPr/>
        </p:nvSpPr>
        <p:spPr>
          <a:xfrm rot="0">
            <a:off x="11236163" y="9483591"/>
            <a:ext cx="4920457" cy="358774"/>
          </a:xfrm>
          <a:prstGeom prst="rect">
            <a:avLst/>
          </a:prstGeom>
        </p:spPr>
        <p:txBody>
          <a:bodyPr anchor="t" rtlCol="false" tIns="0" lIns="0" bIns="0" rIns="0">
            <a:spAutoFit/>
          </a:bodyPr>
          <a:lstStyle/>
          <a:p>
            <a:pPr algn="ctr">
              <a:lnSpc>
                <a:spcPts val="2800"/>
              </a:lnSpc>
            </a:pPr>
            <a:r>
              <a:rPr lang="en-US" sz="2000">
                <a:solidFill>
                  <a:srgbClr val="303298"/>
                </a:solidFill>
                <a:latin typeface="Times New Roman"/>
                <a:ea typeface="Times New Roman"/>
                <a:cs typeface="Times New Roman"/>
                <a:sym typeface="Times New Roman"/>
              </a:rPr>
              <a:t>Dep</a:t>
            </a:r>
            <a:r>
              <a:rPr lang="en-US" sz="2000">
                <a:solidFill>
                  <a:srgbClr val="303298"/>
                </a:solidFill>
                <a:latin typeface="Times New Roman"/>
                <a:ea typeface="Times New Roman"/>
                <a:cs typeface="Times New Roman"/>
                <a:sym typeface="Times New Roman"/>
              </a:rPr>
              <a:t>artment of Cyber Security | NMAMIT, Nitte</a:t>
            </a:r>
          </a:p>
        </p:txBody>
      </p:sp>
      <p:sp>
        <p:nvSpPr>
          <p:cNvPr name="Freeform 7" id="7"/>
          <p:cNvSpPr/>
          <p:nvPr/>
        </p:nvSpPr>
        <p:spPr>
          <a:xfrm flipH="false" flipV="false" rot="0">
            <a:off x="1028700" y="848377"/>
            <a:ext cx="1431244" cy="1509311"/>
          </a:xfrm>
          <a:custGeom>
            <a:avLst/>
            <a:gdLst/>
            <a:ahLst/>
            <a:cxnLst/>
            <a:rect r="r" b="b" t="t" l="l"/>
            <a:pathLst>
              <a:path h="1509311" w="1431244">
                <a:moveTo>
                  <a:pt x="0" y="0"/>
                </a:moveTo>
                <a:lnTo>
                  <a:pt x="1431244" y="0"/>
                </a:lnTo>
                <a:lnTo>
                  <a:pt x="1431244" y="1509311"/>
                </a:lnTo>
                <a:lnTo>
                  <a:pt x="0" y="1509311"/>
                </a:lnTo>
                <a:lnTo>
                  <a:pt x="0" y="0"/>
                </a:lnTo>
                <a:close/>
              </a:path>
            </a:pathLst>
          </a:custGeom>
          <a:blipFill>
            <a:blip r:embed="rId4"/>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24088" y="506530"/>
            <a:ext cx="17415170" cy="9491267"/>
          </a:xfrm>
          <a:custGeom>
            <a:avLst/>
            <a:gdLst/>
            <a:ahLst/>
            <a:cxnLst/>
            <a:rect r="r" b="b" t="t" l="l"/>
            <a:pathLst>
              <a:path h="9491267" w="17415170">
                <a:moveTo>
                  <a:pt x="0" y="0"/>
                </a:moveTo>
                <a:lnTo>
                  <a:pt x="17415170" y="0"/>
                </a:lnTo>
                <a:lnTo>
                  <a:pt x="17415170" y="9491267"/>
                </a:lnTo>
                <a:lnTo>
                  <a:pt x="0" y="9491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16859300" y="920115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303298"/>
                </a:solidFill>
                <a:latin typeface="Times New Roman"/>
                <a:ea typeface="Times New Roman"/>
                <a:cs typeface="Times New Roman"/>
                <a:sym typeface="Times New Roman"/>
              </a:rPr>
              <a:t>Page 4</a:t>
            </a:r>
          </a:p>
        </p:txBody>
      </p:sp>
      <p:sp>
        <p:nvSpPr>
          <p:cNvPr name="TextBox 4" id="4"/>
          <p:cNvSpPr txBox="true"/>
          <p:nvPr/>
        </p:nvSpPr>
        <p:spPr>
          <a:xfrm rot="0">
            <a:off x="11251958" y="9201151"/>
            <a:ext cx="4920457" cy="358774"/>
          </a:xfrm>
          <a:prstGeom prst="rect">
            <a:avLst/>
          </a:prstGeom>
        </p:spPr>
        <p:txBody>
          <a:bodyPr anchor="t" rtlCol="false" tIns="0" lIns="0" bIns="0" rIns="0">
            <a:spAutoFit/>
          </a:bodyPr>
          <a:lstStyle/>
          <a:p>
            <a:pPr algn="ctr">
              <a:lnSpc>
                <a:spcPts val="2800"/>
              </a:lnSpc>
            </a:pPr>
            <a:r>
              <a:rPr lang="en-US" sz="2000">
                <a:solidFill>
                  <a:srgbClr val="303298"/>
                </a:solidFill>
                <a:latin typeface="Times New Roman"/>
                <a:ea typeface="Times New Roman"/>
                <a:cs typeface="Times New Roman"/>
                <a:sym typeface="Times New Roman"/>
              </a:rPr>
              <a:t>Dep</a:t>
            </a:r>
            <a:r>
              <a:rPr lang="en-US" sz="2000">
                <a:solidFill>
                  <a:srgbClr val="303298"/>
                </a:solidFill>
                <a:latin typeface="Times New Roman"/>
                <a:ea typeface="Times New Roman"/>
                <a:cs typeface="Times New Roman"/>
                <a:sym typeface="Times New Roman"/>
              </a:rPr>
              <a:t>artment of Cyber Security | NMAMIT, Nitte</a:t>
            </a:r>
          </a:p>
        </p:txBody>
      </p:sp>
      <p:sp>
        <p:nvSpPr>
          <p:cNvPr name="Freeform 5" id="5"/>
          <p:cNvSpPr/>
          <p:nvPr/>
        </p:nvSpPr>
        <p:spPr>
          <a:xfrm flipH="false" flipV="false" rot="0">
            <a:off x="1028700" y="848377"/>
            <a:ext cx="1431244" cy="1509311"/>
          </a:xfrm>
          <a:custGeom>
            <a:avLst/>
            <a:gdLst/>
            <a:ahLst/>
            <a:cxnLst/>
            <a:rect r="r" b="b" t="t" l="l"/>
            <a:pathLst>
              <a:path h="1509311" w="1431244">
                <a:moveTo>
                  <a:pt x="0" y="0"/>
                </a:moveTo>
                <a:lnTo>
                  <a:pt x="1431244" y="0"/>
                </a:lnTo>
                <a:lnTo>
                  <a:pt x="1431244" y="1509311"/>
                </a:lnTo>
                <a:lnTo>
                  <a:pt x="0" y="1509311"/>
                </a:lnTo>
                <a:lnTo>
                  <a:pt x="0" y="0"/>
                </a:lnTo>
                <a:close/>
              </a:path>
            </a:pathLst>
          </a:custGeom>
          <a:blipFill>
            <a:blip r:embed="rId4"/>
            <a:stretch>
              <a:fillRect l="0" t="0" r="0" b="0"/>
            </a:stretch>
          </a:blipFill>
        </p:spPr>
      </p:sp>
      <p:sp>
        <p:nvSpPr>
          <p:cNvPr id="6" name="TextBox 5"/>
          <p:cNvSpPr txBox="1"/>
          <p:nvPr/>
        </p:nvSpPr>
        <p:spPr>
          <a:xfrm>
            <a:off x="2560320" y="777240"/>
            <a:ext cx="13258800" cy="1051560"/>
          </a:xfrm>
          <a:prstGeom prst="rect">
            <a:avLst/>
          </a:prstGeom>
          <a:noFill/>
        </p:spPr>
        <p:txBody>
          <a:bodyPr wrap="square">
            <a:spAutoFit/>
          </a:bodyPr>
          <a:lstStyle/>
          <a:p>
            <a:pPr algn="l"/>
            <a:r>
              <a:rPr sz="3200" b="1" i="0">
                <a:solidFill>
                  <a:srgbClr val="303298"/>
                </a:solidFill>
                <a:latin typeface="Times New Roman"/>
              </a:rPr>
              <a:t>RESEARCH GAP</a:t>
            </a:r>
          </a:p>
        </p:txBody>
      </p:sp>
      <p:sp>
        <p:nvSpPr>
          <p:cNvPr id="7" name="TextBox 6"/>
          <p:cNvSpPr txBox="1"/>
          <p:nvPr/>
        </p:nvSpPr>
        <p:spPr>
          <a:xfrm>
            <a:off x="1828800" y="2011680"/>
            <a:ext cx="13258800" cy="6400800"/>
          </a:xfrm>
          <a:prstGeom prst="rect">
            <a:avLst/>
          </a:prstGeom>
          <a:noFill/>
        </p:spPr>
        <p:txBody>
          <a:bodyPr wrap="square">
            <a:spAutoFit/>
          </a:bodyPr>
          <a:lstStyle/>
          <a:p>
            <a:pPr>
              <a:spcBef>
                <a:spcPts val="200"/>
              </a:spcBef>
              <a:spcAft>
                <a:spcPts val="800"/>
              </a:spcAft>
            </a:pPr>
            <a:r>
              <a:rPr sz="1500" b="1" i="0">
                <a:solidFill>
                  <a:srgbClr val="303298"/>
                </a:solidFill>
                <a:latin typeface="Times New Roman"/>
              </a:rPr>
              <a:t>Gap 1: Flat Inventories vs. Relational Graph Context
</a:t>
            </a:r>
            <a:r>
              <a:rPr sz="1500" b="0" i="0">
                <a:solidFill>
                  <a:srgbClr val="1E293B"/>
                </a:solidFill>
                <a:latin typeface="Times New Roman"/>
              </a:rPr>
              <a:t>Existing Software Bill of Materials (SBOM) and early Cryptographic BOM (CBOM) tools produce disconnected, flat asset inventories. They lack architectural call graphs, dependency paths, and caller-callee reachability, failing to identify whether a vulnerable primitive is exposed on an external attack surface or isolated in an internal test stub.</a:t>
            </a:r>
          </a:p>
          <a:p>
            <a:pPr>
              <a:spcBef>
                <a:spcPts val="200"/>
              </a:spcBef>
              <a:spcAft>
                <a:spcPts val="800"/>
              </a:spcAft>
            </a:pPr>
            <a:r>
              <a:rPr sz="1500" b="1" i="0">
                <a:solidFill>
                  <a:srgbClr val="303298"/>
                </a:solidFill>
                <a:latin typeface="Times New Roman"/>
              </a:rPr>
              <a:t>Gap 2: Binary Violations vs. Continuous Multi-Factor Prioritization
</a:t>
            </a:r>
            <a:r>
              <a:rPr sz="1500" b="0" i="0">
                <a:solidFill>
                  <a:srgbClr val="1E293B"/>
                </a:solidFill>
                <a:latin typeface="Times New Roman"/>
              </a:rPr>
              <a:t>Prior static cryptographic misuse detectors (e.g., CryptoLint, CogniCrypt) perform localized binary rule checks (e.g., detecting constant keys). They provide no mathematically bounded, continuous multi-factor risk quantification that balances algorithm vulnerability, key length, network exposure, architectural centrality, and CVE history.</a:t>
            </a:r>
          </a:p>
          <a:p>
            <a:pPr>
              <a:spcBef>
                <a:spcPts val="200"/>
              </a:spcBef>
              <a:spcAft>
                <a:spcPts val="800"/>
              </a:spcAft>
            </a:pPr>
            <a:r>
              <a:rPr sz="1500" b="1" i="0">
                <a:solidFill>
                  <a:srgbClr val="303298"/>
                </a:solidFill>
                <a:latin typeface="Times New Roman"/>
              </a:rPr>
              <a:t>Gap 3: Theoretical Formulation vs. Code-Level Mosca Operationalization
</a:t>
            </a:r>
            <a:r>
              <a:rPr sz="1500" b="0" i="0">
                <a:solidFill>
                  <a:srgbClr val="1E293B"/>
                </a:solidFill>
                <a:latin typeface="Times New Roman"/>
              </a:rPr>
              <a:t>Michele Mosca's theorem (X + Y &gt; Z) has historically been treated as an abstract organizational concept. Existing literature lacks an automated mathematical framework that extracts parameters directly from source code to compute a continuous Quantum Exposure Timeline Index (QETI) for asset-level triage.</a:t>
            </a:r>
          </a:p>
          <a:p>
            <a:pPr>
              <a:spcBef>
                <a:spcPts val="200"/>
              </a:spcBef>
              <a:spcAft>
                <a:spcPts val="800"/>
              </a:spcAft>
            </a:pPr>
            <a:r>
              <a:rPr sz="1500" b="1" i="0">
                <a:solidFill>
                  <a:srgbClr val="303298"/>
                </a:solidFill>
                <a:latin typeface="Times New Roman"/>
              </a:rPr>
              <a:t>Gap 4: Localized AST Scanning vs. Topological Vulnerability Propagation
</a:t>
            </a:r>
            <a:r>
              <a:rPr sz="1500" b="0" i="0">
                <a:solidFill>
                  <a:srgbClr val="1E293B"/>
                </a:solidFill>
                <a:latin typeface="Times New Roman"/>
              </a:rPr>
              <a:t>Traditional Static Application Security Testing (SAST) tools analyze isolated source files. They cannot propagate risk representations across multi-hop dependency topologies to intermediate wrapper libraries, utility classes, and transitively exposed microservices.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24088" y="506530"/>
            <a:ext cx="17415170" cy="9491267"/>
          </a:xfrm>
          <a:custGeom>
            <a:avLst/>
            <a:gdLst/>
            <a:ahLst/>
            <a:cxnLst/>
            <a:rect r="r" b="b" t="t" l="l"/>
            <a:pathLst>
              <a:path h="9491267" w="17415170">
                <a:moveTo>
                  <a:pt x="0" y="0"/>
                </a:moveTo>
                <a:lnTo>
                  <a:pt x="17415170" y="0"/>
                </a:lnTo>
                <a:lnTo>
                  <a:pt x="17415170" y="9491267"/>
                </a:lnTo>
                <a:lnTo>
                  <a:pt x="0" y="9491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16462871" y="920115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303298"/>
                </a:solidFill>
                <a:latin typeface="Times New Roman"/>
                <a:ea typeface="Times New Roman"/>
                <a:cs typeface="Times New Roman"/>
                <a:sym typeface="Times New Roman"/>
              </a:rPr>
              <a:t>Page 5</a:t>
            </a:r>
          </a:p>
        </p:txBody>
      </p:sp>
      <p:sp>
        <p:nvSpPr>
          <p:cNvPr name="TextBox 4" id="4"/>
          <p:cNvSpPr txBox="true"/>
          <p:nvPr/>
        </p:nvSpPr>
        <p:spPr>
          <a:xfrm rot="0">
            <a:off x="2459944" y="647611"/>
            <a:ext cx="14799356" cy="2301875"/>
          </a:xfrm>
          <a:prstGeom prst="rect">
            <a:avLst/>
          </a:prstGeom>
        </p:spPr>
        <p:txBody>
          <a:bodyPr anchor="t" rtlCol="false" tIns="0" lIns="0" bIns="0" rIns="0" wrap="square">
            <a:spAutoFit/>
          </a:bodyPr>
          <a:lstStyle/>
          <a:p>
            <a:pPr algn="l">
              <a:lnSpc>
                <a:spcPts val="9100"/>
              </a:lnSpc>
            </a:pPr>
            <a:r>
              <a:rPr sz="3200" b="1" i="0">
                <a:solidFill>
                  <a:srgbClr val="303298"/>
                </a:solidFill>
                <a:latin typeface="Times New Roman"/>
              </a:rPr>
              <a:t>REVIEW FROM PRESENTATION PHASE -1</a:t>
            </a:r>
          </a:p>
        </p:txBody>
      </p:sp>
      <p:sp>
        <p:nvSpPr>
          <p:cNvPr name="TextBox 5" id="5"/>
          <p:cNvSpPr txBox="true"/>
          <p:nvPr/>
        </p:nvSpPr>
        <p:spPr>
          <a:xfrm rot="0">
            <a:off x="1588726" y="2011680"/>
            <a:ext cx="13258800" cy="6400800"/>
          </a:xfrm>
          <a:prstGeom prst="rect">
            <a:avLst/>
          </a:prstGeom>
        </p:spPr>
        <p:txBody>
          <a:bodyPr anchor="t" rtlCol="false" tIns="0" lIns="0" bIns="0" rIns="0" wrap="square">
            <a:spAutoFit/>
          </a:bodyPr>
          <a:lstStyle/>
          <a:p>
            <a:pPr algn="ctr">
              <a:lnSpc>
                <a:spcPts val="4759"/>
              </a:lnSpc>
            </a:pPr>
          </a:p>
          <a:p>
            <a:pPr algn="ctr">
              <a:lnSpc>
                <a:spcPts val="4759"/>
              </a:lnSpc>
            </a:pPr>
          </a:p>
          <a:p>
            <a:pPr algn="ctr">
              <a:lnSpc>
                <a:spcPts val="4759"/>
              </a:lnSpc>
            </a:pPr>
          </a:p>
          <a:p>
            <a:pPr>
              <a:spcBef>
                <a:spcPts val="200"/>
              </a:spcBef>
              <a:spcAft>
                <a:spcPts val="200"/>
              </a:spcAft>
            </a:pPr>
            <a:r>
              <a:rPr sz="1800" b="1" i="0">
                <a:solidFill>
                  <a:srgbClr val="303298"/>
                </a:solidFill>
                <a:latin typeface="Times New Roman"/>
              </a:rPr>
              <a:t>Summary of Phase 1 Baseline Work:
</a:t>
            </a:r>
          </a:p>
          <a:p>
            <a:pPr lvl="1">
              <a:spcBef>
                <a:spcPts val="200"/>
              </a:spcBef>
              <a:spcAft>
                <a:spcPts val="400"/>
              </a:spcAft>
            </a:pPr>
            <a:r>
              <a:rPr sz="1500" b="1" i="0">
                <a:solidFill>
                  <a:srgbClr val="303298"/>
                </a:solidFill>
                <a:latin typeface="Times New Roman"/>
              </a:rPr>
              <a:t>• Initial Prototype: </a:t>
            </a:r>
            <a:r>
              <a:rPr sz="1500" b="0" i="0">
                <a:solidFill>
                  <a:srgbClr val="1E293B"/>
                </a:solidFill>
                <a:latin typeface="Times New Roman"/>
              </a:rPr>
              <a:t>Formulated post-quantum discovery requirements and implemented a preliminary single-language AST scanner for Python.</a:t>
            </a:r>
          </a:p>
          <a:p>
            <a:pPr lvl="1">
              <a:spcBef>
                <a:spcPts val="200"/>
              </a:spcBef>
              <a:spcAft>
                <a:spcPts val="800"/>
              </a:spcAft>
            </a:pPr>
            <a:r>
              <a:rPr sz="1500" b="1" i="0">
                <a:solidFill>
                  <a:srgbClr val="303298"/>
                </a:solidFill>
                <a:latin typeface="Times New Roman"/>
              </a:rPr>
              <a:t>• Literature Foundation: </a:t>
            </a:r>
            <a:r>
              <a:rPr sz="1500" b="0" i="0">
                <a:solidFill>
                  <a:srgbClr val="1E293B"/>
                </a:solidFill>
                <a:latin typeface="Times New Roman"/>
              </a:rPr>
              <a:t>Conducted preliminary literature review on cryptographic misuse detection and post-quantum migration standards.</a:t>
            </a:r>
          </a:p>
          <a:p>
            <a:pPr>
              <a:spcBef>
                <a:spcPts val="200"/>
              </a:spcBef>
              <a:spcAft>
                <a:spcPts val="200"/>
              </a:spcAft>
            </a:pPr>
            <a:r>
              <a:rPr sz="1800" b="1" i="0">
                <a:solidFill>
                  <a:srgbClr val="303298"/>
                </a:solidFill>
                <a:latin typeface="Times New Roman"/>
              </a:rPr>
              <a:t>Evaluator Feedback Received in Phase 1 Review:
</a:t>
            </a:r>
          </a:p>
          <a:p>
            <a:pPr lvl="1">
              <a:spcBef>
                <a:spcPts val="200"/>
              </a:spcBef>
              <a:spcAft>
                <a:spcPts val="400"/>
              </a:spcAft>
            </a:pPr>
            <a:r>
              <a:rPr sz="1500" b="1" i="0">
                <a:solidFill>
                  <a:srgbClr val="303298"/>
                </a:solidFill>
                <a:latin typeface="Times New Roman"/>
              </a:rPr>
              <a:t>• Feedback 1: </a:t>
            </a:r>
            <a:r>
              <a:rPr sz="1500" b="0" i="0">
                <a:solidFill>
                  <a:srgbClr val="1E293B"/>
                </a:solidFill>
                <a:latin typeface="Times New Roman"/>
              </a:rPr>
              <a:t>"Single-language Python scanning is insufficient for enterprise stacks; modern enterprise architectures are polyglot microservice environments."</a:t>
            </a:r>
          </a:p>
          <a:p>
            <a:pPr lvl="1">
              <a:spcBef>
                <a:spcPts val="200"/>
              </a:spcBef>
              <a:spcAft>
                <a:spcPts val="400"/>
              </a:spcAft>
            </a:pPr>
            <a:r>
              <a:rPr sz="1500" b="1" i="0">
                <a:solidFill>
                  <a:srgbClr val="303298"/>
                </a:solidFill>
                <a:latin typeface="Times New Roman"/>
              </a:rPr>
              <a:t>• Feedback 2: </a:t>
            </a:r>
            <a:r>
              <a:rPr sz="1500" b="0" i="0">
                <a:solidFill>
                  <a:srgbClr val="1E293B"/>
                </a:solidFill>
                <a:latin typeface="Times New Roman"/>
              </a:rPr>
              <a:t>"Risk prioritization cannot rely on opaque black-box machine learning; enterprise compliance demands transparent, auditable mathematical formulations."</a:t>
            </a:r>
          </a:p>
          <a:p>
            <a:pPr lvl="1">
              <a:spcBef>
                <a:spcPts val="200"/>
              </a:spcBef>
              <a:spcAft>
                <a:spcPts val="800"/>
              </a:spcAft>
            </a:pPr>
            <a:r>
              <a:rPr sz="1500" b="1" i="0">
                <a:solidFill>
                  <a:srgbClr val="303298"/>
                </a:solidFill>
                <a:latin typeface="Times New Roman"/>
              </a:rPr>
              <a:t>• Feedback 3: </a:t>
            </a:r>
            <a:r>
              <a:rPr sz="1500" b="0" i="0">
                <a:solidFill>
                  <a:srgbClr val="1E293B"/>
                </a:solidFill>
                <a:latin typeface="Times New Roman"/>
              </a:rPr>
              <a:t>"Empirically prove whether Graph Neural Networks genuinely learn topological code structures or merely fit tabular node features."</a:t>
            </a:r>
          </a:p>
          <a:p>
            <a:pPr>
              <a:spcBef>
                <a:spcPts val="200"/>
              </a:spcBef>
              <a:spcAft>
                <a:spcPts val="200"/>
              </a:spcAft>
            </a:pPr>
            <a:r>
              <a:rPr sz="1800" b="1" i="0">
                <a:solidFill>
                  <a:srgbClr val="303298"/>
                </a:solidFill>
                <a:latin typeface="Times New Roman"/>
              </a:rPr>
              <a:t>Key Progress &amp; Changes Made in Phase 2 Implementation:
</a:t>
            </a:r>
          </a:p>
          <a:p>
            <a:pPr lvl="1">
              <a:spcBef>
                <a:spcPts val="200"/>
              </a:spcBef>
              <a:spcAft>
                <a:spcPts val="400"/>
              </a:spcAft>
            </a:pPr>
            <a:r>
              <a:rPr sz="1500" b="1" i="0">
                <a:solidFill>
                  <a:srgbClr val="303298"/>
                </a:solidFill>
                <a:latin typeface="Times New Roman"/>
              </a:rPr>
              <a:t>• Polyglot Expansion: </a:t>
            </a:r>
            <a:r>
              <a:rPr sz="1500" b="0" i="0">
                <a:solidFill>
                  <a:srgbClr val="1E293B"/>
                </a:solidFill>
                <a:latin typeface="Times New Roman"/>
              </a:rPr>
              <a:t>Engineered 7 static discovery scanners covering Python, JS/TS, Java/Kotlin, Go, Rust, C/C++, and Infrastructure-as-Code configs, eliminating 41.2% of comment-induced false positives.</a:t>
            </a:r>
          </a:p>
          <a:p>
            <a:pPr lvl="1">
              <a:spcBef>
                <a:spcPts val="200"/>
              </a:spcBef>
              <a:spcAft>
                <a:spcPts val="400"/>
              </a:spcAft>
            </a:pPr>
            <a:r>
              <a:rPr sz="1500" b="1" i="0">
                <a:solidFill>
                  <a:srgbClr val="303298"/>
                </a:solidFill>
                <a:latin typeface="Times New Roman"/>
              </a:rPr>
              <a:t>• Deterministic Scoring: </a:t>
            </a:r>
            <a:r>
              <a:rPr sz="1500" b="0" i="0">
                <a:solidFill>
                  <a:srgbClr val="1E293B"/>
                </a:solidFill>
                <a:latin typeface="Times New Roman"/>
              </a:rPr>
              <a:t>Developed a normalized 7-factor heuristic risk model (weights w1=0.25..w7=0.10) with proven rank stability (Spearman rho &gt; 0.94 under +-20% OAT perturbation) and operationalized Mosca QETI.</a:t>
            </a:r>
          </a:p>
          <a:p>
            <a:pPr lvl="1">
              <a:spcBef>
                <a:spcPts val="200"/>
              </a:spcBef>
              <a:spcAft>
                <a:spcPts val="400"/>
              </a:spcAft>
            </a:pPr>
            <a:r>
              <a:rPr sz="1500" b="1" i="0">
                <a:solidFill>
                  <a:srgbClr val="303298"/>
                </a:solidFill>
                <a:latin typeface="Times New Roman"/>
              </a:rPr>
              <a:t>• Rigorous ML Validation: </a:t>
            </a:r>
            <a:r>
              <a:rPr sz="1500" b="0" i="0">
                <a:solidFill>
                  <a:srgbClr val="1E293B"/>
                </a:solidFill>
                <a:latin typeface="Times New Roman"/>
              </a:rPr>
              <a:t>Implemented dynamic GATv2 representation learning; validated against randomized-edge controls (+8.27% accuracy advantage, p &lt; 0.001) under 8-fold Leave-One-Project-Out (LOPO) cross-validation.</a:t>
            </a:r>
          </a:p>
          <a:p>
            <a:pPr lvl="1">
              <a:spcBef>
                <a:spcPts val="200"/>
              </a:spcBef>
              <a:spcAft>
                <a:spcPts val="600"/>
              </a:spcAft>
            </a:pPr>
            <a:r>
              <a:rPr sz="1500" b="1" i="0">
                <a:solidFill>
                  <a:srgbClr val="303298"/>
                </a:solidFill>
                <a:latin typeface="Times New Roman"/>
              </a:rPr>
              <a:t>• Enterprise Governance: </a:t>
            </a:r>
            <a:r>
              <a:rPr sz="1500" b="0" i="0">
                <a:solidFill>
                  <a:srgbClr val="1E293B"/>
                </a:solidFill>
                <a:latin typeface="Times New Roman"/>
              </a:rPr>
              <a:t>Delivered automated CycloneDX v1.6 CBOM export and append-only SQLite audit logging with SHA-256 configuration and git provenance hashing.</a:t>
            </a:r>
          </a:p>
        </p:txBody>
      </p:sp>
      <p:sp>
        <p:nvSpPr>
          <p:cNvPr name="TextBox 6" id="6"/>
          <p:cNvSpPr txBox="true"/>
          <p:nvPr/>
        </p:nvSpPr>
        <p:spPr>
          <a:xfrm rot="0">
            <a:off x="11019190" y="9166147"/>
            <a:ext cx="4700488" cy="599440"/>
          </a:xfrm>
          <a:prstGeom prst="rect">
            <a:avLst/>
          </a:prstGeom>
        </p:spPr>
        <p:txBody>
          <a:bodyPr anchor="t" rtlCol="false" tIns="0" lIns="0" bIns="0" rIns="0">
            <a:spAutoFit/>
          </a:bodyPr>
          <a:lstStyle/>
          <a:p>
            <a:pPr algn="ctr">
              <a:lnSpc>
                <a:spcPts val="4759"/>
              </a:lnSpc>
            </a:pPr>
          </a:p>
        </p:txBody>
      </p:sp>
      <p:sp>
        <p:nvSpPr>
          <p:cNvPr name="TextBox 7" id="7"/>
          <p:cNvSpPr txBox="true"/>
          <p:nvPr/>
        </p:nvSpPr>
        <p:spPr>
          <a:xfrm rot="0">
            <a:off x="10848038" y="9201151"/>
            <a:ext cx="4939308" cy="358774"/>
          </a:xfrm>
          <a:prstGeom prst="rect">
            <a:avLst/>
          </a:prstGeom>
        </p:spPr>
        <p:txBody>
          <a:bodyPr anchor="t" rtlCol="false" tIns="0" lIns="0" bIns="0" rIns="0">
            <a:spAutoFit/>
          </a:bodyPr>
          <a:lstStyle/>
          <a:p>
            <a:pPr algn="ctr">
              <a:lnSpc>
                <a:spcPts val="2800"/>
              </a:lnSpc>
            </a:pPr>
            <a:r>
              <a:rPr lang="en-US" sz="2000">
                <a:solidFill>
                  <a:srgbClr val="303298"/>
                </a:solidFill>
                <a:latin typeface="Times New Roman"/>
                <a:ea typeface="Times New Roman"/>
                <a:cs typeface="Times New Roman"/>
                <a:sym typeface="Times New Roman"/>
              </a:rPr>
              <a:t>Dep</a:t>
            </a:r>
            <a:r>
              <a:rPr lang="en-US" sz="2000">
                <a:solidFill>
                  <a:srgbClr val="303298"/>
                </a:solidFill>
                <a:latin typeface="Times New Roman"/>
                <a:ea typeface="Times New Roman"/>
                <a:cs typeface="Times New Roman"/>
                <a:sym typeface="Times New Roman"/>
              </a:rPr>
              <a:t>artment of Cyber Security | NMAMIT, Nitte</a:t>
            </a:r>
          </a:p>
        </p:txBody>
      </p:sp>
      <p:sp>
        <p:nvSpPr>
          <p:cNvPr name="Freeform 8" id="8"/>
          <p:cNvSpPr/>
          <p:nvPr/>
        </p:nvSpPr>
        <p:spPr>
          <a:xfrm flipH="false" flipV="false" rot="0">
            <a:off x="1028700" y="848377"/>
            <a:ext cx="1431244" cy="1509311"/>
          </a:xfrm>
          <a:custGeom>
            <a:avLst/>
            <a:gdLst/>
            <a:ahLst/>
            <a:cxnLst/>
            <a:rect r="r" b="b" t="t" l="l"/>
            <a:pathLst>
              <a:path h="1509311" w="1431244">
                <a:moveTo>
                  <a:pt x="0" y="0"/>
                </a:moveTo>
                <a:lnTo>
                  <a:pt x="1431244" y="0"/>
                </a:lnTo>
                <a:lnTo>
                  <a:pt x="1431244" y="1509311"/>
                </a:lnTo>
                <a:lnTo>
                  <a:pt x="0" y="1509311"/>
                </a:lnTo>
                <a:lnTo>
                  <a:pt x="0" y="0"/>
                </a:lnTo>
                <a:close/>
              </a:path>
            </a:pathLst>
          </a:custGeom>
          <a:blipFill>
            <a:blip r:embed="rId4"/>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24088" y="506530"/>
            <a:ext cx="17415170" cy="9491267"/>
          </a:xfrm>
          <a:custGeom>
            <a:avLst/>
            <a:gdLst/>
            <a:ahLst/>
            <a:cxnLst/>
            <a:rect r="r" b="b" t="t" l="l"/>
            <a:pathLst>
              <a:path h="9491267" w="17415170">
                <a:moveTo>
                  <a:pt x="0" y="0"/>
                </a:moveTo>
                <a:lnTo>
                  <a:pt x="17415170" y="0"/>
                </a:lnTo>
                <a:lnTo>
                  <a:pt x="17415170" y="9491267"/>
                </a:lnTo>
                <a:lnTo>
                  <a:pt x="0" y="9491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6449675" y="920115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303298"/>
                </a:solidFill>
                <a:latin typeface="Times New Roman"/>
                <a:ea typeface="Times New Roman"/>
                <a:cs typeface="Times New Roman"/>
                <a:sym typeface="Times New Roman"/>
              </a:rPr>
              <a:t>Page 6</a:t>
            </a:r>
          </a:p>
        </p:txBody>
      </p:sp>
      <p:sp>
        <p:nvSpPr>
          <p:cNvPr name="TextBox 4" id="4"/>
          <p:cNvSpPr txBox="true"/>
          <p:nvPr/>
        </p:nvSpPr>
        <p:spPr>
          <a:xfrm rot="0">
            <a:off x="2807154" y="866775"/>
            <a:ext cx="13335994" cy="1149350"/>
          </a:xfrm>
          <a:prstGeom prst="rect">
            <a:avLst/>
          </a:prstGeom>
        </p:spPr>
        <p:txBody>
          <a:bodyPr anchor="t" rtlCol="false" tIns="0" lIns="0" bIns="0" rIns="0" wrap="square">
            <a:spAutoFit/>
          </a:bodyPr>
          <a:lstStyle/>
          <a:p>
            <a:pPr algn="l">
              <a:lnSpc>
                <a:spcPts val="9100"/>
              </a:lnSpc>
            </a:pPr>
            <a:r>
              <a:rPr sz="3200" b="1" i="0">
                <a:solidFill>
                  <a:srgbClr val="303298"/>
                </a:solidFill>
                <a:latin typeface="Times New Roman"/>
              </a:rPr>
              <a:t>PROBLEM STATEMENT</a:t>
            </a:r>
          </a:p>
        </p:txBody>
      </p:sp>
      <p:sp>
        <p:nvSpPr>
          <p:cNvPr name="TextBox 5" id="5"/>
          <p:cNvSpPr txBox="true"/>
          <p:nvPr/>
        </p:nvSpPr>
        <p:spPr>
          <a:xfrm rot="0">
            <a:off x="2476206" y="2011680"/>
            <a:ext cx="13258800" cy="6400800"/>
          </a:xfrm>
          <a:prstGeom prst="rect">
            <a:avLst/>
          </a:prstGeom>
        </p:spPr>
        <p:txBody>
          <a:bodyPr anchor="t" rtlCol="false" tIns="0" lIns="0" bIns="0" rIns="0" wrap="square">
            <a:spAutoFit/>
          </a:bodyPr>
          <a:lstStyle/>
          <a:p>
            <a:pPr algn="ctr">
              <a:lnSpc>
                <a:spcPts val="4759"/>
              </a:lnSpc>
              <a:spcBef>
                <a:spcPts val="200"/>
              </a:spcBef>
              <a:spcAft>
                <a:spcPts val="400"/>
              </a:spcAft>
            </a:pPr>
            <a:r>
              <a:rPr sz="1800" b="1" i="0">
                <a:solidFill>
                  <a:srgbClr val="303298"/>
                </a:solidFill>
                <a:latin typeface="Times New Roman"/>
              </a:rPr>
              <a:t>Formal Problem Definition:
</a:t>
            </a:r>
          </a:p>
          <a:p>
            <a:pPr>
              <a:spcBef>
                <a:spcPts val="200"/>
              </a:spcBef>
              <a:spcAft>
                <a:spcPts val="1200"/>
              </a:spcAft>
            </a:pPr>
            <a:r>
              <a:rPr sz="1700" b="1" i="0">
                <a:solidFill>
                  <a:srgbClr val="1D4ED8"/>
                </a:solidFill>
                <a:latin typeface="Times New Roman"/>
              </a:rPr>
              <a:t>“</a:t>
            </a:r>
            <a:r>
              <a:rPr sz="1700" b="0" i="0">
                <a:solidFill>
                  <a:srgbClr val="1E293B"/>
                </a:solidFill>
                <a:latin typeface="Times New Roman"/>
              </a:rPr>
              <a:t>To automate the discovery of cryptographic primitives, certificates, and dependency supply chains across polyglot enterprise codebases, construct a unified heterogeneous property graph capturing structural and architectural topologies, and compute deterministic, explainable risk scores prioritizing post-quantum migration under Mosca’s theorem and NIST FIPS 203–205 guidelines.</a:t>
            </a:r>
          </a:p>
          <a:p>
            <a:pPr>
              <a:spcBef>
                <a:spcPts val="200"/>
              </a:spcBef>
              <a:spcAft>
                <a:spcPts val="200"/>
              </a:spcAft>
            </a:pPr>
            <a:r>
              <a:rPr sz="1800" b="1" i="0">
                <a:solidFill>
                  <a:srgbClr val="303298"/>
                </a:solidFill>
                <a:latin typeface="Times New Roman"/>
              </a:rPr>
              <a:t>Key Challenges Addressed by AgileGraph:
</a:t>
            </a:r>
          </a:p>
          <a:p>
            <a:pPr lvl="1">
              <a:spcBef>
                <a:spcPts val="200"/>
              </a:spcBef>
              <a:spcAft>
                <a:spcPts val="500"/>
              </a:spcAft>
            </a:pPr>
            <a:r>
              <a:rPr sz="1500" b="1" i="0">
                <a:solidFill>
                  <a:srgbClr val="303298"/>
                </a:solidFill>
                <a:latin typeface="Times New Roman"/>
              </a:rPr>
              <a:t>• Multi-Language Polyglot Parsing: </a:t>
            </a:r>
            <a:r>
              <a:rPr sz="1500" b="0" i="0">
                <a:solidFill>
                  <a:srgbClr val="1E293B"/>
                </a:solidFill>
                <a:latin typeface="Times New Roman"/>
              </a:rPr>
              <a:t>Modern enterprise software combines diverse languages and configs; scanners must parse AST structures without requiring heavyweight compiler build chains.</a:t>
            </a:r>
          </a:p>
          <a:p>
            <a:pPr lvl="1">
              <a:spcBef>
                <a:spcPts val="200"/>
              </a:spcBef>
              <a:spcAft>
                <a:spcPts val="500"/>
              </a:spcAft>
            </a:pPr>
            <a:r>
              <a:rPr sz="1500" b="1" i="0">
                <a:solidFill>
                  <a:srgbClr val="303298"/>
                </a:solidFill>
                <a:latin typeface="Times New Roman"/>
              </a:rPr>
              <a:t>• Elimination of False Positives: </a:t>
            </a:r>
            <a:r>
              <a:rPr sz="1500" b="0" i="0">
                <a:solidFill>
                  <a:srgbClr val="1E293B"/>
                </a:solidFill>
                <a:latin typeface="Times New Roman"/>
              </a:rPr>
              <a:t>Naive keyword tools flag documentation strings and historical code comments; static analyzers must strip comments before symbol extraction.</a:t>
            </a:r>
          </a:p>
          <a:p>
            <a:pPr lvl="1">
              <a:spcBef>
                <a:spcPts val="200"/>
              </a:spcBef>
              <a:spcAft>
                <a:spcPts val="500"/>
              </a:spcAft>
            </a:pPr>
            <a:r>
              <a:rPr sz="1500" b="1" i="0">
                <a:solidFill>
                  <a:srgbClr val="303298"/>
                </a:solidFill>
                <a:latin typeface="Times New Roman"/>
              </a:rPr>
              <a:t>• Structural Dependency Modeling: </a:t>
            </a:r>
            <a:r>
              <a:rPr sz="1500" b="0" i="0">
                <a:solidFill>
                  <a:srgbClr val="1E293B"/>
                </a:solidFill>
                <a:latin typeface="Times New Roman"/>
              </a:rPr>
              <a:t>Cryptographic risk is non-local; vulnerabilities in internal utility libraries propagate through complex import and call graphs to affect public-facing services.</a:t>
            </a:r>
          </a:p>
          <a:p>
            <a:pPr lvl="1">
              <a:spcBef>
                <a:spcPts val="200"/>
              </a:spcBef>
              <a:spcAft>
                <a:spcPts val="500"/>
              </a:spcAft>
            </a:pPr>
            <a:r>
              <a:rPr sz="1500" b="1" i="0">
                <a:solidFill>
                  <a:srgbClr val="303298"/>
                </a:solidFill>
                <a:latin typeface="Times New Roman"/>
              </a:rPr>
              <a:t>• Explainable Prioritization: </a:t>
            </a:r>
            <a:r>
              <a:rPr sz="1500" b="0" i="0">
                <a:solidFill>
                  <a:srgbClr val="1E293B"/>
                </a:solidFill>
                <a:latin typeface="Times New Roman"/>
              </a:rPr>
              <a:t>Organizations cannot refactor everything at once; migration backlogs must be mathematically prioritized based on quantum vulnerability, exposure tier, and timeline urgency.</a:t>
            </a:r>
          </a:p>
        </p:txBody>
      </p:sp>
      <p:sp>
        <p:nvSpPr>
          <p:cNvPr name="TextBox 6" id="6"/>
          <p:cNvSpPr txBox="true"/>
          <p:nvPr/>
        </p:nvSpPr>
        <p:spPr>
          <a:xfrm rot="0">
            <a:off x="11054062" y="9235890"/>
            <a:ext cx="4700488" cy="599440"/>
          </a:xfrm>
          <a:prstGeom prst="rect">
            <a:avLst/>
          </a:prstGeom>
        </p:spPr>
        <p:txBody>
          <a:bodyPr anchor="t" rtlCol="false" tIns="0" lIns="0" bIns="0" rIns="0">
            <a:spAutoFit/>
          </a:bodyPr>
          <a:lstStyle/>
          <a:p>
            <a:pPr algn="ctr">
              <a:lnSpc>
                <a:spcPts val="4759"/>
              </a:lnSpc>
            </a:pPr>
          </a:p>
        </p:txBody>
      </p:sp>
      <p:sp>
        <p:nvSpPr>
          <p:cNvPr name="TextBox 7" id="7"/>
          <p:cNvSpPr txBox="true"/>
          <p:nvPr/>
        </p:nvSpPr>
        <p:spPr>
          <a:xfrm rot="0">
            <a:off x="10832216" y="9201150"/>
            <a:ext cx="4939308" cy="358774"/>
          </a:xfrm>
          <a:prstGeom prst="rect">
            <a:avLst/>
          </a:prstGeom>
        </p:spPr>
        <p:txBody>
          <a:bodyPr anchor="t" rtlCol="false" tIns="0" lIns="0" bIns="0" rIns="0">
            <a:spAutoFit/>
          </a:bodyPr>
          <a:lstStyle/>
          <a:p>
            <a:pPr algn="ctr">
              <a:lnSpc>
                <a:spcPts val="2800"/>
              </a:lnSpc>
            </a:pPr>
            <a:r>
              <a:rPr lang="en-US" sz="2000">
                <a:solidFill>
                  <a:srgbClr val="303298"/>
                </a:solidFill>
                <a:latin typeface="Times New Roman"/>
                <a:ea typeface="Times New Roman"/>
                <a:cs typeface="Times New Roman"/>
                <a:sym typeface="Times New Roman"/>
              </a:rPr>
              <a:t>Dep</a:t>
            </a:r>
            <a:r>
              <a:rPr lang="en-US" sz="2000">
                <a:solidFill>
                  <a:srgbClr val="303298"/>
                </a:solidFill>
                <a:latin typeface="Times New Roman"/>
                <a:ea typeface="Times New Roman"/>
                <a:cs typeface="Times New Roman"/>
                <a:sym typeface="Times New Roman"/>
              </a:rPr>
              <a:t>artment of Cyber Security | NMAMIT, Nitte</a:t>
            </a:r>
          </a:p>
        </p:txBody>
      </p:sp>
      <p:sp>
        <p:nvSpPr>
          <p:cNvPr name="Freeform 8" id="8"/>
          <p:cNvSpPr/>
          <p:nvPr/>
        </p:nvSpPr>
        <p:spPr>
          <a:xfrm flipH="false" flipV="false" rot="0">
            <a:off x="1028700" y="848377"/>
            <a:ext cx="1431244" cy="1509311"/>
          </a:xfrm>
          <a:custGeom>
            <a:avLst/>
            <a:gdLst/>
            <a:ahLst/>
            <a:cxnLst/>
            <a:rect r="r" b="b" t="t" l="l"/>
            <a:pathLst>
              <a:path h="1509311" w="1431244">
                <a:moveTo>
                  <a:pt x="0" y="0"/>
                </a:moveTo>
                <a:lnTo>
                  <a:pt x="1431244" y="0"/>
                </a:lnTo>
                <a:lnTo>
                  <a:pt x="1431244" y="1509311"/>
                </a:lnTo>
                <a:lnTo>
                  <a:pt x="0" y="1509311"/>
                </a:lnTo>
                <a:lnTo>
                  <a:pt x="0" y="0"/>
                </a:lnTo>
                <a:close/>
              </a:path>
            </a:pathLst>
          </a:custGeom>
          <a:blipFill>
            <a:blip r:embed="rId4"/>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36415" y="795733"/>
            <a:ext cx="17415170" cy="9491267"/>
          </a:xfrm>
          <a:custGeom>
            <a:avLst/>
            <a:gdLst/>
            <a:ahLst/>
            <a:cxnLst/>
            <a:rect r="r" b="b" t="t" l="l"/>
            <a:pathLst>
              <a:path h="9491267" w="17415170">
                <a:moveTo>
                  <a:pt x="0" y="0"/>
                </a:moveTo>
                <a:lnTo>
                  <a:pt x="17415170" y="0"/>
                </a:lnTo>
                <a:lnTo>
                  <a:pt x="17415170" y="9491267"/>
                </a:lnTo>
                <a:lnTo>
                  <a:pt x="0" y="9491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946608" y="1127718"/>
            <a:ext cx="10196443" cy="1149350"/>
          </a:xfrm>
          <a:prstGeom prst="rect">
            <a:avLst/>
          </a:prstGeom>
        </p:spPr>
        <p:txBody>
          <a:bodyPr anchor="t" rtlCol="false" tIns="0" lIns="0" bIns="0" rIns="0" wrap="square">
            <a:spAutoFit/>
          </a:bodyPr>
          <a:lstStyle/>
          <a:p>
            <a:pPr algn="l">
              <a:lnSpc>
                <a:spcPts val="9100"/>
              </a:lnSpc>
            </a:pPr>
            <a:r>
              <a:rPr sz="3200" b="1" i="0">
                <a:solidFill>
                  <a:srgbClr val="303298"/>
                </a:solidFill>
                <a:latin typeface="Times New Roman"/>
              </a:rPr>
              <a:t>OBJECTIVES</a:t>
            </a:r>
          </a:p>
        </p:txBody>
      </p:sp>
      <p:sp>
        <p:nvSpPr>
          <p:cNvPr name="TextBox 4" id="4"/>
          <p:cNvSpPr txBox="true"/>
          <p:nvPr/>
        </p:nvSpPr>
        <p:spPr>
          <a:xfrm rot="0">
            <a:off x="1991604" y="2011680"/>
            <a:ext cx="13258800" cy="6400800"/>
          </a:xfrm>
          <a:prstGeom prst="rect">
            <a:avLst/>
          </a:prstGeom>
        </p:spPr>
        <p:txBody>
          <a:bodyPr anchor="t" rtlCol="false" tIns="0" lIns="0" bIns="0" rIns="0" wrap="square">
            <a:spAutoFit/>
          </a:bodyPr>
          <a:lstStyle/>
          <a:p>
            <a:pPr algn="l" marL="734059" indent="-367030" lvl="1">
              <a:lnSpc>
                <a:spcPts val="7309"/>
              </a:lnSpc>
              <a:buAutoNum type="arabicPeriod" startAt="1"/>
            </a:pPr>
          </a:p>
          <a:p>
            <a:pPr algn="l" marL="734059" indent="-367030" lvl="1">
              <a:lnSpc>
                <a:spcPts val="7309"/>
              </a:lnSpc>
              <a:buAutoNum type="arabicPeriod" startAt="1"/>
            </a:pPr>
          </a:p>
          <a:p>
            <a:pPr algn="l" marL="734059" indent="-367030" lvl="1">
              <a:lnSpc>
                <a:spcPts val="7309"/>
              </a:lnSpc>
              <a:buAutoNum type="arabicPeriod" startAt="1"/>
            </a:pPr>
          </a:p>
          <a:p>
            <a:pPr algn="l" marL="734059" indent="-367030" lvl="1">
              <a:lnSpc>
                <a:spcPts val="7309"/>
              </a:lnSpc>
              <a:buAutoNum type="arabicPeriod" startAt="1"/>
            </a:pPr>
          </a:p>
          <a:p>
            <a:pPr algn="l" marL="734059" indent="-367030" lvl="1">
              <a:lnSpc>
                <a:spcPts val="7309"/>
              </a:lnSpc>
              <a:buAutoNum type="arabicPeriod" startAt="1"/>
            </a:pPr>
          </a:p>
          <a:p>
            <a:pPr algn="l">
              <a:lnSpc>
                <a:spcPts val="4759"/>
              </a:lnSpc>
            </a:pPr>
          </a:p>
          <a:p>
            <a:pPr>
              <a:spcBef>
                <a:spcPts val="200"/>
              </a:spcBef>
              <a:spcAft>
                <a:spcPts val="800"/>
              </a:spcAft>
            </a:pPr>
            <a:r>
              <a:rPr sz="1500" b="1" i="0">
                <a:solidFill>
                  <a:srgbClr val="303298"/>
                </a:solidFill>
                <a:latin typeface="Times New Roman"/>
              </a:rPr>
              <a:t>Objective 1: To design </a:t>
            </a:r>
            <a:r>
              <a:rPr sz="1500" b="0" i="0">
                <a:solidFill>
                  <a:srgbClr val="1E293B"/>
                </a:solidFill>
                <a:latin typeface="Times New Roman"/>
              </a:rPr>
              <a:t>a canonical heterogeneous code property graph ontology modeling six node entity types (Repository, File, CryptoAsset, Function, Dependency, Infrastructure) and six semantic directed edge types (CONTAINS, IMPORTS, CALLS, DEFINES, USES, CONFIGURES), enforcing structural invariants and cycle handling to capture deep cryptographic dependency paths.</a:t>
            </a:r>
          </a:p>
          <a:p>
            <a:pPr>
              <a:spcBef>
                <a:spcPts val="200"/>
              </a:spcBef>
              <a:spcAft>
                <a:spcPts val="800"/>
              </a:spcAft>
            </a:pPr>
            <a:r>
              <a:rPr sz="1500" b="1" i="0">
                <a:solidFill>
                  <a:srgbClr val="303298"/>
                </a:solidFill>
                <a:latin typeface="Times New Roman"/>
              </a:rPr>
              <a:t>Objective 2: To develop </a:t>
            </a:r>
            <a:r>
              <a:rPr sz="1500" b="0" i="0">
                <a:solidFill>
                  <a:srgbClr val="1E293B"/>
                </a:solidFill>
                <a:latin typeface="Times New Roman"/>
              </a:rPr>
              <a:t>a high-throughput polyglot static discovery engine spanning seven programming ecosystems (Python, JS/TS, Java/Kotlin, Go, Rust, C/C++, and Infrastructure-as-Code configurations) to extract cryptographic primitives, key lengths, cipher modes, and library invocations with 41.2% false-positive reduction via comment-stripping.</a:t>
            </a:r>
          </a:p>
          <a:p>
            <a:pPr>
              <a:spcBef>
                <a:spcPts val="200"/>
              </a:spcBef>
              <a:spcAft>
                <a:spcPts val="800"/>
              </a:spcAft>
            </a:pPr>
            <a:r>
              <a:rPr sz="1500" b="1" i="0">
                <a:solidFill>
                  <a:srgbClr val="303298"/>
                </a:solidFill>
                <a:latin typeface="Times New Roman"/>
              </a:rPr>
              <a:t>Objective 3: To formulate </a:t>
            </a:r>
            <a:r>
              <a:rPr sz="1500" b="0" i="0">
                <a:solidFill>
                  <a:srgbClr val="1E293B"/>
                </a:solidFill>
                <a:latin typeface="Times New Roman"/>
              </a:rPr>
              <a:t>a normalized, bounded 7-factor deterministic heuristic risk model (allocating calibrated weights w1=0.25 to w7=0.10) operationalizing Mosca's Theorem (X + Y &gt; Z) into a continuous Quantum Exposure Timeline Index (QETI) and establishing an actionable 2D migration triage matrix.</a:t>
            </a:r>
          </a:p>
          <a:p>
            <a:pPr>
              <a:spcBef>
                <a:spcPts val="200"/>
              </a:spcBef>
              <a:spcAft>
                <a:spcPts val="800"/>
              </a:spcAft>
            </a:pPr>
            <a:r>
              <a:rPr sz="1500" b="1" i="0">
                <a:solidFill>
                  <a:srgbClr val="303298"/>
                </a:solidFill>
                <a:latin typeface="Times New Roman"/>
              </a:rPr>
              <a:t>Objective 4: To evaluate </a:t>
            </a:r>
            <a:r>
              <a:rPr sz="1500" b="0" i="0">
                <a:solidFill>
                  <a:srgbClr val="1E293B"/>
                </a:solidFill>
                <a:latin typeface="Times New Roman"/>
              </a:rPr>
              <a:t>dynamic graph representation learning via Graph Attention Networks v2 (GATv2) operating over 14-dimensional node feature vectors, rigorously framed as a weak-supervision knowledge distillation regularizer over code topologies to capture non-local structural risk propagation.</a:t>
            </a:r>
          </a:p>
          <a:p>
            <a:pPr>
              <a:spcBef>
                <a:spcPts val="200"/>
              </a:spcBef>
              <a:spcAft>
                <a:spcPts val="800"/>
              </a:spcAft>
            </a:pPr>
            <a:r>
              <a:rPr sz="1500" b="1" i="0">
                <a:solidFill>
                  <a:srgbClr val="303298"/>
                </a:solidFill>
                <a:latin typeface="Times New Roman"/>
              </a:rPr>
              <a:t>Objective 5: To validate </a:t>
            </a:r>
            <a:r>
              <a:rPr sz="1500" b="0" i="0">
                <a:solidFill>
                  <a:srgbClr val="1E293B"/>
                </a:solidFill>
                <a:latin typeface="Times New Roman"/>
              </a:rPr>
              <a:t>enterprise post-quantum governance through automated generation of CycloneDX v1.6 Cryptographic Bill of Materials (CBOM) with NIST FIPS 203–205 mappings, tamper-evident append-only SQLite audit trails with SHA-256 provenance hashing, and interactive 6-state migration lifecycle management.</a:t>
            </a:r>
          </a:p>
        </p:txBody>
      </p:sp>
      <p:sp>
        <p:nvSpPr>
          <p:cNvPr name="TextBox 5" id="5"/>
          <p:cNvSpPr txBox="true"/>
          <p:nvPr/>
        </p:nvSpPr>
        <p:spPr>
          <a:xfrm rot="0">
            <a:off x="16487676" y="920115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303298"/>
                </a:solidFill>
                <a:latin typeface="Times New Roman"/>
                <a:ea typeface="Times New Roman"/>
                <a:cs typeface="Times New Roman"/>
                <a:sym typeface="Times New Roman"/>
              </a:rPr>
              <a:t>Page 7</a:t>
            </a:r>
          </a:p>
        </p:txBody>
      </p:sp>
      <p:sp>
        <p:nvSpPr>
          <p:cNvPr name="TextBox 6" id="6"/>
          <p:cNvSpPr txBox="true"/>
          <p:nvPr/>
        </p:nvSpPr>
        <p:spPr>
          <a:xfrm rot="0">
            <a:off x="10974440" y="9201151"/>
            <a:ext cx="4939308" cy="358774"/>
          </a:xfrm>
          <a:prstGeom prst="rect">
            <a:avLst/>
          </a:prstGeom>
        </p:spPr>
        <p:txBody>
          <a:bodyPr anchor="t" rtlCol="false" tIns="0" lIns="0" bIns="0" rIns="0">
            <a:spAutoFit/>
          </a:bodyPr>
          <a:lstStyle/>
          <a:p>
            <a:pPr algn="ctr">
              <a:lnSpc>
                <a:spcPts val="2800"/>
              </a:lnSpc>
            </a:pPr>
            <a:r>
              <a:rPr lang="en-US" sz="2000">
                <a:solidFill>
                  <a:srgbClr val="303298"/>
                </a:solidFill>
                <a:latin typeface="Times New Roman"/>
                <a:ea typeface="Times New Roman"/>
                <a:cs typeface="Times New Roman"/>
                <a:sym typeface="Times New Roman"/>
              </a:rPr>
              <a:t>Dep</a:t>
            </a:r>
            <a:r>
              <a:rPr lang="en-US" sz="2000">
                <a:solidFill>
                  <a:srgbClr val="303298"/>
                </a:solidFill>
                <a:latin typeface="Times New Roman"/>
                <a:ea typeface="Times New Roman"/>
                <a:cs typeface="Times New Roman"/>
                <a:sym typeface="Times New Roman"/>
              </a:rPr>
              <a:t>artment of Cyber Security | NMAMIT, Nitte</a:t>
            </a:r>
          </a:p>
        </p:txBody>
      </p:sp>
      <p:sp>
        <p:nvSpPr>
          <p:cNvPr name="Freeform 7" id="7"/>
          <p:cNvSpPr/>
          <p:nvPr/>
        </p:nvSpPr>
        <p:spPr>
          <a:xfrm flipH="false" flipV="false" rot="0">
            <a:off x="1275982" y="1028700"/>
            <a:ext cx="1431244" cy="1509311"/>
          </a:xfrm>
          <a:custGeom>
            <a:avLst/>
            <a:gdLst/>
            <a:ahLst/>
            <a:cxnLst/>
            <a:rect r="r" b="b" t="t" l="l"/>
            <a:pathLst>
              <a:path h="1509311" w="1431244">
                <a:moveTo>
                  <a:pt x="0" y="0"/>
                </a:moveTo>
                <a:lnTo>
                  <a:pt x="1431244" y="0"/>
                </a:lnTo>
                <a:lnTo>
                  <a:pt x="1431244" y="1509311"/>
                </a:lnTo>
                <a:lnTo>
                  <a:pt x="0" y="1509311"/>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24088" y="506530"/>
            <a:ext cx="17415170" cy="9491267"/>
          </a:xfrm>
          <a:custGeom>
            <a:avLst/>
            <a:gdLst/>
            <a:ahLst/>
            <a:cxnLst/>
            <a:rect r="r" b="b" t="t" l="l"/>
            <a:pathLst>
              <a:path h="9491267" w="17415170">
                <a:moveTo>
                  <a:pt x="0" y="0"/>
                </a:moveTo>
                <a:lnTo>
                  <a:pt x="17415170" y="0"/>
                </a:lnTo>
                <a:lnTo>
                  <a:pt x="17415170" y="9491267"/>
                </a:lnTo>
                <a:lnTo>
                  <a:pt x="0" y="9491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a:r>
              <a:rPr sz="3200" b="1" i="0">
                <a:solidFill>
                  <a:srgbClr val="303298"/>
                </a:solidFill>
                <a:latin typeface="Times New Roman"/>
              </a:rPr>
              <a:t>LITERATURE SURVEY SUMMARY</a:t>
            </a:r>
          </a:p>
        </p:txBody>
      </p:sp>
      <p:sp>
        <p:nvSpPr>
          <p:cNvPr name="TextBox 3" id="3"/>
          <p:cNvSpPr txBox="true"/>
          <p:nvPr/>
        </p:nvSpPr>
        <p:spPr>
          <a:xfrm rot="0">
            <a:off x="16304121" y="920115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303298"/>
                </a:solidFill>
                <a:latin typeface="Times New Roman"/>
                <a:ea typeface="Times New Roman"/>
                <a:cs typeface="Times New Roman"/>
                <a:sym typeface="Times New Roman"/>
              </a:rPr>
              <a:t>Page 8</a:t>
            </a:r>
          </a:p>
        </p:txBody>
      </p:sp>
      <p:sp>
        <p:nvSpPr>
          <p:cNvPr name="TextBox 4" id="4"/>
          <p:cNvSpPr txBox="true"/>
          <p:nvPr/>
        </p:nvSpPr>
        <p:spPr>
          <a:xfrm rot="0">
            <a:off x="10690551" y="9201150"/>
            <a:ext cx="4939308" cy="358774"/>
          </a:xfrm>
          <a:prstGeom prst="rect">
            <a:avLst/>
          </a:prstGeom>
        </p:spPr>
        <p:txBody>
          <a:bodyPr anchor="t" rtlCol="false" tIns="0" lIns="0" bIns="0" rIns="0">
            <a:spAutoFit/>
          </a:bodyPr>
          <a:lstStyle/>
          <a:p>
            <a:pPr algn="ctr">
              <a:lnSpc>
                <a:spcPts val="2800"/>
              </a:lnSpc>
            </a:pPr>
            <a:r>
              <a:rPr lang="en-US" sz="2000">
                <a:solidFill>
                  <a:srgbClr val="303298"/>
                </a:solidFill>
                <a:latin typeface="Times New Roman"/>
                <a:ea typeface="Times New Roman"/>
                <a:cs typeface="Times New Roman"/>
                <a:sym typeface="Times New Roman"/>
              </a:rPr>
              <a:t>Dep</a:t>
            </a:r>
            <a:r>
              <a:rPr lang="en-US" sz="2000">
                <a:solidFill>
                  <a:srgbClr val="303298"/>
                </a:solidFill>
                <a:latin typeface="Times New Roman"/>
                <a:ea typeface="Times New Roman"/>
                <a:cs typeface="Times New Roman"/>
                <a:sym typeface="Times New Roman"/>
              </a:rPr>
              <a:t>artment of Cyber Security | NMAMIT, Nitte</a:t>
            </a:r>
          </a:p>
        </p:txBody>
      </p:sp>
      <p:sp>
        <p:nvSpPr>
          <p:cNvPr name="Freeform 5" id="5"/>
          <p:cNvSpPr/>
          <p:nvPr/>
        </p:nvSpPr>
        <p:spPr>
          <a:xfrm flipH="false" flipV="false" rot="0">
            <a:off x="1028700" y="848377"/>
            <a:ext cx="1431244" cy="1509311"/>
          </a:xfrm>
          <a:custGeom>
            <a:avLst/>
            <a:gdLst/>
            <a:ahLst/>
            <a:cxnLst/>
            <a:rect r="r" b="b" t="t" l="l"/>
            <a:pathLst>
              <a:path h="1509311" w="1431244">
                <a:moveTo>
                  <a:pt x="0" y="0"/>
                </a:moveTo>
                <a:lnTo>
                  <a:pt x="1431244" y="0"/>
                </a:lnTo>
                <a:lnTo>
                  <a:pt x="1431244" y="1509311"/>
                </a:lnTo>
                <a:lnTo>
                  <a:pt x="0" y="1509311"/>
                </a:lnTo>
                <a:lnTo>
                  <a:pt x="0" y="0"/>
                </a:lnTo>
                <a:close/>
              </a:path>
            </a:pathLst>
          </a:custGeom>
          <a:blipFill>
            <a:blip r:embed="rId4"/>
            <a:stretch>
              <a:fillRect l="0" t="0" r="0" b="0"/>
            </a:stretch>
          </a:blipFill>
        </p:spPr>
        <p:txBody>
          <a:bodyPr/>
          <a:p>
            <a:r>
              <a:rPr sz="3200" b="1" i="0">
                <a:solidFill>
                  <a:srgbClr val="303298"/>
                </a:solidFill>
                <a:latin typeface="Times New Roman"/>
              </a:rPr>
              <a:t>LITERATURE SURVEY SUMMARY</a:t>
            </a:r>
          </a:p>
        </p:txBody>
      </p:sp>
      <p:sp>
        <p:nvSpPr>
          <p:cNvPr id="6" name="TextBox 5"/>
          <p:cNvSpPr txBox="1"/>
          <p:nvPr/>
        </p:nvSpPr>
        <p:spPr>
          <a:xfrm>
            <a:off x="2560320" y="777240"/>
            <a:ext cx="13258800" cy="1051560"/>
          </a:xfrm>
          <a:prstGeom prst="rect">
            <a:avLst/>
          </a:prstGeom>
          <a:noFill/>
        </p:spPr>
        <p:txBody>
          <a:bodyPr wrap="square">
            <a:spAutoFit/>
          </a:bodyPr>
          <a:lstStyle/>
          <a:p>
            <a:pPr algn="l"/>
            <a:r>
              <a:rPr sz="3200" b="1" i="0">
                <a:solidFill>
                  <a:srgbClr val="303298"/>
                </a:solidFill>
                <a:latin typeface="Times New Roman"/>
              </a:rPr>
              <a:t>LITERATURE SURVEY SUMMARY</a:t>
            </a:r>
          </a:p>
        </p:txBody>
      </p:sp>
      <p:graphicFrame>
        <p:nvGraphicFramePr>
          <p:cNvPr id="7" name="Table 6"/>
          <p:cNvGraphicFramePr>
            <a:graphicFrameLocks noGrp="1"/>
          </p:cNvGraphicFramePr>
          <p:nvPr/>
        </p:nvGraphicFramePr>
        <p:xfrm>
          <a:off x="1645920" y="2103120"/>
          <a:ext cx="15179040" cy="6126480"/>
        </p:xfrm>
        <a:graphic>
          <a:graphicData uri="http://schemas.openxmlformats.org/drawingml/2006/table">
            <a:tbl>
              <a:tblPr firstRow="1" bandRow="1">
                <a:tableStyleId>{5C22544A-7EE6-4342-B048-85BDC9FD1C3A}</a:tableStyleId>
              </a:tblPr>
              <a:tblGrid>
                <a:gridCol w="2926080"/>
                <a:gridCol w="3291840"/>
                <a:gridCol w="5120640"/>
                <a:gridCol w="3840480"/>
              </a:tblGrid>
              <a:tr h="875211">
                <a:tc>
                  <a:txBody>
                    <a:bodyPr/>
                    <a:lstStyle/>
                    <a:p>
                      <a:pPr algn="ctr"/>
                      <a:r>
                        <a:rPr sz="1500" b="1" i="0">
                          <a:solidFill>
                            <a:srgbClr val="FFFFFF"/>
                          </a:solidFill>
                          <a:latin typeface="Times New Roman"/>
                        </a:rPr>
                        <a:t>Author / Standard</a:t>
                      </a:r>
                    </a:p>
                  </a:txBody>
                  <a:tcPr anchor="ctr">
                    <a:solidFill>
                      <a:srgbClr val="303298"/>
                    </a:solidFill>
                  </a:tcPr>
                </a:tc>
                <a:tc>
                  <a:txBody>
                    <a:bodyPr/>
                    <a:lstStyle/>
                    <a:p>
                      <a:pPr algn="ctr"/>
                      <a:r>
                        <a:rPr sz="1500" b="1" i="0">
                          <a:solidFill>
                            <a:srgbClr val="FFFFFF"/>
                          </a:solidFill>
                          <a:latin typeface="Times New Roman"/>
                        </a:rPr>
                        <a:t>Domain / Contribution</a:t>
                      </a:r>
                    </a:p>
                  </a:txBody>
                  <a:tcPr anchor="ctr">
                    <a:solidFill>
                      <a:srgbClr val="303298"/>
                    </a:solidFill>
                  </a:tcPr>
                </a:tc>
                <a:tc>
                  <a:txBody>
                    <a:bodyPr/>
                    <a:lstStyle/>
                    <a:p>
                      <a:pPr algn="ctr"/>
                      <a:r>
                        <a:rPr sz="1500" b="1" i="0">
                          <a:solidFill>
                            <a:srgbClr val="FFFFFF"/>
                          </a:solidFill>
                          <a:latin typeface="Times New Roman"/>
                        </a:rPr>
                        <a:t>Key Findings &amp; Methodology</a:t>
                      </a:r>
                    </a:p>
                  </a:txBody>
                  <a:tcPr anchor="ctr">
                    <a:solidFill>
                      <a:srgbClr val="303298"/>
                    </a:solidFill>
                  </a:tcPr>
                </a:tc>
                <a:tc>
                  <a:txBody>
                    <a:bodyPr/>
                    <a:lstStyle/>
                    <a:p>
                      <a:pPr algn="ctr"/>
                      <a:r>
                        <a:rPr sz="1500" b="1" i="0">
                          <a:solidFill>
                            <a:srgbClr val="FFFFFF"/>
                          </a:solidFill>
                          <a:latin typeface="Times New Roman"/>
                        </a:rPr>
                        <a:t>Research Gap / Limitation</a:t>
                      </a:r>
                    </a:p>
                  </a:txBody>
                  <a:tcPr anchor="ctr">
                    <a:solidFill>
                      <a:srgbClr val="303298"/>
                    </a:solidFill>
                  </a:tcPr>
                </a:tc>
              </a:tr>
              <a:tr h="875211">
                <a:tc>
                  <a:txBody>
                    <a:bodyPr/>
                    <a:lstStyle/>
                    <a:p>
                      <a:pPr algn="l"/>
                      <a:r>
                        <a:rPr sz="1300" b="1" i="0">
                          <a:solidFill>
                            <a:srgbClr val="1E293B"/>
                          </a:solidFill>
                          <a:latin typeface="Times New Roman"/>
                        </a:rPr>
                        <a:t>NIST FIPS 203/204/205 (Aug 2024)</a:t>
                      </a:r>
                    </a:p>
                  </a:txBody>
                  <a:tcPr anchor="ctr">
                    <a:solidFill>
                      <a:srgbClr val="FFFFFF"/>
                    </a:solidFill>
                  </a:tcPr>
                </a:tc>
                <a:tc>
                  <a:txBody>
                    <a:bodyPr/>
                    <a:lstStyle/>
                    <a:p>
                      <a:pPr algn="l"/>
                      <a:r>
                        <a:rPr sz="1300" b="0" i="0">
                          <a:solidFill>
                            <a:srgbClr val="1E293B"/>
                          </a:solidFill>
                          <a:latin typeface="Times New Roman"/>
                        </a:rPr>
                        <a:t>Post-Quantum Cryptography Standards</a:t>
                      </a:r>
                    </a:p>
                  </a:txBody>
                  <a:tcPr anchor="ctr">
                    <a:solidFill>
                      <a:srgbClr val="FFFFFF"/>
                    </a:solidFill>
                  </a:tcPr>
                </a:tc>
                <a:tc>
                  <a:txBody>
                    <a:bodyPr/>
                    <a:lstStyle/>
                    <a:p>
                      <a:pPr algn="l"/>
                      <a:r>
                        <a:rPr sz="1300" b="0" i="0">
                          <a:solidFill>
                            <a:srgbClr val="1E293B"/>
                          </a:solidFill>
                          <a:latin typeface="Times New Roman"/>
                        </a:rPr>
                        <a:t>Standardized ML-KEM, ML-DSA, and SLH-DSA as definitive post-quantum migration targets.</a:t>
                      </a:r>
                    </a:p>
                  </a:txBody>
                  <a:tcPr anchor="ctr">
                    <a:solidFill>
                      <a:srgbClr val="FFFFFF"/>
                    </a:solidFill>
                  </a:tcPr>
                </a:tc>
                <a:tc>
                  <a:txBody>
                    <a:bodyPr/>
                    <a:lstStyle/>
                    <a:p>
                      <a:pPr algn="l"/>
                      <a:r>
                        <a:rPr sz="1300" b="0" i="0">
                          <a:solidFill>
                            <a:srgbClr val="1E293B"/>
                          </a:solidFill>
                          <a:latin typeface="Times New Roman"/>
                        </a:rPr>
                        <a:t>Standards specification; does not provide tools to discover existing legacy assets in code.</a:t>
                      </a:r>
                    </a:p>
                  </a:txBody>
                  <a:tcPr anchor="ctr">
                    <a:solidFill>
                      <a:srgbClr val="FFFFFF"/>
                    </a:solidFill>
                  </a:tcPr>
                </a:tc>
              </a:tr>
              <a:tr h="875211">
                <a:tc>
                  <a:txBody>
                    <a:bodyPr/>
                    <a:lstStyle/>
                    <a:p>
                      <a:pPr algn="l"/>
                      <a:r>
                        <a:rPr sz="1300" b="1" i="0">
                          <a:solidFill>
                            <a:srgbClr val="1E293B"/>
                          </a:solidFill>
                          <a:latin typeface="Times New Roman"/>
                        </a:rPr>
                        <a:t>M. Mosca (IEEE S&amp;P 2018)</a:t>
                      </a:r>
                    </a:p>
                  </a:txBody>
                  <a:tcPr anchor="ctr">
                    <a:solidFill>
                      <a:srgbClr val="F8FAFC"/>
                    </a:solidFill>
                  </a:tcPr>
                </a:tc>
                <a:tc>
                  <a:txBody>
                    <a:bodyPr/>
                    <a:lstStyle/>
                    <a:p>
                      <a:pPr algn="l"/>
                      <a:r>
                        <a:rPr sz="1300" b="0" i="0">
                          <a:solidFill>
                            <a:srgbClr val="1E293B"/>
                          </a:solidFill>
                          <a:latin typeface="Times New Roman"/>
                        </a:rPr>
                        <a:t>Quantum Risk Theorem</a:t>
                      </a:r>
                    </a:p>
                  </a:txBody>
                  <a:tcPr anchor="ctr">
                    <a:solidFill>
                      <a:srgbClr val="F8FAFC"/>
                    </a:solidFill>
                  </a:tcPr>
                </a:tc>
                <a:tc>
                  <a:txBody>
                    <a:bodyPr/>
                    <a:lstStyle/>
                    <a:p>
                      <a:pPr algn="l"/>
                      <a:r>
                        <a:rPr sz="1300" b="0" i="0">
                          <a:solidFill>
                            <a:srgbClr val="1E293B"/>
                          </a:solidFill>
                          <a:latin typeface="Times New Roman"/>
                        </a:rPr>
                        <a:t>Formulated U = (X+Y)/Z timing inequality defining when migration must begin to avoid compromise.</a:t>
                      </a:r>
                    </a:p>
                  </a:txBody>
                  <a:tcPr anchor="ctr">
                    <a:solidFill>
                      <a:srgbClr val="F8FAFC"/>
                    </a:solidFill>
                  </a:tcPr>
                </a:tc>
                <a:tc>
                  <a:txBody>
                    <a:bodyPr/>
                    <a:lstStyle/>
                    <a:p>
                      <a:pPr algn="l"/>
                      <a:r>
                        <a:rPr sz="1300" b="0" i="0">
                          <a:solidFill>
                            <a:srgbClr val="1E293B"/>
                          </a:solidFill>
                          <a:latin typeface="Times New Roman"/>
                        </a:rPr>
                        <a:t>Theoretical mathematical formulation without code-level scanning or dependency modeling.</a:t>
                      </a:r>
                    </a:p>
                  </a:txBody>
                  <a:tcPr anchor="ctr">
                    <a:solidFill>
                      <a:srgbClr val="F8FAFC"/>
                    </a:solidFill>
                  </a:tcPr>
                </a:tc>
              </a:tr>
              <a:tr h="875211">
                <a:tc>
                  <a:txBody>
                    <a:bodyPr/>
                    <a:lstStyle/>
                    <a:p>
                      <a:pPr algn="l"/>
                      <a:r>
                        <a:rPr sz="1300" b="1" i="0">
                          <a:solidFill>
                            <a:srgbClr val="1E293B"/>
                          </a:solidFill>
                          <a:latin typeface="Times New Roman"/>
                        </a:rPr>
                        <a:t>M. Egele et al. (ACM CCS 2013)</a:t>
                      </a:r>
                    </a:p>
                  </a:txBody>
                  <a:tcPr anchor="ctr">
                    <a:solidFill>
                      <a:srgbClr val="FFFFFF"/>
                    </a:solidFill>
                  </a:tcPr>
                </a:tc>
                <a:tc>
                  <a:txBody>
                    <a:bodyPr/>
                    <a:lstStyle/>
                    <a:p>
                      <a:pPr algn="l"/>
                      <a:r>
                        <a:rPr sz="1300" b="0" i="0">
                          <a:solidFill>
                            <a:srgbClr val="1E293B"/>
                          </a:solidFill>
                          <a:latin typeface="Times New Roman"/>
                        </a:rPr>
                        <a:t>CryptoLint (Static Analysis)</a:t>
                      </a:r>
                    </a:p>
                  </a:txBody>
                  <a:tcPr anchor="ctr">
                    <a:solidFill>
                      <a:srgbClr val="FFFFFF"/>
                    </a:solidFill>
                  </a:tcPr>
                </a:tc>
                <a:tc>
                  <a:txBody>
                    <a:bodyPr/>
                    <a:lstStyle/>
                    <a:p>
                      <a:pPr algn="l"/>
                      <a:r>
                        <a:rPr sz="1300" b="0" i="0">
                          <a:solidFill>
                            <a:srgbClr val="1E293B"/>
                          </a:solidFill>
                          <a:latin typeface="Times New Roman"/>
                        </a:rPr>
                        <a:t>Pioneered rule-based static checking for 6 cryptographic misuses in Android Java bytecode.</a:t>
                      </a:r>
                    </a:p>
                  </a:txBody>
                  <a:tcPr anchor="ctr">
                    <a:solidFill>
                      <a:srgbClr val="FFFFFF"/>
                    </a:solidFill>
                  </a:tcPr>
                </a:tc>
                <a:tc>
                  <a:txBody>
                    <a:bodyPr/>
                    <a:lstStyle/>
                    <a:p>
                      <a:pPr algn="l"/>
                      <a:r>
                        <a:rPr sz="1300" b="0" i="0">
                          <a:solidFill>
                            <a:srgbClr val="1E293B"/>
                          </a:solidFill>
                          <a:latin typeface="Times New Roman"/>
                        </a:rPr>
                        <a:t>Rule-based and limited to Android Java; lacks property graph topology and post-quantum triage.</a:t>
                      </a:r>
                    </a:p>
                  </a:txBody>
                  <a:tcPr anchor="ctr">
                    <a:solidFill>
                      <a:srgbClr val="FFFFFF"/>
                    </a:solidFill>
                  </a:tcPr>
                </a:tc>
              </a:tr>
              <a:tr h="875211">
                <a:tc>
                  <a:txBody>
                    <a:bodyPr/>
                    <a:lstStyle/>
                    <a:p>
                      <a:pPr algn="l"/>
                      <a:r>
                        <a:rPr sz="1300" b="1" i="0">
                          <a:solidFill>
                            <a:srgbClr val="1E293B"/>
                          </a:solidFill>
                          <a:latin typeface="Times New Roman"/>
                        </a:rPr>
                        <a:t>S. Krüger et al. (ASE 2017)</a:t>
                      </a:r>
                    </a:p>
                  </a:txBody>
                  <a:tcPr anchor="ctr">
                    <a:solidFill>
                      <a:srgbClr val="F8FAFC"/>
                    </a:solidFill>
                  </a:tcPr>
                </a:tc>
                <a:tc>
                  <a:txBody>
                    <a:bodyPr/>
                    <a:lstStyle/>
                    <a:p>
                      <a:pPr algn="l"/>
                      <a:r>
                        <a:rPr sz="1300" b="0" i="0">
                          <a:solidFill>
                            <a:srgbClr val="1E293B"/>
                          </a:solidFill>
                          <a:latin typeface="Times New Roman"/>
                        </a:rPr>
                        <a:t>CogniCrypt (Developer Tool)</a:t>
                      </a:r>
                    </a:p>
                  </a:txBody>
                  <a:tcPr anchor="ctr">
                    <a:solidFill>
                      <a:srgbClr val="F8FAFC"/>
                    </a:solidFill>
                  </a:tcPr>
                </a:tc>
                <a:tc>
                  <a:txBody>
                    <a:bodyPr/>
                    <a:lstStyle/>
                    <a:p>
                      <a:pPr algn="l"/>
                      <a:r>
                        <a:rPr sz="1300" b="0" i="0">
                          <a:solidFill>
                            <a:srgbClr val="1E293B"/>
                          </a:solidFill>
                          <a:latin typeface="Times New Roman"/>
                        </a:rPr>
                        <a:t>Static analysis IDE plugin enforcing cryptographic misuse rules via CrySL specifications.</a:t>
                      </a:r>
                    </a:p>
                  </a:txBody>
                  <a:tcPr anchor="ctr">
                    <a:solidFill>
                      <a:srgbClr val="F8FAFC"/>
                    </a:solidFill>
                  </a:tcPr>
                </a:tc>
                <a:tc>
                  <a:txBody>
                    <a:bodyPr/>
                    <a:lstStyle/>
                    <a:p>
                      <a:pPr algn="l"/>
                      <a:r>
                        <a:rPr sz="1300" b="0" i="0">
                          <a:solidFill>
                            <a:srgbClr val="1E293B"/>
                          </a:solidFill>
                          <a:latin typeface="Times New Roman"/>
                        </a:rPr>
                        <a:t>Developer/file-centric; does not build enterprise-wide dependency graphs or PQC roadmaps.</a:t>
                      </a:r>
                    </a:p>
                  </a:txBody>
                  <a:tcPr anchor="ctr">
                    <a:solidFill>
                      <a:srgbClr val="F8FAFC"/>
                    </a:solidFill>
                  </a:tcPr>
                </a:tc>
              </a:tr>
              <a:tr h="875211">
                <a:tc>
                  <a:txBody>
                    <a:bodyPr/>
                    <a:lstStyle/>
                    <a:p>
                      <a:pPr algn="l"/>
                      <a:r>
                        <a:rPr sz="1300" b="1" i="0">
                          <a:solidFill>
                            <a:srgbClr val="1E293B"/>
                          </a:solidFill>
                          <a:latin typeface="Times New Roman"/>
                        </a:rPr>
                        <a:t>S. Brody et al. (ICLR 2022)</a:t>
                      </a:r>
                    </a:p>
                  </a:txBody>
                  <a:tcPr anchor="ctr">
                    <a:solidFill>
                      <a:srgbClr val="FFFFFF"/>
                    </a:solidFill>
                  </a:tcPr>
                </a:tc>
                <a:tc>
                  <a:txBody>
                    <a:bodyPr/>
                    <a:lstStyle/>
                    <a:p>
                      <a:pPr algn="l"/>
                      <a:r>
                        <a:rPr sz="1300" b="0" i="0">
                          <a:solidFill>
                            <a:srgbClr val="1E293B"/>
                          </a:solidFill>
                          <a:latin typeface="Times New Roman"/>
                        </a:rPr>
                        <a:t>GATv2 Graph Attention</a:t>
                      </a:r>
                    </a:p>
                  </a:txBody>
                  <a:tcPr anchor="ctr">
                    <a:solidFill>
                      <a:srgbClr val="FFFFFF"/>
                    </a:solidFill>
                  </a:tcPr>
                </a:tc>
                <a:tc>
                  <a:txBody>
                    <a:bodyPr/>
                    <a:lstStyle/>
                    <a:p>
                      <a:pPr algn="l"/>
                      <a:r>
                        <a:rPr sz="1300" b="0" i="0">
                          <a:solidFill>
                            <a:srgbClr val="1E293B"/>
                          </a:solidFill>
                          <a:latin typeface="Times New Roman"/>
                        </a:rPr>
                        <a:t>Introduced dynamic graph attention fixing standard GAT expressiveness bottlenecks.</a:t>
                      </a:r>
                    </a:p>
                  </a:txBody>
                  <a:tcPr anchor="ctr">
                    <a:solidFill>
                      <a:srgbClr val="FFFFFF"/>
                    </a:solidFill>
                  </a:tcPr>
                </a:tc>
                <a:tc>
                  <a:txBody>
                    <a:bodyPr/>
                    <a:lstStyle/>
                    <a:p>
                      <a:pPr algn="l"/>
                      <a:r>
                        <a:rPr sz="1300" b="0" i="0">
                          <a:solidFill>
                            <a:srgbClr val="1E293B"/>
                          </a:solidFill>
                          <a:latin typeface="Times New Roman"/>
                        </a:rPr>
                        <a:t>Evaluated on general graph benchmarks, not on cryptographic risk propagation graphs.</a:t>
                      </a:r>
                    </a:p>
                  </a:txBody>
                  <a:tcPr anchor="ctr">
                    <a:solidFill>
                      <a:srgbClr val="FFFFFF"/>
                    </a:solidFill>
                  </a:tcPr>
                </a:tc>
              </a:tr>
              <a:tr h="875214">
                <a:tc>
                  <a:txBody>
                    <a:bodyPr/>
                    <a:lstStyle/>
                    <a:p>
                      <a:pPr algn="l"/>
                      <a:r>
                        <a:rPr sz="1300" b="1" i="0">
                          <a:solidFill>
                            <a:srgbClr val="1E293B"/>
                          </a:solidFill>
                          <a:latin typeface="Times New Roman"/>
                        </a:rPr>
                        <a:t>OWASP CycloneDX v1.6 (2024)</a:t>
                      </a:r>
                    </a:p>
                  </a:txBody>
                  <a:tcPr anchor="ctr">
                    <a:solidFill>
                      <a:srgbClr val="F8FAFC"/>
                    </a:solidFill>
                  </a:tcPr>
                </a:tc>
                <a:tc>
                  <a:txBody>
                    <a:bodyPr/>
                    <a:lstStyle/>
                    <a:p>
                      <a:pPr algn="l"/>
                      <a:r>
                        <a:rPr sz="1300" b="0" i="0">
                          <a:solidFill>
                            <a:srgbClr val="1E293B"/>
                          </a:solidFill>
                          <a:latin typeface="Times New Roman"/>
                        </a:rPr>
                        <a:t>CBOM Specification</a:t>
                      </a:r>
                    </a:p>
                  </a:txBody>
                  <a:tcPr anchor="ctr">
                    <a:solidFill>
                      <a:srgbClr val="F8FAFC"/>
                    </a:solidFill>
                  </a:tcPr>
                </a:tc>
                <a:tc>
                  <a:txBody>
                    <a:bodyPr/>
                    <a:lstStyle/>
                    <a:p>
                      <a:pPr algn="l"/>
                      <a:r>
                        <a:rPr sz="1300" b="0" i="0">
                          <a:solidFill>
                            <a:srgbClr val="1E293B"/>
                          </a:solidFill>
                          <a:latin typeface="Times New Roman"/>
                        </a:rPr>
                        <a:t>Established standard schema for Cryptographic Bill of Materials (algorithms, certs, keys).</a:t>
                      </a:r>
                    </a:p>
                  </a:txBody>
                  <a:tcPr anchor="ctr">
                    <a:solidFill>
                      <a:srgbClr val="F8FAFC"/>
                    </a:solidFill>
                  </a:tcPr>
                </a:tc>
                <a:tc>
                  <a:txBody>
                    <a:bodyPr/>
                    <a:lstStyle/>
                    <a:p>
                      <a:pPr algn="l"/>
                      <a:r>
                        <a:rPr sz="1300" b="0" i="0">
                          <a:solidFill>
                            <a:srgbClr val="1E293B"/>
                          </a:solidFill>
                          <a:latin typeface="Times New Roman"/>
                        </a:rPr>
                        <a:t>Produces flat asset manifests without graph call paths, composite risk scores, or lifecycle roadmaps.</a:t>
                      </a:r>
                    </a:p>
                  </a:txBody>
                  <a:tcPr anchor="ctr">
                    <a:solidFill>
                      <a:srgbClr val="F8FAFC"/>
                    </a:solidFill>
                  </a:tcPr>
                </a:tc>
              </a:tr>
            </a:tbl>
          </a:graphicData>
        </a:graphic>
      </p:graphicFrame>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24088" y="506530"/>
            <a:ext cx="17415170" cy="9491267"/>
          </a:xfrm>
          <a:custGeom>
            <a:avLst/>
            <a:gdLst/>
            <a:ahLst/>
            <a:cxnLst/>
            <a:rect r="r" b="b" t="t" l="l"/>
            <a:pathLst>
              <a:path h="9491267" w="17415170">
                <a:moveTo>
                  <a:pt x="0" y="0"/>
                </a:moveTo>
                <a:lnTo>
                  <a:pt x="17415170" y="0"/>
                </a:lnTo>
                <a:lnTo>
                  <a:pt x="17415170" y="9491267"/>
                </a:lnTo>
                <a:lnTo>
                  <a:pt x="0" y="9491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6459597" y="920115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303298"/>
                </a:solidFill>
                <a:latin typeface="Times New Roman"/>
                <a:ea typeface="Times New Roman"/>
                <a:cs typeface="Times New Roman"/>
                <a:sym typeface="Times New Roman"/>
              </a:rPr>
              <a:t>Page 9</a:t>
            </a:r>
          </a:p>
        </p:txBody>
      </p:sp>
      <p:sp>
        <p:nvSpPr>
          <p:cNvPr name="TextBox 4" id="4"/>
          <p:cNvSpPr txBox="true"/>
          <p:nvPr/>
        </p:nvSpPr>
        <p:spPr>
          <a:xfrm rot="0">
            <a:off x="3659651" y="947395"/>
            <a:ext cx="11534875" cy="1149350"/>
          </a:xfrm>
          <a:prstGeom prst="rect">
            <a:avLst/>
          </a:prstGeom>
        </p:spPr>
        <p:txBody>
          <a:bodyPr anchor="t" rtlCol="false" tIns="0" lIns="0" bIns="0" rIns="0" wrap="square">
            <a:spAutoFit/>
          </a:bodyPr>
          <a:lstStyle/>
          <a:p>
            <a:pPr algn="l">
              <a:lnSpc>
                <a:spcPts val="9100"/>
              </a:lnSpc>
            </a:pPr>
            <a:r>
              <a:rPr sz="3200" b="1" i="0">
                <a:solidFill>
                  <a:srgbClr val="303298"/>
                </a:solidFill>
                <a:latin typeface="Times New Roman"/>
              </a:rPr>
              <a:t>PROPOSED METHODOLOGY</a:t>
            </a:r>
          </a:p>
        </p:txBody>
      </p:sp>
      <p:sp>
        <p:nvSpPr>
          <p:cNvPr name="TextBox 5" id="5"/>
          <p:cNvSpPr txBox="true"/>
          <p:nvPr/>
        </p:nvSpPr>
        <p:spPr>
          <a:xfrm rot="0">
            <a:off x="1828800" y="2011680"/>
            <a:ext cx="13258800" cy="6400800"/>
          </a:xfrm>
          <a:prstGeom prst="rect">
            <a:avLst/>
          </a:prstGeom>
        </p:spPr>
        <p:txBody>
          <a:bodyPr anchor="t" rtlCol="false" tIns="0" lIns="0" bIns="0" rIns="0" wrap="square">
            <a:spAutoFit/>
          </a:bodyPr>
          <a:lstStyle/>
          <a:p>
            <a:pPr algn="ctr">
              <a:lnSpc>
                <a:spcPts val="4759"/>
              </a:lnSpc>
            </a:pPr>
          </a:p>
          <a:p>
            <a:pPr algn="l" marL="734059" indent="-367030" lvl="1">
              <a:lnSpc>
                <a:spcPts val="4759"/>
              </a:lnSpc>
              <a:buAutoNum type="arabicPeriod" startAt="1"/>
            </a:pPr>
          </a:p>
          <a:p>
            <a:pPr algn="ctr">
              <a:lnSpc>
                <a:spcPts val="4759"/>
              </a:lnSpc>
            </a:pPr>
          </a:p>
          <a:p>
            <a:pPr algn="ctr">
              <a:lnSpc>
                <a:spcPts val="4759"/>
              </a:lnSpc>
            </a:pPr>
          </a:p>
          <a:p>
            <a:pPr algn="ctr">
              <a:lnSpc>
                <a:spcPts val="4759"/>
              </a:lnSpc>
            </a:pPr>
          </a:p>
          <a:p>
            <a:pPr algn="ctr">
              <a:lnSpc>
                <a:spcPts val="4759"/>
              </a:lnSpc>
            </a:pPr>
          </a:p>
          <a:p>
            <a:pPr>
              <a:spcBef>
                <a:spcPts val="200"/>
              </a:spcBef>
              <a:spcAft>
                <a:spcPts val="800"/>
              </a:spcAft>
            </a:pPr>
            <a:r>
              <a:rPr sz="1500" b="1" i="0">
                <a:solidFill>
                  <a:srgbClr val="303298"/>
                </a:solidFill>
                <a:latin typeface="Times New Roman"/>
              </a:rPr>
              <a:t>1. Overall Methodology: </a:t>
            </a:r>
            <a:r>
              <a:rPr sz="1500" b="0" i="0">
                <a:solidFill>
                  <a:srgbClr val="1E293B"/>
                </a:solidFill>
                <a:latin typeface="Times New Roman"/>
              </a:rPr>
              <a:t>A decoupled, multi-tier enterprise architecture separating polyglot static discovery, heterogeneous property graph modeling, deterministic heuristic compliance, GATv2 topological representation learning, and audit governance.</a:t>
            </a:r>
          </a:p>
          <a:p>
            <a:pPr>
              <a:spcBef>
                <a:spcPts val="200"/>
              </a:spcBef>
              <a:spcAft>
                <a:spcPts val="800"/>
              </a:spcAft>
            </a:pPr>
            <a:r>
              <a:rPr sz="1500" b="1" i="0">
                <a:solidFill>
                  <a:srgbClr val="303298"/>
                </a:solidFill>
                <a:latin typeface="Times New Roman"/>
              </a:rPr>
              <a:t>2. Block Diagram / Flow Chart: </a:t>
            </a:r>
            <a:r>
              <a:rPr sz="1500" b="0" i="0">
                <a:solidFill>
                  <a:srgbClr val="1E293B"/>
                </a:solidFill>
                <a:latin typeface="Times New Roman"/>
              </a:rPr>
              <a:t>Sequential data ingestion and analysis pipeline transforming raw source trees into validated NetworkX property graphs, 14-dimensional feature matrices, trained GATv2 embeddings, and CycloneDX v1.6 CBOM deliverables.</a:t>
            </a:r>
          </a:p>
          <a:p>
            <a:pPr>
              <a:spcBef>
                <a:spcPts val="200"/>
              </a:spcBef>
              <a:spcAft>
                <a:spcPts val="800"/>
              </a:spcAft>
            </a:pPr>
            <a:r>
              <a:rPr sz="1500" b="1" i="0">
                <a:solidFill>
                  <a:srgbClr val="303298"/>
                </a:solidFill>
                <a:latin typeface="Times New Roman"/>
              </a:rPr>
              <a:t>3. System Architecture: </a:t>
            </a:r>
            <a:r>
              <a:rPr sz="1500" b="0" i="0">
                <a:solidFill>
                  <a:srgbClr val="1E293B"/>
                </a:solidFill>
                <a:latin typeface="Times New Roman"/>
              </a:rPr>
              <a:t>Six cohesive architectural tiers: (1) Ingestion &amp; Polyglot Parsing; (2) Knowledge Graph Construction; (3) Deterministic Heuristic Risk &amp; Mosca Engine; (4) GATv2 Graph Representation Learning; (5) Cryptographic Persistence &amp; Audit; (6) Interactive Visualization &amp; Governance Dashboard.</a:t>
            </a:r>
          </a:p>
          <a:p>
            <a:pPr>
              <a:spcBef>
                <a:spcPts val="200"/>
              </a:spcBef>
              <a:spcAft>
                <a:spcPts val="800"/>
              </a:spcAft>
            </a:pPr>
            <a:r>
              <a:rPr sz="1500" b="1" i="0">
                <a:solidFill>
                  <a:srgbClr val="303298"/>
                </a:solidFill>
                <a:latin typeface="Times New Roman"/>
              </a:rPr>
              <a:t>4. Design Approach: </a:t>
            </a:r>
            <a:r>
              <a:rPr sz="1500" b="0" i="0">
                <a:solidFill>
                  <a:srgbClr val="1E293B"/>
                </a:solidFill>
                <a:latin typeface="Times New Roman"/>
              </a:rPr>
              <a:t>Strict separation of compliance ground truth (expert 7-factor heuristic engine grounded in NIST standards) from relational machine learning (GATv2 dynamic attention regularizing risk over code topologies under weak supervision).</a:t>
            </a:r>
          </a:p>
          <a:p>
            <a:pPr>
              <a:spcBef>
                <a:spcPts val="200"/>
              </a:spcBef>
              <a:spcAft>
                <a:spcPts val="800"/>
              </a:spcAft>
            </a:pPr>
            <a:r>
              <a:rPr sz="1500" b="1" i="0">
                <a:solidFill>
                  <a:srgbClr val="303298"/>
                </a:solidFill>
                <a:latin typeface="Times New Roman"/>
              </a:rPr>
              <a:t>5. Software / Hardware Tools Used: </a:t>
            </a:r>
            <a:r>
              <a:rPr sz="1500" b="0" i="0">
                <a:solidFill>
                  <a:srgbClr val="1E293B"/>
                </a:solidFill>
                <a:latin typeface="Times New Roman"/>
              </a:rPr>
              <a:t>Python 3.13, PyTorch 2.3.0, PyTorch Geometric 2.5.3, NetworkX 3.4, FastAPI, React 18, TypeScript, TailwindCSS, SQLite, Intel Core i7-12700H, 32 GB DDR5 RAM, NVIDIA GeForce RTX 3060.</a:t>
            </a:r>
          </a:p>
        </p:txBody>
      </p:sp>
      <p:sp>
        <p:nvSpPr>
          <p:cNvPr name="TextBox 6" id="6"/>
          <p:cNvSpPr txBox="true"/>
          <p:nvPr/>
        </p:nvSpPr>
        <p:spPr>
          <a:xfrm rot="0">
            <a:off x="10899781" y="9201150"/>
            <a:ext cx="4939308" cy="358774"/>
          </a:xfrm>
          <a:prstGeom prst="rect">
            <a:avLst/>
          </a:prstGeom>
        </p:spPr>
        <p:txBody>
          <a:bodyPr anchor="t" rtlCol="false" tIns="0" lIns="0" bIns="0" rIns="0">
            <a:spAutoFit/>
          </a:bodyPr>
          <a:lstStyle/>
          <a:p>
            <a:pPr algn="ctr">
              <a:lnSpc>
                <a:spcPts val="2800"/>
              </a:lnSpc>
            </a:pPr>
            <a:r>
              <a:rPr lang="en-US" sz="2000">
                <a:solidFill>
                  <a:srgbClr val="303298"/>
                </a:solidFill>
                <a:latin typeface="Times New Roman"/>
                <a:ea typeface="Times New Roman"/>
                <a:cs typeface="Times New Roman"/>
                <a:sym typeface="Times New Roman"/>
              </a:rPr>
              <a:t>Dep</a:t>
            </a:r>
            <a:r>
              <a:rPr lang="en-US" sz="2000">
                <a:solidFill>
                  <a:srgbClr val="303298"/>
                </a:solidFill>
                <a:latin typeface="Times New Roman"/>
                <a:ea typeface="Times New Roman"/>
                <a:cs typeface="Times New Roman"/>
                <a:sym typeface="Times New Roman"/>
              </a:rPr>
              <a:t>artment of Cyber Security | NMAMIT, Nitte</a:t>
            </a:r>
          </a:p>
        </p:txBody>
      </p:sp>
      <p:sp>
        <p:nvSpPr>
          <p:cNvPr name="Freeform 7" id="7"/>
          <p:cNvSpPr/>
          <p:nvPr/>
        </p:nvSpPr>
        <p:spPr>
          <a:xfrm flipH="false" flipV="false" rot="0">
            <a:off x="1028700" y="848377"/>
            <a:ext cx="1431244" cy="1509311"/>
          </a:xfrm>
          <a:custGeom>
            <a:avLst/>
            <a:gdLst/>
            <a:ahLst/>
            <a:cxnLst/>
            <a:rect r="r" b="b" t="t" l="l"/>
            <a:pathLst>
              <a:path h="1509311" w="1431244">
                <a:moveTo>
                  <a:pt x="0" y="0"/>
                </a:moveTo>
                <a:lnTo>
                  <a:pt x="1431244" y="0"/>
                </a:lnTo>
                <a:lnTo>
                  <a:pt x="1431244" y="1509311"/>
                </a:lnTo>
                <a:lnTo>
                  <a:pt x="0" y="1509311"/>
                </a:lnTo>
                <a:lnTo>
                  <a:pt x="0" y="0"/>
                </a:lnTo>
                <a:close/>
              </a:path>
            </a:pathLst>
          </a:custGeom>
          <a:blipFill>
            <a:blip r:embed="rId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24088" y="506530"/>
            <a:ext cx="17415170" cy="9491267"/>
          </a:xfrm>
          <a:custGeom>
            <a:avLst/>
            <a:gdLst/>
            <a:ahLst/>
            <a:cxnLst/>
            <a:rect r="r" b="b" t="t" l="l"/>
            <a:pathLst>
              <a:path h="9491267" w="17415170">
                <a:moveTo>
                  <a:pt x="0" y="0"/>
                </a:moveTo>
                <a:lnTo>
                  <a:pt x="17415170" y="0"/>
                </a:lnTo>
                <a:lnTo>
                  <a:pt x="17415170" y="9491267"/>
                </a:lnTo>
                <a:lnTo>
                  <a:pt x="0" y="9491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6342618" y="920115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303298"/>
                </a:solidFill>
                <a:latin typeface="Times New Roman"/>
                <a:ea typeface="Times New Roman"/>
                <a:cs typeface="Times New Roman"/>
                <a:sym typeface="Times New Roman"/>
              </a:rPr>
              <a:t>Page 10</a:t>
            </a:r>
          </a:p>
        </p:txBody>
      </p:sp>
      <p:sp>
        <p:nvSpPr>
          <p:cNvPr name="TextBox 4" id="4"/>
          <p:cNvSpPr txBox="true"/>
          <p:nvPr/>
        </p:nvSpPr>
        <p:spPr>
          <a:xfrm rot="0">
            <a:off x="2859707" y="2788531"/>
            <a:ext cx="12685903" cy="3599815"/>
          </a:xfrm>
          <a:prstGeom prst="rect">
            <a:avLst/>
          </a:prstGeom>
        </p:spPr>
        <p:txBody>
          <a:bodyPr anchor="t" rtlCol="false" tIns="0" lIns="0" bIns="0" rIns="0">
            <a:spAutoFit/>
          </a:bodyPr>
          <a:lstStyle/>
          <a:p>
            <a:pPr algn="ctr">
              <a:lnSpc>
                <a:spcPts val="4759"/>
              </a:lnSpc>
            </a:pPr>
            <a:r>
              <a:rPr sz="3000" b="1" i="0">
                <a:solidFill>
                  <a:srgbClr val="303298"/>
                </a:solidFill>
                <a:latin typeface="Times New Roman"/>
              </a:rPr>
              <a:t>METHODOLOGY: END-TO-END PIPELINE &amp; WORKFLOW</a:t>
            </a:r>
          </a:p>
          <a:p>
            <a:pPr algn="ctr">
              <a:lnSpc>
                <a:spcPts val="4759"/>
              </a:lnSpc>
            </a:pPr>
          </a:p>
          <a:p>
            <a:pPr algn="ctr">
              <a:lnSpc>
                <a:spcPts val="4759"/>
              </a:lnSpc>
            </a:pPr>
          </a:p>
        </p:txBody>
      </p:sp>
      <p:sp>
        <p:nvSpPr>
          <p:cNvPr name="TextBox 5" id="5"/>
          <p:cNvSpPr txBox="true"/>
          <p:nvPr/>
        </p:nvSpPr>
        <p:spPr>
          <a:xfrm rot="0">
            <a:off x="10725422" y="9201151"/>
            <a:ext cx="4939308" cy="358774"/>
          </a:xfrm>
          <a:prstGeom prst="rect">
            <a:avLst/>
          </a:prstGeom>
        </p:spPr>
        <p:txBody>
          <a:bodyPr anchor="t" rtlCol="false" tIns="0" lIns="0" bIns="0" rIns="0">
            <a:spAutoFit/>
          </a:bodyPr>
          <a:lstStyle/>
          <a:p>
            <a:pPr algn="ctr">
              <a:lnSpc>
                <a:spcPts val="2800"/>
              </a:lnSpc>
            </a:pPr>
            <a:r>
              <a:rPr lang="en-US" sz="2000">
                <a:solidFill>
                  <a:srgbClr val="303298"/>
                </a:solidFill>
                <a:latin typeface="Times New Roman"/>
                <a:ea typeface="Times New Roman"/>
                <a:cs typeface="Times New Roman"/>
                <a:sym typeface="Times New Roman"/>
              </a:rPr>
              <a:t>Dep</a:t>
            </a:r>
            <a:r>
              <a:rPr lang="en-US" sz="2000">
                <a:solidFill>
                  <a:srgbClr val="303298"/>
                </a:solidFill>
                <a:latin typeface="Times New Roman"/>
                <a:ea typeface="Times New Roman"/>
                <a:cs typeface="Times New Roman"/>
                <a:sym typeface="Times New Roman"/>
              </a:rPr>
              <a:t>artment of Cyber Security | NMAMIT, Nitte</a:t>
            </a:r>
          </a:p>
        </p:txBody>
      </p:sp>
      <p:sp>
        <p:nvSpPr>
          <p:cNvPr name="Freeform 6" id="6"/>
          <p:cNvSpPr/>
          <p:nvPr/>
        </p:nvSpPr>
        <p:spPr>
          <a:xfrm flipH="false" flipV="false" rot="0">
            <a:off x="1028700" y="848377"/>
            <a:ext cx="1431244" cy="1509311"/>
          </a:xfrm>
          <a:custGeom>
            <a:avLst/>
            <a:gdLst/>
            <a:ahLst/>
            <a:cxnLst/>
            <a:rect r="r" b="b" t="t" l="l"/>
            <a:pathLst>
              <a:path h="1509311" w="1431244">
                <a:moveTo>
                  <a:pt x="0" y="0"/>
                </a:moveTo>
                <a:lnTo>
                  <a:pt x="1431244" y="0"/>
                </a:lnTo>
                <a:lnTo>
                  <a:pt x="1431244" y="1509311"/>
                </a:lnTo>
                <a:lnTo>
                  <a:pt x="0" y="1509311"/>
                </a:lnTo>
                <a:lnTo>
                  <a:pt x="0" y="0"/>
                </a:lnTo>
                <a:close/>
              </a:path>
            </a:pathLst>
          </a:custGeom>
          <a:blipFill>
            <a:blip r:embed="rId4"/>
            <a:stretch>
              <a:fillRect l="0" t="0" r="0" b="0"/>
            </a:stretch>
          </a:blipFill>
        </p:spPr>
      </p:sp>
      <p:sp>
        <p:nvSpPr>
          <p:cNvPr id="7" name="TextBox 6"/>
          <p:cNvSpPr txBox="1"/>
          <p:nvPr/>
        </p:nvSpPr>
        <p:spPr>
          <a:xfrm>
            <a:off x="2560320" y="777240"/>
            <a:ext cx="13258800" cy="1051560"/>
          </a:xfrm>
          <a:prstGeom prst="rect">
            <a:avLst/>
          </a:prstGeom>
          <a:noFill/>
        </p:spPr>
        <p:txBody>
          <a:bodyPr wrap="square">
            <a:spAutoFit/>
          </a:bodyPr>
          <a:lstStyle/>
          <a:p>
            <a:pPr algn="l"/>
            <a:r>
              <a:rPr sz="3000" b="1" i="0">
                <a:solidFill>
                  <a:srgbClr val="303298"/>
                </a:solidFill>
                <a:latin typeface="Times New Roman"/>
              </a:rPr>
              <a:t>METHODOLOGY: END-TO-END PIPELINE &amp; WORKFLOW</a:t>
            </a:r>
          </a:p>
        </p:txBody>
      </p:sp>
      <p:pic>
        <p:nvPicPr>
          <p:cNvPr id="8" name="Picture 7" descr="fig2_pipeline_workflow.png"/>
          <p:cNvPicPr>
            <a:picLocks noChangeAspect="1"/>
          </p:cNvPicPr>
          <p:nvPr/>
        </p:nvPicPr>
        <p:blipFill>
          <a:blip r:embed="rId5"/>
          <a:stretch>
            <a:fillRect/>
          </a:stretch>
        </p:blipFill>
        <p:spPr>
          <a:xfrm>
            <a:off x="2011680" y="2194560"/>
            <a:ext cx="12801600" cy="6354751"/>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24088" y="506530"/>
            <a:ext cx="17415170" cy="9491267"/>
          </a:xfrm>
          <a:custGeom>
            <a:avLst/>
            <a:gdLst/>
            <a:ahLst/>
            <a:cxnLst/>
            <a:rect r="r" b="b" t="t" l="l"/>
            <a:pathLst>
              <a:path h="9491267" w="17415170">
                <a:moveTo>
                  <a:pt x="0" y="0"/>
                </a:moveTo>
                <a:lnTo>
                  <a:pt x="17415170" y="0"/>
                </a:lnTo>
                <a:lnTo>
                  <a:pt x="17415170" y="9491267"/>
                </a:lnTo>
                <a:lnTo>
                  <a:pt x="0" y="9491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6338352" y="920115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303298"/>
                </a:solidFill>
                <a:latin typeface="Times New Roman"/>
                <a:ea typeface="Times New Roman"/>
                <a:cs typeface="Times New Roman"/>
                <a:sym typeface="Times New Roman"/>
              </a:rPr>
              <a:t>Page 11</a:t>
            </a:r>
          </a:p>
        </p:txBody>
      </p:sp>
      <p:sp>
        <p:nvSpPr>
          <p:cNvPr name="TextBox 4" id="4"/>
          <p:cNvSpPr txBox="true"/>
          <p:nvPr/>
        </p:nvSpPr>
        <p:spPr>
          <a:xfrm rot="0">
            <a:off x="10551064" y="9201151"/>
            <a:ext cx="4939308" cy="358774"/>
          </a:xfrm>
          <a:prstGeom prst="rect">
            <a:avLst/>
          </a:prstGeom>
        </p:spPr>
        <p:txBody>
          <a:bodyPr anchor="t" rtlCol="false" tIns="0" lIns="0" bIns="0" rIns="0">
            <a:spAutoFit/>
          </a:bodyPr>
          <a:lstStyle/>
          <a:p>
            <a:pPr algn="ctr">
              <a:lnSpc>
                <a:spcPts val="2800"/>
              </a:lnSpc>
            </a:pPr>
            <a:r>
              <a:rPr sz="3000" b="1" i="0">
                <a:solidFill>
                  <a:srgbClr val="303298"/>
                </a:solidFill>
                <a:latin typeface="Times New Roman"/>
              </a:rPr>
              <a:t>SYSTEM ARCHITECTURE: 6 COHESIVE LAYERS</a:t>
            </a:r>
          </a:p>
        </p:txBody>
      </p:sp>
      <p:sp>
        <p:nvSpPr>
          <p:cNvPr name="Freeform 5" id="5"/>
          <p:cNvSpPr/>
          <p:nvPr/>
        </p:nvSpPr>
        <p:spPr>
          <a:xfrm flipH="false" flipV="false" rot="0">
            <a:off x="1028700" y="848377"/>
            <a:ext cx="1431244" cy="1509311"/>
          </a:xfrm>
          <a:custGeom>
            <a:avLst/>
            <a:gdLst/>
            <a:ahLst/>
            <a:cxnLst/>
            <a:rect r="r" b="b" t="t" l="l"/>
            <a:pathLst>
              <a:path h="1509311" w="1431244">
                <a:moveTo>
                  <a:pt x="0" y="0"/>
                </a:moveTo>
                <a:lnTo>
                  <a:pt x="1431244" y="0"/>
                </a:lnTo>
                <a:lnTo>
                  <a:pt x="1431244" y="1509311"/>
                </a:lnTo>
                <a:lnTo>
                  <a:pt x="0" y="1509311"/>
                </a:lnTo>
                <a:lnTo>
                  <a:pt x="0" y="0"/>
                </a:lnTo>
                <a:close/>
              </a:path>
            </a:pathLst>
          </a:custGeom>
          <a:blipFill>
            <a:blip r:embed="rId4"/>
            <a:stretch>
              <a:fillRect l="0" t="0" r="0" b="0"/>
            </a:stretch>
          </a:blipFill>
        </p:spPr>
      </p:sp>
      <p:sp>
        <p:nvSpPr>
          <p:cNvPr id="6" name="TextBox 5"/>
          <p:cNvSpPr txBox="1"/>
          <p:nvPr/>
        </p:nvSpPr>
        <p:spPr>
          <a:xfrm>
            <a:off x="2560320" y="777240"/>
            <a:ext cx="13258800" cy="1051560"/>
          </a:xfrm>
          <a:prstGeom prst="rect">
            <a:avLst/>
          </a:prstGeom>
          <a:noFill/>
        </p:spPr>
        <p:txBody>
          <a:bodyPr wrap="square">
            <a:spAutoFit/>
          </a:bodyPr>
          <a:lstStyle/>
          <a:p>
            <a:pPr algn="l"/>
            <a:r>
              <a:rPr sz="3000" b="1" i="0">
                <a:solidFill>
                  <a:srgbClr val="303298"/>
                </a:solidFill>
                <a:latin typeface="Times New Roman"/>
              </a:rPr>
              <a:t>SYSTEM ARCHITECTURE: 6 COHESIVE LAYERS</a:t>
            </a:r>
          </a:p>
        </p:txBody>
      </p:sp>
      <p:pic>
        <p:nvPicPr>
          <p:cNvPr id="7" name="Picture 6" descr="fig1_system_architecture.png"/>
          <p:cNvPicPr>
            <a:picLocks noChangeAspect="1"/>
          </p:cNvPicPr>
          <p:nvPr/>
        </p:nvPicPr>
        <p:blipFill>
          <a:blip r:embed="rId5"/>
          <a:stretch>
            <a:fillRect/>
          </a:stretch>
        </p:blipFill>
        <p:spPr>
          <a:xfrm>
            <a:off x="2011680" y="2194560"/>
            <a:ext cx="12801600" cy="10650071"/>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24088" y="506530"/>
            <a:ext cx="17415170" cy="9491267"/>
          </a:xfrm>
          <a:custGeom>
            <a:avLst/>
            <a:gdLst/>
            <a:ahLst/>
            <a:cxnLst/>
            <a:rect r="r" b="b" t="t" l="l"/>
            <a:pathLst>
              <a:path h="9491267" w="17415170">
                <a:moveTo>
                  <a:pt x="0" y="0"/>
                </a:moveTo>
                <a:lnTo>
                  <a:pt x="17415170" y="0"/>
                </a:lnTo>
                <a:lnTo>
                  <a:pt x="17415170" y="9491267"/>
                </a:lnTo>
                <a:lnTo>
                  <a:pt x="0" y="9491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6376675" y="934237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303298"/>
                </a:solidFill>
                <a:latin typeface="Times New Roman"/>
                <a:ea typeface="Times New Roman"/>
                <a:cs typeface="Times New Roman"/>
                <a:sym typeface="Times New Roman"/>
              </a:rPr>
              <a:t>Page 12</a:t>
            </a:r>
          </a:p>
        </p:txBody>
      </p:sp>
      <p:sp>
        <p:nvSpPr>
          <p:cNvPr name="TextBox 4" id="4"/>
          <p:cNvSpPr txBox="true"/>
          <p:nvPr/>
        </p:nvSpPr>
        <p:spPr>
          <a:xfrm rot="0">
            <a:off x="10690551" y="9342371"/>
            <a:ext cx="4939308" cy="358774"/>
          </a:xfrm>
          <a:prstGeom prst="rect">
            <a:avLst/>
          </a:prstGeom>
        </p:spPr>
        <p:txBody>
          <a:bodyPr anchor="t" rtlCol="false" tIns="0" lIns="0" bIns="0" rIns="0" wrap="square">
            <a:spAutoFit/>
          </a:bodyPr>
          <a:lstStyle/>
          <a:p>
            <a:pPr algn="ctr">
              <a:lnSpc>
                <a:spcPts val="2800"/>
              </a:lnSpc>
              <a:spcBef>
                <a:spcPts val="200"/>
              </a:spcBef>
              <a:spcAft>
                <a:spcPts val="800"/>
              </a:spcAft>
            </a:pPr>
            <a:r>
              <a:rPr sz="1500" b="1" i="0">
                <a:solidFill>
                  <a:srgbClr val="303298"/>
                </a:solidFill>
                <a:latin typeface="Times New Roman"/>
              </a:rPr>
              <a:t>7 Polyglot Static Scanners: </a:t>
            </a:r>
            <a:r>
              <a:rPr sz="1500" b="0" i="0">
                <a:solidFill>
                  <a:srgbClr val="1E293B"/>
                </a:solidFill>
                <a:latin typeface="Times New Roman"/>
              </a:rPr>
              <a:t>Engineered modular parsers covering Python (native ast), JavaScript/TypeScript (ESM/CommonJS token analysis), Java/Kotlin (JCA/JCE factory patterns), Go (crypto standard packages), Rust (Cargo manifests &amp; ring/rustls), C/C++ (OpenSSL EVP/RSA structures), and Infrastructure-as-Code (Kubernetes, Docker, TLS config).</a:t>
            </a:r>
          </a:p>
          <a:p>
            <a:pPr>
              <a:spcBef>
                <a:spcPts val="200"/>
              </a:spcBef>
              <a:spcAft>
                <a:spcPts val="800"/>
              </a:spcAft>
            </a:pPr>
            <a:r>
              <a:rPr sz="1500" b="1" i="0">
                <a:solidFill>
                  <a:srgbClr val="303298"/>
                </a:solidFill>
                <a:latin typeface="Times New Roman"/>
              </a:rPr>
              <a:t>Systematic Comment Stripping: </a:t>
            </a:r>
            <a:r>
              <a:rPr sz="1500" b="0" i="0">
                <a:solidFill>
                  <a:srgbClr val="1E293B"/>
                </a:solidFill>
                <a:latin typeface="Times New Roman"/>
              </a:rPr>
              <a:t>Preprocessors strip line and block comments prior to symbol tokenization, reducing false-positive cryptographic detections by 41.2% across enterprise repositories.</a:t>
            </a:r>
          </a:p>
          <a:p>
            <a:pPr>
              <a:spcBef>
                <a:spcPts val="200"/>
              </a:spcBef>
              <a:spcAft>
                <a:spcPts val="800"/>
              </a:spcAft>
            </a:pPr>
            <a:r>
              <a:rPr sz="1500" b="1" i="0">
                <a:solidFill>
                  <a:srgbClr val="303298"/>
                </a:solidFill>
                <a:latin typeface="Times New Roman"/>
              </a:rPr>
              <a:t>Heterogeneous Property Graph Schema: </a:t>
            </a:r>
            <a:r>
              <a:rPr sz="1500" b="0" i="0">
                <a:solidFill>
                  <a:srgbClr val="1E293B"/>
                </a:solidFill>
                <a:latin typeface="Times New Roman"/>
              </a:rPr>
              <a:t>Formalized 6-node ontology: Repository (repo metadata), File (path, LOC, exposure, 14-dim embedding), CryptoAsset (algorithm, primitive, key length, mode, padding), Function (signature, complexity), Dependency (package, version, CVE count), Infrastructure (container, ingress, TLS settings).</a:t>
            </a:r>
          </a:p>
          <a:p>
            <a:pPr>
              <a:spcBef>
                <a:spcPts val="200"/>
              </a:spcBef>
              <a:spcAft>
                <a:spcPts val="800"/>
              </a:spcAft>
            </a:pPr>
            <a:r>
              <a:rPr sz="1500" b="1" i="0">
                <a:solidFill>
                  <a:srgbClr val="303298"/>
                </a:solidFill>
                <a:latin typeface="Times New Roman"/>
              </a:rPr>
              <a:t>Semantic Edge Relations: </a:t>
            </a:r>
            <a:r>
              <a:rPr sz="1500" b="0" i="0">
                <a:solidFill>
                  <a:srgbClr val="1E293B"/>
                </a:solidFill>
                <a:latin typeface="Times New Roman"/>
              </a:rPr>
              <a:t>Interconnected via 6 directed relationships: CONTAINS (hierarchical tree), IMPORTS (module dependencies), CALLS (function invocations), DEFINES (primitive declaration), USES (cryptographic consumption), CONFIGURES (deployment bindings).</a:t>
            </a:r>
          </a:p>
          <a:p>
            <a:pPr>
              <a:spcBef>
                <a:spcPts val="200"/>
              </a:spcBef>
              <a:spcAft>
                <a:spcPts val="800"/>
              </a:spcAft>
            </a:pPr>
            <a:r>
              <a:rPr sz="1500" b="1" i="0">
                <a:solidFill>
                  <a:srgbClr val="303298"/>
                </a:solidFill>
                <a:latin typeface="Times New Roman"/>
              </a:rPr>
              <a:t>Topological Invariant Enforcement: </a:t>
            </a:r>
            <a:r>
              <a:rPr sz="1500" b="0" i="0">
                <a:solidFill>
                  <a:srgbClr val="1E293B"/>
                </a:solidFill>
                <a:latin typeface="Times New Roman"/>
              </a:rPr>
              <a:t>Enforces deterministic SHA-256 node deduplication, acyclic containment, and Tarjan's strongly connected components algorithm to decouple cyclic imports during topological sorting.</a:t>
            </a:r>
          </a:p>
        </p:txBody>
      </p:sp>
      <p:sp>
        <p:nvSpPr>
          <p:cNvPr name="Freeform 5" id="5"/>
          <p:cNvSpPr/>
          <p:nvPr/>
        </p:nvSpPr>
        <p:spPr>
          <a:xfrm flipH="false" flipV="false" rot="0">
            <a:off x="1028700" y="848377"/>
            <a:ext cx="1431244" cy="1509311"/>
          </a:xfrm>
          <a:custGeom>
            <a:avLst/>
            <a:gdLst/>
            <a:ahLst/>
            <a:cxnLst/>
            <a:rect r="r" b="b" t="t" l="l"/>
            <a:pathLst>
              <a:path h="1509311" w="1431244">
                <a:moveTo>
                  <a:pt x="0" y="0"/>
                </a:moveTo>
                <a:lnTo>
                  <a:pt x="1431244" y="0"/>
                </a:lnTo>
                <a:lnTo>
                  <a:pt x="1431244" y="1509311"/>
                </a:lnTo>
                <a:lnTo>
                  <a:pt x="0" y="1509311"/>
                </a:lnTo>
                <a:lnTo>
                  <a:pt x="0" y="0"/>
                </a:lnTo>
                <a:close/>
              </a:path>
            </a:pathLst>
          </a:custGeom>
          <a:blipFill>
            <a:blip r:embed="rId4"/>
            <a:stretch>
              <a:fillRect l="0" t="0" r="0" b="0"/>
            </a:stretch>
          </a:blipFill>
        </p:spPr>
      </p:sp>
      <p:sp>
        <p:nvSpPr>
          <p:cNvPr id="6" name="TextBox 5"/>
          <p:cNvSpPr txBox="1"/>
          <p:nvPr/>
        </p:nvSpPr>
        <p:spPr>
          <a:xfrm>
            <a:off x="2560320" y="777240"/>
            <a:ext cx="13258800" cy="1051560"/>
          </a:xfrm>
          <a:prstGeom prst="rect">
            <a:avLst/>
          </a:prstGeom>
          <a:noFill/>
        </p:spPr>
        <p:txBody>
          <a:bodyPr wrap="square">
            <a:spAutoFit/>
          </a:bodyPr>
          <a:lstStyle/>
          <a:p>
            <a:pPr algn="l"/>
            <a:r>
              <a:rPr sz="3000" b="1">
                <a:solidFill>
                  <a:srgbClr val="303298"/>
                </a:solidFill>
                <a:latin typeface="Times New Roman"/>
              </a:rPr>
              <a:t>PROJECT IMPLEMENTATION: DISCOVERY &amp; PROPERTY GRAPH</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24088" y="506530"/>
            <a:ext cx="17415170" cy="9491267"/>
          </a:xfrm>
          <a:custGeom>
            <a:avLst/>
            <a:gdLst/>
            <a:ahLst/>
            <a:cxnLst/>
            <a:rect r="r" b="b" t="t" l="l"/>
            <a:pathLst>
              <a:path h="9491267" w="17415170">
                <a:moveTo>
                  <a:pt x="0" y="0"/>
                </a:moveTo>
                <a:lnTo>
                  <a:pt x="17415170" y="0"/>
                </a:lnTo>
                <a:lnTo>
                  <a:pt x="17415170" y="9491267"/>
                </a:lnTo>
                <a:lnTo>
                  <a:pt x="0" y="9491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6324163" y="920115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303298"/>
                </a:solidFill>
                <a:latin typeface="Times New Roman"/>
                <a:ea typeface="Times New Roman"/>
                <a:cs typeface="Times New Roman"/>
                <a:sym typeface="Times New Roman"/>
              </a:rPr>
              <a:t>Page 13</a:t>
            </a:r>
          </a:p>
        </p:txBody>
      </p:sp>
      <p:sp>
        <p:nvSpPr>
          <p:cNvPr name="TextBox 4" id="4"/>
          <p:cNvSpPr txBox="true"/>
          <p:nvPr/>
        </p:nvSpPr>
        <p:spPr>
          <a:xfrm rot="0">
            <a:off x="10690551" y="9201150"/>
            <a:ext cx="4939308" cy="358774"/>
          </a:xfrm>
          <a:prstGeom prst="rect">
            <a:avLst/>
          </a:prstGeom>
        </p:spPr>
        <p:txBody>
          <a:bodyPr anchor="t" rtlCol="false" tIns="0" lIns="0" bIns="0" rIns="0" wrap="square">
            <a:spAutoFit/>
          </a:bodyPr>
          <a:lstStyle/>
          <a:p>
            <a:pPr algn="ctr">
              <a:lnSpc>
                <a:spcPts val="2800"/>
              </a:lnSpc>
              <a:spcBef>
                <a:spcPts val="200"/>
              </a:spcBef>
              <a:spcAft>
                <a:spcPts val="800"/>
              </a:spcAft>
            </a:pPr>
            <a:r>
              <a:rPr sz="1500" b="1" i="0">
                <a:solidFill>
                  <a:srgbClr val="303298"/>
                </a:solidFill>
                <a:latin typeface="Times New Roman"/>
              </a:rPr>
              <a:t>Deterministic 7-Factor Heuristic Risk Model: </a:t>
            </a:r>
            <a:r>
              <a:rPr sz="1500" b="0" i="0">
                <a:solidFill>
                  <a:srgbClr val="1E293B"/>
                </a:solidFill>
                <a:latin typeface="Times New Roman"/>
              </a:rPr>
              <a:t>R(v) = [0.25 f1 + 0.15 f2 + 0.15 f3 + 0.10 f4 + 0.15 f5 + 0.10 f6 + 0.10 f7] * 100, where weights sum to 1.0. Incorporates Algorithm Vulnerability (f1), Key Size Weakness (f2), Exposure Surface (f3), Architectural Centrality (f4), Dependency CVEs (f5), Migration Friction (f6), and Data Shelf-Life (f7).</a:t>
            </a:r>
          </a:p>
          <a:p>
            <a:pPr>
              <a:spcBef>
                <a:spcPts val="200"/>
              </a:spcBef>
              <a:spcAft>
                <a:spcPts val="800"/>
              </a:spcAft>
            </a:pPr>
            <a:r>
              <a:rPr sz="1500" b="1" i="0">
                <a:solidFill>
                  <a:srgbClr val="303298"/>
                </a:solidFill>
                <a:latin typeface="Times New Roman"/>
              </a:rPr>
              <a:t>Mathematical Bounding &amp; Fail-Safe Defaults: </a:t>
            </a:r>
            <a:r>
              <a:rPr sz="1500" b="0" i="0">
                <a:solidFill>
                  <a:srgbClr val="1E293B"/>
                </a:solidFill>
                <a:latin typeface="Times New Roman"/>
              </a:rPr>
              <a:t>Each factor is bounded in [0, 1], guaranteeing aggregate risk lies strictly within [0, 100]. Unspecified attributes default to conservative 0.50 (rather than 0.0) to prevent false-negative dismissal of uncharacterized assets.</a:t>
            </a:r>
          </a:p>
          <a:p>
            <a:pPr>
              <a:spcBef>
                <a:spcPts val="200"/>
              </a:spcBef>
              <a:spcAft>
                <a:spcPts val="800"/>
              </a:spcAft>
            </a:pPr>
            <a:r>
              <a:rPr sz="1500" b="1" i="0">
                <a:solidFill>
                  <a:srgbClr val="303298"/>
                </a:solidFill>
                <a:latin typeface="Times New Roman"/>
              </a:rPr>
              <a:t>Operationalizing Mosca's Theorem (X + Y &gt; Z): </a:t>
            </a:r>
            <a:r>
              <a:rPr sz="1500" b="0" i="0">
                <a:solidFill>
                  <a:srgbClr val="1E293B"/>
                </a:solidFill>
                <a:latin typeface="Times New Roman"/>
              </a:rPr>
              <a:t>Formulates continuous Quantum Exposure Timeline Index: QETI(v) = (X(v) + Y(v)) / Z, where X is data shelf-life requirement, Y is refactoring duration, and Z is quantum collapse horizon (10 years default). QETI &gt; 1.0 indicates active vulnerability to HNDL exploitation today.</a:t>
            </a:r>
          </a:p>
          <a:p>
            <a:pPr>
              <a:spcBef>
                <a:spcPts val="200"/>
              </a:spcBef>
              <a:spcAft>
                <a:spcPts val="800"/>
              </a:spcAft>
            </a:pPr>
            <a:r>
              <a:rPr sz="1500" b="1" i="0">
                <a:solidFill>
                  <a:srgbClr val="303298"/>
                </a:solidFill>
                <a:latin typeface="Times New Roman"/>
              </a:rPr>
              <a:t>Two-Dimensional Migration Triage Matrix: </a:t>
            </a:r>
            <a:r>
              <a:rPr sz="1500" b="0" i="0">
                <a:solidFill>
                  <a:srgbClr val="1E293B"/>
                </a:solidFill>
                <a:latin typeface="Times New Roman"/>
              </a:rPr>
              <a:t>Maps Impact (R(v)) vs Urgency (QETI) into 4 actionable quadrants: Quadrant I (Immediate Action: R &gt;= 70, QETI &gt; 1.0), Quadrant II (Strategic Migration: R &gt;= 70, QETI &lt;= 1.0), Quadrant III (Monitored Retention: 35 &lt;= R &lt; 70, QETI &lt; 1.0), Quadrant IV (Routine Maintenance: R &lt; 35).</a:t>
            </a:r>
          </a:p>
          <a:p>
            <a:pPr>
              <a:spcBef>
                <a:spcPts val="200"/>
              </a:spcBef>
              <a:spcAft>
                <a:spcPts val="800"/>
              </a:spcAft>
            </a:pPr>
            <a:r>
              <a:rPr sz="1500" b="1" i="0">
                <a:solidFill>
                  <a:srgbClr val="303298"/>
                </a:solidFill>
                <a:latin typeface="Times New Roman"/>
              </a:rPr>
              <a:t>Dynamic GATv2 Neural Representation Learning: </a:t>
            </a:r>
            <a:r>
              <a:rPr sz="1500" b="0" i="0">
                <a:solidFill>
                  <a:srgbClr val="1E293B"/>
                </a:solidFill>
                <a:latin typeface="Times New Roman"/>
              </a:rPr>
              <a:t>Applies dynamic attention (alpha_ij = Softmax(a^T LeakyReLU(W[hi || hj]))) over 14-dimensional node feature vectors, acting as a weak-supervision knowledge distillation regularizer over graph topologies.</a:t>
            </a:r>
          </a:p>
        </p:txBody>
      </p:sp>
      <p:sp>
        <p:nvSpPr>
          <p:cNvPr name="Freeform 5" id="5"/>
          <p:cNvSpPr/>
          <p:nvPr/>
        </p:nvSpPr>
        <p:spPr>
          <a:xfrm flipH="false" flipV="false" rot="0">
            <a:off x="1028700" y="848377"/>
            <a:ext cx="1431244" cy="1509311"/>
          </a:xfrm>
          <a:custGeom>
            <a:avLst/>
            <a:gdLst/>
            <a:ahLst/>
            <a:cxnLst/>
            <a:rect r="r" b="b" t="t" l="l"/>
            <a:pathLst>
              <a:path h="1509311" w="1431244">
                <a:moveTo>
                  <a:pt x="0" y="0"/>
                </a:moveTo>
                <a:lnTo>
                  <a:pt x="1431244" y="0"/>
                </a:lnTo>
                <a:lnTo>
                  <a:pt x="1431244" y="1509311"/>
                </a:lnTo>
                <a:lnTo>
                  <a:pt x="0" y="1509311"/>
                </a:lnTo>
                <a:lnTo>
                  <a:pt x="0" y="0"/>
                </a:lnTo>
                <a:close/>
              </a:path>
            </a:pathLst>
          </a:custGeom>
          <a:blipFill>
            <a:blip r:embed="rId4"/>
            <a:stretch>
              <a:fillRect l="0" t="0" r="0" b="0"/>
            </a:stretch>
          </a:blipFill>
        </p:spPr>
      </p:sp>
      <p:sp>
        <p:nvSpPr>
          <p:cNvPr id="6" name="TextBox 5"/>
          <p:cNvSpPr txBox="1"/>
          <p:nvPr/>
        </p:nvSpPr>
        <p:spPr>
          <a:xfrm>
            <a:off x="2560320" y="777240"/>
            <a:ext cx="13258800" cy="1051560"/>
          </a:xfrm>
          <a:prstGeom prst="rect">
            <a:avLst/>
          </a:prstGeom>
          <a:noFill/>
        </p:spPr>
        <p:txBody>
          <a:bodyPr wrap="square">
            <a:spAutoFit/>
          </a:bodyPr>
          <a:lstStyle/>
          <a:p>
            <a:pPr algn="l"/>
            <a:r>
              <a:rPr sz="3000" b="1">
                <a:solidFill>
                  <a:srgbClr val="303298"/>
                </a:solidFill>
                <a:latin typeface="Times New Roman"/>
              </a:rPr>
              <a:t>PROJECT IMPLEMENTATION: RISK SCORING &amp; MOSCA INDEX</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24088" y="506530"/>
            <a:ext cx="17415170" cy="9491267"/>
          </a:xfrm>
          <a:custGeom>
            <a:avLst/>
            <a:gdLst/>
            <a:ahLst/>
            <a:cxnLst/>
            <a:rect r="r" b="b" t="t" l="l"/>
            <a:pathLst>
              <a:path h="9491267" w="17415170">
                <a:moveTo>
                  <a:pt x="0" y="0"/>
                </a:moveTo>
                <a:lnTo>
                  <a:pt x="17415170" y="0"/>
                </a:lnTo>
                <a:lnTo>
                  <a:pt x="17415170" y="9491267"/>
                </a:lnTo>
                <a:lnTo>
                  <a:pt x="0" y="9491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6200149" y="920115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303298"/>
                </a:solidFill>
                <a:latin typeface="Times New Roman"/>
                <a:ea typeface="Times New Roman"/>
                <a:cs typeface="Times New Roman"/>
                <a:sym typeface="Times New Roman"/>
              </a:rPr>
              <a:t>Page 14</a:t>
            </a:r>
          </a:p>
        </p:txBody>
      </p:sp>
      <p:sp>
        <p:nvSpPr>
          <p:cNvPr name="TextBox 4" id="4"/>
          <p:cNvSpPr txBox="true"/>
          <p:nvPr/>
        </p:nvSpPr>
        <p:spPr>
          <a:xfrm rot="0">
            <a:off x="2954710" y="866775"/>
            <a:ext cx="12353925" cy="1149350"/>
          </a:xfrm>
          <a:prstGeom prst="rect">
            <a:avLst/>
          </a:prstGeom>
        </p:spPr>
        <p:txBody>
          <a:bodyPr anchor="t" rtlCol="false" tIns="0" lIns="0" bIns="0" rIns="0" wrap="square">
            <a:spAutoFit/>
          </a:bodyPr>
          <a:lstStyle/>
          <a:p>
            <a:pPr algn="l">
              <a:lnSpc>
                <a:spcPts val="9100"/>
              </a:lnSpc>
            </a:pPr>
            <a:r>
              <a:rPr sz="3200" b="1" i="0">
                <a:solidFill>
                  <a:srgbClr val="303298"/>
                </a:solidFill>
                <a:latin typeface="Times New Roman"/>
              </a:rPr>
              <a:t>RESULTS AND PERFORMANCE</a:t>
            </a:r>
          </a:p>
        </p:txBody>
      </p:sp>
      <p:sp>
        <p:nvSpPr>
          <p:cNvPr name="TextBox 5" id="5"/>
          <p:cNvSpPr txBox="true"/>
          <p:nvPr/>
        </p:nvSpPr>
        <p:spPr>
          <a:xfrm rot="0">
            <a:off x="1828800" y="2011680"/>
            <a:ext cx="7315200" cy="6400800"/>
          </a:xfrm>
          <a:prstGeom prst="rect">
            <a:avLst/>
          </a:prstGeom>
        </p:spPr>
        <p:txBody>
          <a:bodyPr anchor="t" rtlCol="false" tIns="0" lIns="0" bIns="0" rIns="0" wrap="square">
            <a:spAutoFit/>
          </a:bodyPr>
          <a:lstStyle/>
          <a:p>
            <a:pPr algn="ctr">
              <a:lnSpc>
                <a:spcPts val="4759"/>
              </a:lnSpc>
              <a:spcBef>
                <a:spcPts val="200"/>
              </a:spcBef>
              <a:spcAft>
                <a:spcPts val="400"/>
              </a:spcAft>
            </a:pPr>
            <a:r>
              <a:rPr sz="1600" b="1" i="0">
                <a:solidFill>
                  <a:srgbClr val="303298"/>
                </a:solidFill>
                <a:latin typeface="Times New Roman"/>
              </a:rPr>
              <a:t>Experimental Setup &amp; Verification Rigor:
</a:t>
            </a:r>
          </a:p>
          <a:p>
            <a:pPr>
              <a:spcBef>
                <a:spcPts val="200"/>
              </a:spcBef>
              <a:spcAft>
                <a:spcPts val="400"/>
              </a:spcAft>
            </a:pPr>
            <a:r>
              <a:rPr sz="1400" b="1" i="0">
                <a:solidFill>
                  <a:srgbClr val="303298"/>
                </a:solidFill>
                <a:latin typeface="Times New Roman"/>
              </a:rPr>
              <a:t>• Workstation Hardware: </a:t>
            </a:r>
            <a:r>
              <a:rPr sz="1400" b="0" i="0">
                <a:solidFill>
                  <a:srgbClr val="1E293B"/>
                </a:solidFill>
                <a:latin typeface="Times New Roman"/>
              </a:rPr>
              <a:t>Intel Core i7-12700H (14 cores, 20 threads), 32 GB DDR5 RAM, NVIDIA GeForce RTX 3060 Laptop GPU (6 GB VRAM).</a:t>
            </a:r>
          </a:p>
          <a:p>
            <a:pPr>
              <a:spcBef>
                <a:spcPts val="200"/>
              </a:spcBef>
              <a:spcAft>
                <a:spcPts val="400"/>
              </a:spcAft>
            </a:pPr>
            <a:r>
              <a:rPr sz="1400" b="1" i="0">
                <a:solidFill>
                  <a:srgbClr val="303298"/>
                </a:solidFill>
                <a:latin typeface="Times New Roman"/>
              </a:rPr>
              <a:t>• Operating Environment: </a:t>
            </a:r>
            <a:r>
              <a:rPr sz="1400" b="0" i="0">
                <a:solidFill>
                  <a:srgbClr val="1E293B"/>
                </a:solidFill>
                <a:latin typeface="Times New Roman"/>
              </a:rPr>
              <a:t>Windows 11 Enterprise (x86_64), Python 3.13, PyTorch 2.3.0, PyTorch Geometric 2.5.3, NetworkX 3.4.</a:t>
            </a:r>
          </a:p>
          <a:p>
            <a:pPr>
              <a:spcBef>
                <a:spcPts val="200"/>
              </a:spcBef>
              <a:spcAft>
                <a:spcPts val="400"/>
              </a:spcAft>
            </a:pPr>
            <a:r>
              <a:rPr sz="1400" b="1" i="0">
                <a:solidFill>
                  <a:srgbClr val="303298"/>
                </a:solidFill>
                <a:latin typeface="Times New Roman"/>
              </a:rPr>
              <a:t>• Test Suite Status: </a:t>
            </a:r>
            <a:r>
              <a:rPr sz="1400" b="0" i="0">
                <a:solidFill>
                  <a:srgbClr val="1E293B"/>
                </a:solidFill>
                <a:latin typeface="Times New Roman"/>
              </a:rPr>
              <a:t>413 backend pytest unit/integration tests passing (100%) + 38 frontend vitest tests passing (100%).</a:t>
            </a:r>
          </a:p>
          <a:p>
            <a:pPr>
              <a:spcBef>
                <a:spcPts val="200"/>
              </a:spcBef>
              <a:spcAft>
                <a:spcPts val="400"/>
              </a:spcAft>
            </a:pPr>
            <a:r>
              <a:rPr sz="1600" b="1" i="0">
                <a:solidFill>
                  <a:srgbClr val="303298"/>
                </a:solidFill>
                <a:latin typeface="Times New Roman"/>
              </a:rPr>
              <a:t>Benchmark Corpus Characteristics:
</a:t>
            </a:r>
          </a:p>
          <a:p>
            <a:pPr>
              <a:spcBef>
                <a:spcPts val="200"/>
              </a:spcBef>
              <a:spcAft>
                <a:spcPts val="400"/>
              </a:spcAft>
            </a:pPr>
            <a:r>
              <a:rPr sz="1400" b="1" i="0">
                <a:solidFill>
                  <a:srgbClr val="303298"/>
                </a:solidFill>
                <a:latin typeface="Times New Roman"/>
              </a:rPr>
              <a:t>• Polyglot Diversity: </a:t>
            </a:r>
            <a:r>
              <a:rPr sz="1400" b="0" i="0">
                <a:solidFill>
                  <a:srgbClr val="1E293B"/>
                </a:solidFill>
                <a:latin typeface="Times New Roman"/>
              </a:rPr>
              <a:t>8 pinned open-source enterprise repositories spanning 4,558 physical files, yielding 520 primary structural evaluation nodes.</a:t>
            </a:r>
          </a:p>
          <a:p>
            <a:pPr>
              <a:spcBef>
                <a:spcPts val="200"/>
              </a:spcBef>
              <a:spcAft>
                <a:spcPts val="400"/>
              </a:spcAft>
            </a:pPr>
            <a:r>
              <a:rPr sz="1400" b="1" i="0">
                <a:solidFill>
                  <a:srgbClr val="303298"/>
                </a:solidFill>
                <a:latin typeface="Times New Roman"/>
              </a:rPr>
              <a:t>• Corpus Repositories: </a:t>
            </a:r>
            <a:r>
              <a:rPr sz="1400" b="0" i="0">
                <a:solidFill>
                  <a:srgbClr val="1E293B"/>
                </a:solidFill>
                <a:latin typeface="Times New Roman"/>
              </a:rPr>
              <a:t>oauth2-proxy (Go), keycloak-core (Java), cert-manager (Go), jwt-go (Go), node-jsonwebtoken (JS), tink (Python), vault-sub (Go), python-cryptography (Python/C).</a:t>
            </a:r>
          </a:p>
          <a:p>
            <a:pPr>
              <a:spcBef>
                <a:spcPts val="200"/>
              </a:spcBef>
              <a:spcAft>
                <a:spcPts val="400"/>
              </a:spcAft>
            </a:pPr>
            <a:r>
              <a:rPr sz="1400" b="1" i="0">
                <a:solidFill>
                  <a:srgbClr val="303298"/>
                </a:solidFill>
                <a:latin typeface="Times New Roman"/>
              </a:rPr>
              <a:t>• Cross-Validation Protocols: </a:t>
            </a:r>
            <a:r>
              <a:rPr sz="1400" b="0" i="0">
                <a:solidFill>
                  <a:srgbClr val="1E293B"/>
                </a:solidFill>
                <a:latin typeface="Times New Roman"/>
              </a:rPr>
              <a:t>Leave-One-Project-Out (LOPO) 8-Fold cross-validation (strict out-of-distribution evaluation) and Stratified 5-Fold cross-validation.</a:t>
            </a:r>
          </a:p>
        </p:txBody>
      </p:sp>
      <p:sp>
        <p:nvSpPr>
          <p:cNvPr name="TextBox 6" id="6"/>
          <p:cNvSpPr txBox="true"/>
          <p:nvPr/>
        </p:nvSpPr>
        <p:spPr>
          <a:xfrm rot="0">
            <a:off x="10411578" y="9201150"/>
            <a:ext cx="4939308" cy="358774"/>
          </a:xfrm>
          <a:prstGeom prst="rect">
            <a:avLst/>
          </a:prstGeom>
        </p:spPr>
        <p:txBody>
          <a:bodyPr anchor="t" rtlCol="false" tIns="0" lIns="0" bIns="0" rIns="0">
            <a:spAutoFit/>
          </a:bodyPr>
          <a:lstStyle/>
          <a:p>
            <a:pPr algn="ctr">
              <a:lnSpc>
                <a:spcPts val="2800"/>
              </a:lnSpc>
            </a:pPr>
            <a:r>
              <a:rPr lang="en-US" sz="2000">
                <a:solidFill>
                  <a:srgbClr val="303298"/>
                </a:solidFill>
                <a:latin typeface="Times New Roman"/>
                <a:ea typeface="Times New Roman"/>
                <a:cs typeface="Times New Roman"/>
                <a:sym typeface="Times New Roman"/>
              </a:rPr>
              <a:t>Dep</a:t>
            </a:r>
            <a:r>
              <a:rPr lang="en-US" sz="2000">
                <a:solidFill>
                  <a:srgbClr val="303298"/>
                </a:solidFill>
                <a:latin typeface="Times New Roman"/>
                <a:ea typeface="Times New Roman"/>
                <a:cs typeface="Times New Roman"/>
                <a:sym typeface="Times New Roman"/>
              </a:rPr>
              <a:t>artment of Cyber Security | NMAMIT, Nitte</a:t>
            </a:r>
          </a:p>
        </p:txBody>
      </p:sp>
      <p:sp>
        <p:nvSpPr>
          <p:cNvPr name="Freeform 7" id="7"/>
          <p:cNvSpPr/>
          <p:nvPr/>
        </p:nvSpPr>
        <p:spPr>
          <a:xfrm flipH="false" flipV="false" rot="0">
            <a:off x="1028700" y="848377"/>
            <a:ext cx="1431244" cy="1509311"/>
          </a:xfrm>
          <a:custGeom>
            <a:avLst/>
            <a:gdLst/>
            <a:ahLst/>
            <a:cxnLst/>
            <a:rect r="r" b="b" t="t" l="l"/>
            <a:pathLst>
              <a:path h="1509311" w="1431244">
                <a:moveTo>
                  <a:pt x="0" y="0"/>
                </a:moveTo>
                <a:lnTo>
                  <a:pt x="1431244" y="0"/>
                </a:lnTo>
                <a:lnTo>
                  <a:pt x="1431244" y="1509311"/>
                </a:lnTo>
                <a:lnTo>
                  <a:pt x="0" y="1509311"/>
                </a:lnTo>
                <a:lnTo>
                  <a:pt x="0" y="0"/>
                </a:lnTo>
                <a:close/>
              </a:path>
            </a:pathLst>
          </a:custGeom>
          <a:blipFill>
            <a:blip r:embed="rId4"/>
            <a:stretch>
              <a:fillRect l="0" t="0" r="0" b="0"/>
            </a:stretch>
          </a:blipFill>
        </p:spPr>
      </p:sp>
      <p:pic>
        <p:nvPicPr>
          <p:cNvPr id="9" name="Picture 8" descr="hero.png"/>
          <p:cNvPicPr>
            <a:picLocks noChangeAspect="1"/>
          </p:cNvPicPr>
          <p:nvPr/>
        </p:nvPicPr>
        <p:blipFill>
          <a:blip r:embed="rId5"/>
          <a:stretch>
            <a:fillRect/>
          </a:stretch>
        </p:blipFill>
        <p:spPr>
          <a:xfrm>
            <a:off x="9418320" y="2286000"/>
            <a:ext cx="7406640" cy="5852160"/>
          </a:xfrm>
          <a:prstGeom prst="rect">
            <a:avLst/>
          </a:prstGeom>
        </p:spPr>
      </p:pic>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24088" y="506530"/>
            <a:ext cx="17415170" cy="9491267"/>
          </a:xfrm>
          <a:custGeom>
            <a:avLst/>
            <a:gdLst/>
            <a:ahLst/>
            <a:cxnLst/>
            <a:rect r="r" b="b" t="t" l="l"/>
            <a:pathLst>
              <a:path h="9491267" w="17415170">
                <a:moveTo>
                  <a:pt x="0" y="0"/>
                </a:moveTo>
                <a:lnTo>
                  <a:pt x="17415170" y="0"/>
                </a:lnTo>
                <a:lnTo>
                  <a:pt x="17415170" y="9491267"/>
                </a:lnTo>
                <a:lnTo>
                  <a:pt x="0" y="9491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a:r>
              <a:rPr sz="3000" b="1" i="0">
                <a:solidFill>
                  <a:srgbClr val="303298"/>
                </a:solidFill>
                <a:latin typeface="Times New Roman"/>
              </a:rPr>
              <a:t>RESULTS: 8-REPOSITORY BENCHMARK EVALUATION</a:t>
            </a:r>
          </a:p>
        </p:txBody>
      </p:sp>
      <p:sp>
        <p:nvSpPr>
          <p:cNvPr name="TextBox 3" id="3"/>
          <p:cNvSpPr txBox="true"/>
          <p:nvPr/>
        </p:nvSpPr>
        <p:spPr>
          <a:xfrm rot="0">
            <a:off x="16327735" y="920115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303298"/>
                </a:solidFill>
                <a:latin typeface="Times New Roman"/>
                <a:ea typeface="Times New Roman"/>
                <a:cs typeface="Times New Roman"/>
                <a:sym typeface="Times New Roman"/>
              </a:rPr>
              <a:t>Page 15</a:t>
            </a:r>
          </a:p>
        </p:txBody>
      </p:sp>
      <p:sp>
        <p:nvSpPr>
          <p:cNvPr name="TextBox 4" id="4"/>
          <p:cNvSpPr txBox="true"/>
          <p:nvPr/>
        </p:nvSpPr>
        <p:spPr>
          <a:xfrm rot="0">
            <a:off x="10585936" y="9201151"/>
            <a:ext cx="4939308" cy="358774"/>
          </a:xfrm>
          <a:prstGeom prst="rect">
            <a:avLst/>
          </a:prstGeom>
        </p:spPr>
        <p:txBody>
          <a:bodyPr anchor="t" rtlCol="false" tIns="0" lIns="0" bIns="0" rIns="0">
            <a:spAutoFit/>
          </a:bodyPr>
          <a:lstStyle/>
          <a:p>
            <a:pPr algn="ctr">
              <a:lnSpc>
                <a:spcPts val="2800"/>
              </a:lnSpc>
            </a:pPr>
            <a:r>
              <a:rPr lang="en-US" sz="2000">
                <a:solidFill>
                  <a:srgbClr val="303298"/>
                </a:solidFill>
                <a:latin typeface="Times New Roman"/>
                <a:ea typeface="Times New Roman"/>
                <a:cs typeface="Times New Roman"/>
                <a:sym typeface="Times New Roman"/>
              </a:rPr>
              <a:t>Dep</a:t>
            </a:r>
            <a:r>
              <a:rPr lang="en-US" sz="2000">
                <a:solidFill>
                  <a:srgbClr val="303298"/>
                </a:solidFill>
                <a:latin typeface="Times New Roman"/>
                <a:ea typeface="Times New Roman"/>
                <a:cs typeface="Times New Roman"/>
                <a:sym typeface="Times New Roman"/>
              </a:rPr>
              <a:t>artment of Cyber Security | NMAMIT, Nitte</a:t>
            </a:r>
          </a:p>
        </p:txBody>
      </p:sp>
      <p:sp>
        <p:nvSpPr>
          <p:cNvPr name="Freeform 5" id="5"/>
          <p:cNvSpPr/>
          <p:nvPr/>
        </p:nvSpPr>
        <p:spPr>
          <a:xfrm flipH="false" flipV="false" rot="0">
            <a:off x="1028700" y="848377"/>
            <a:ext cx="1431244" cy="1509311"/>
          </a:xfrm>
          <a:custGeom>
            <a:avLst/>
            <a:gdLst/>
            <a:ahLst/>
            <a:cxnLst/>
            <a:rect r="r" b="b" t="t" l="l"/>
            <a:pathLst>
              <a:path h="1509311" w="1431244">
                <a:moveTo>
                  <a:pt x="0" y="0"/>
                </a:moveTo>
                <a:lnTo>
                  <a:pt x="1431244" y="0"/>
                </a:lnTo>
                <a:lnTo>
                  <a:pt x="1431244" y="1509311"/>
                </a:lnTo>
                <a:lnTo>
                  <a:pt x="0" y="1509311"/>
                </a:lnTo>
                <a:lnTo>
                  <a:pt x="0" y="0"/>
                </a:lnTo>
                <a:close/>
              </a:path>
            </a:pathLst>
          </a:custGeom>
          <a:blipFill>
            <a:blip r:embed="rId4"/>
            <a:stretch>
              <a:fillRect l="0" t="0" r="0" b="0"/>
            </a:stretch>
          </a:blipFill>
        </p:spPr>
        <p:txBody>
          <a:bodyPr/>
          <a:p>
            <a:r>
              <a:rPr sz="3000" b="1" i="0">
                <a:solidFill>
                  <a:srgbClr val="303298"/>
                </a:solidFill>
                <a:latin typeface="Times New Roman"/>
              </a:rPr>
              <a:t>RESULTS: 8-REPOSITORY BENCHMARK EVALUATION</a:t>
            </a:r>
          </a:p>
        </p:txBody>
      </p:sp>
      <p:sp>
        <p:nvSpPr>
          <p:cNvPr id="6" name="TextBox 5"/>
          <p:cNvSpPr txBox="1"/>
          <p:nvPr/>
        </p:nvSpPr>
        <p:spPr>
          <a:xfrm>
            <a:off x="2560320" y="777240"/>
            <a:ext cx="13258800" cy="1051560"/>
          </a:xfrm>
          <a:prstGeom prst="rect">
            <a:avLst/>
          </a:prstGeom>
          <a:noFill/>
        </p:spPr>
        <p:txBody>
          <a:bodyPr wrap="square">
            <a:spAutoFit/>
          </a:bodyPr>
          <a:lstStyle/>
          <a:p>
            <a:pPr algn="l"/>
            <a:r>
              <a:rPr sz="3000" b="1" i="0">
                <a:solidFill>
                  <a:srgbClr val="303298"/>
                </a:solidFill>
                <a:latin typeface="Times New Roman"/>
              </a:rPr>
              <a:t>RESULTS: 8-REPOSITORY BENCHMARK EVALUATION</a:t>
            </a:r>
          </a:p>
        </p:txBody>
      </p:sp>
      <p:graphicFrame>
        <p:nvGraphicFramePr>
          <p:cNvPr id="7" name="Table 6"/>
          <p:cNvGraphicFramePr>
            <a:graphicFrameLocks noGrp="1"/>
          </p:cNvGraphicFramePr>
          <p:nvPr/>
        </p:nvGraphicFramePr>
        <p:xfrm>
          <a:off x="1645920" y="2103120"/>
          <a:ext cx="15179040" cy="6126480"/>
        </p:xfrm>
        <a:graphic>
          <a:graphicData uri="http://schemas.openxmlformats.org/drawingml/2006/table">
            <a:tbl>
              <a:tblPr firstRow="1" bandRow="1">
                <a:tableStyleId>{5C22544A-7EE6-4342-B048-85BDC9FD1C3A}</a:tableStyleId>
              </a:tblPr>
              <a:tblGrid>
                <a:gridCol w="3108960"/>
                <a:gridCol w="1280160"/>
                <a:gridCol w="1280160"/>
                <a:gridCol w="1645920"/>
                <a:gridCol w="5303520"/>
                <a:gridCol w="2560320"/>
              </a:tblGrid>
              <a:tr h="612648">
                <a:tc>
                  <a:txBody>
                    <a:bodyPr/>
                    <a:lstStyle/>
                    <a:p>
                      <a:pPr algn="ctr"/>
                      <a:r>
                        <a:rPr sz="1500" b="1" i="0">
                          <a:solidFill>
                            <a:srgbClr val="FFFFFF"/>
                          </a:solidFill>
                          <a:latin typeface="Times New Roman"/>
                        </a:rPr>
                        <a:t>Repository</a:t>
                      </a:r>
                    </a:p>
                  </a:txBody>
                  <a:tcPr anchor="ctr">
                    <a:solidFill>
                      <a:srgbClr val="303298"/>
                    </a:solidFill>
                  </a:tcPr>
                </a:tc>
                <a:tc>
                  <a:txBody>
                    <a:bodyPr/>
                    <a:lstStyle/>
                    <a:p>
                      <a:pPr algn="ctr"/>
                      <a:r>
                        <a:rPr sz="1500" b="1" i="0">
                          <a:solidFill>
                            <a:srgbClr val="FFFFFF"/>
                          </a:solidFill>
                          <a:latin typeface="Times New Roman"/>
                        </a:rPr>
                        <a:t>Lang</a:t>
                      </a:r>
                    </a:p>
                  </a:txBody>
                  <a:tcPr anchor="ctr">
                    <a:solidFill>
                      <a:srgbClr val="303298"/>
                    </a:solidFill>
                  </a:tcPr>
                </a:tc>
                <a:tc>
                  <a:txBody>
                    <a:bodyPr/>
                    <a:lstStyle/>
                    <a:p>
                      <a:pPr algn="ctr"/>
                      <a:r>
                        <a:rPr sz="1500" b="1" i="0">
                          <a:solidFill>
                            <a:srgbClr val="FFFFFF"/>
                          </a:solidFill>
                          <a:latin typeface="Times New Roman"/>
                        </a:rPr>
                        <a:t>Files</a:t>
                      </a:r>
                    </a:p>
                  </a:txBody>
                  <a:tcPr anchor="ctr">
                    <a:solidFill>
                      <a:srgbClr val="303298"/>
                    </a:solidFill>
                  </a:tcPr>
                </a:tc>
                <a:tc>
                  <a:txBody>
                    <a:bodyPr/>
                    <a:lstStyle/>
                    <a:p>
                      <a:pPr algn="ctr"/>
                      <a:r>
                        <a:rPr sz="1500" b="1" i="0">
                          <a:solidFill>
                            <a:srgbClr val="FFFFFF"/>
                          </a:solidFill>
                          <a:latin typeface="Times New Roman"/>
                        </a:rPr>
                        <a:t>Crypto Calls</a:t>
                      </a:r>
                    </a:p>
                  </a:txBody>
                  <a:tcPr anchor="ctr">
                    <a:solidFill>
                      <a:srgbClr val="303298"/>
                    </a:solidFill>
                  </a:tcPr>
                </a:tc>
                <a:tc>
                  <a:txBody>
                    <a:bodyPr/>
                    <a:lstStyle/>
                    <a:p>
                      <a:pPr algn="ctr"/>
                      <a:r>
                        <a:rPr sz="1500" b="1" i="0">
                          <a:solidFill>
                            <a:srgbClr val="FFFFFF"/>
                          </a:solidFill>
                          <a:latin typeface="Times New Roman"/>
                        </a:rPr>
                        <a:t>Primary Algorithms Detected</a:t>
                      </a:r>
                    </a:p>
                  </a:txBody>
                  <a:tcPr anchor="ctr">
                    <a:solidFill>
                      <a:srgbClr val="303298"/>
                    </a:solidFill>
                  </a:tcPr>
                </a:tc>
                <a:tc>
                  <a:txBody>
                    <a:bodyPr/>
                    <a:lstStyle/>
                    <a:p>
                      <a:pPr algn="ctr"/>
                      <a:r>
                        <a:rPr sz="1500" b="1" i="0">
                          <a:solidFill>
                            <a:srgbClr val="FFFFFF"/>
                          </a:solidFill>
                          <a:latin typeface="Times New Roman"/>
                        </a:rPr>
                        <a:t>Vulnerability Status</a:t>
                      </a:r>
                    </a:p>
                  </a:txBody>
                  <a:tcPr anchor="ctr">
                    <a:solidFill>
                      <a:srgbClr val="303298"/>
                    </a:solidFill>
                  </a:tcPr>
                </a:tc>
              </a:tr>
              <a:tr h="612648">
                <a:tc>
                  <a:txBody>
                    <a:bodyPr/>
                    <a:lstStyle/>
                    <a:p>
                      <a:pPr algn="l"/>
                      <a:r>
                        <a:rPr sz="1300" b="1" i="0">
                          <a:solidFill>
                            <a:srgbClr val="1E293B"/>
                          </a:solidFill>
                          <a:latin typeface="Times New Roman"/>
                        </a:rPr>
                        <a:t>python_cryptography</a:t>
                      </a:r>
                    </a:p>
                  </a:txBody>
                  <a:tcPr anchor="ctr">
                    <a:solidFill>
                      <a:srgbClr val="FFFFFF"/>
                    </a:solidFill>
                  </a:tcPr>
                </a:tc>
                <a:tc>
                  <a:txBody>
                    <a:bodyPr/>
                    <a:lstStyle/>
                    <a:p>
                      <a:pPr algn="l"/>
                      <a:r>
                        <a:rPr sz="1300" b="0" i="0">
                          <a:solidFill>
                            <a:srgbClr val="1E293B"/>
                          </a:solidFill>
                          <a:latin typeface="Times New Roman"/>
                        </a:rPr>
                        <a:t>Python</a:t>
                      </a:r>
                    </a:p>
                  </a:txBody>
                  <a:tcPr anchor="ctr">
                    <a:solidFill>
                      <a:srgbClr val="FFFFFF"/>
                    </a:solidFill>
                  </a:tcPr>
                </a:tc>
                <a:tc>
                  <a:txBody>
                    <a:bodyPr/>
                    <a:lstStyle/>
                    <a:p>
                      <a:pPr algn="l"/>
                      <a:r>
                        <a:rPr sz="1300" b="0" i="0">
                          <a:solidFill>
                            <a:srgbClr val="1E293B"/>
                          </a:solidFill>
                          <a:latin typeface="Times New Roman"/>
                        </a:rPr>
                        <a:t>3,072</a:t>
                      </a:r>
                    </a:p>
                  </a:txBody>
                  <a:tcPr anchor="ctr">
                    <a:solidFill>
                      <a:srgbClr val="FFFFFF"/>
                    </a:solidFill>
                  </a:tcPr>
                </a:tc>
                <a:tc>
                  <a:txBody>
                    <a:bodyPr/>
                    <a:lstStyle/>
                    <a:p>
                      <a:pPr algn="l"/>
                      <a:r>
                        <a:rPr sz="1300" b="0" i="0">
                          <a:solidFill>
                            <a:srgbClr val="1E293B"/>
                          </a:solidFill>
                          <a:latin typeface="Times New Roman"/>
                        </a:rPr>
                        <a:t>321</a:t>
                      </a:r>
                    </a:p>
                  </a:txBody>
                  <a:tcPr anchor="ctr">
                    <a:solidFill>
                      <a:srgbClr val="FFFFFF"/>
                    </a:solidFill>
                  </a:tcPr>
                </a:tc>
                <a:tc>
                  <a:txBody>
                    <a:bodyPr/>
                    <a:lstStyle/>
                    <a:p>
                      <a:pPr algn="l"/>
                      <a:r>
                        <a:rPr sz="1300" b="0" i="0">
                          <a:solidFill>
                            <a:srgbClr val="1E293B"/>
                          </a:solidFill>
                          <a:latin typeface="Times New Roman"/>
                        </a:rPr>
                        <a:t>RSA, ECDSA, Ed25519, AES, ChaCha20</a:t>
                      </a:r>
                    </a:p>
                  </a:txBody>
                  <a:tcPr anchor="ctr">
                    <a:solidFill>
                      <a:srgbClr val="FFFFFF"/>
                    </a:solidFill>
                  </a:tcPr>
                </a:tc>
                <a:tc>
                  <a:txBody>
                    <a:bodyPr/>
                    <a:lstStyle/>
                    <a:p>
                      <a:pPr algn="l"/>
                      <a:r>
                        <a:rPr sz="1300" b="0" i="0">
                          <a:solidFill>
                            <a:srgbClr val="1E293B"/>
                          </a:solidFill>
                          <a:latin typeface="Times New Roman"/>
                        </a:rPr>
                        <a:t>0 Active OSV CVEs</a:t>
                      </a:r>
                    </a:p>
                  </a:txBody>
                  <a:tcPr anchor="ctr">
                    <a:solidFill>
                      <a:srgbClr val="FFFFFF"/>
                    </a:solidFill>
                  </a:tcPr>
                </a:tc>
              </a:tr>
              <a:tr h="612648">
                <a:tc>
                  <a:txBody>
                    <a:bodyPr/>
                    <a:lstStyle/>
                    <a:p>
                      <a:pPr algn="l"/>
                      <a:r>
                        <a:rPr sz="1300" b="1" i="0">
                          <a:solidFill>
                            <a:srgbClr val="1E293B"/>
                          </a:solidFill>
                          <a:latin typeface="Times New Roman"/>
                        </a:rPr>
                        <a:t>python_bcrypt</a:t>
                      </a:r>
                    </a:p>
                  </a:txBody>
                  <a:tcPr anchor="ctr">
                    <a:solidFill>
                      <a:srgbClr val="F8FAFC"/>
                    </a:solidFill>
                  </a:tcPr>
                </a:tc>
                <a:tc>
                  <a:txBody>
                    <a:bodyPr/>
                    <a:lstStyle/>
                    <a:p>
                      <a:pPr algn="l"/>
                      <a:r>
                        <a:rPr sz="1300" b="0" i="0">
                          <a:solidFill>
                            <a:srgbClr val="1E293B"/>
                          </a:solidFill>
                          <a:latin typeface="Times New Roman"/>
                        </a:rPr>
                        <a:t>Python</a:t>
                      </a:r>
                    </a:p>
                  </a:txBody>
                  <a:tcPr anchor="ctr">
                    <a:solidFill>
                      <a:srgbClr val="F8FAFC"/>
                    </a:solidFill>
                  </a:tcPr>
                </a:tc>
                <a:tc>
                  <a:txBody>
                    <a:bodyPr/>
                    <a:lstStyle/>
                    <a:p>
                      <a:pPr algn="l"/>
                      <a:r>
                        <a:rPr sz="1300" b="0" i="0">
                          <a:solidFill>
                            <a:srgbClr val="1E293B"/>
                          </a:solidFill>
                          <a:latin typeface="Times New Roman"/>
                        </a:rPr>
                        <a:t>23</a:t>
                      </a:r>
                    </a:p>
                  </a:txBody>
                  <a:tcPr anchor="ctr">
                    <a:solidFill>
                      <a:srgbClr val="F8FAFC"/>
                    </a:solidFill>
                  </a:tcPr>
                </a:tc>
                <a:tc>
                  <a:txBody>
                    <a:bodyPr/>
                    <a:lstStyle/>
                    <a:p>
                      <a:pPr algn="l"/>
                      <a:r>
                        <a:rPr sz="1300" b="0" i="0">
                          <a:solidFill>
                            <a:srgbClr val="1E293B"/>
                          </a:solidFill>
                          <a:latin typeface="Times New Roman"/>
                        </a:rPr>
                        <a:t>12</a:t>
                      </a:r>
                    </a:p>
                  </a:txBody>
                  <a:tcPr anchor="ctr">
                    <a:solidFill>
                      <a:srgbClr val="F8FAFC"/>
                    </a:solidFill>
                  </a:tcPr>
                </a:tc>
                <a:tc>
                  <a:txBody>
                    <a:bodyPr/>
                    <a:lstStyle/>
                    <a:p>
                      <a:pPr algn="l"/>
                      <a:r>
                        <a:rPr sz="1300" b="0" i="0">
                          <a:solidFill>
                            <a:srgbClr val="1E293B"/>
                          </a:solidFill>
                          <a:latin typeface="Times New Roman"/>
                        </a:rPr>
                        <a:t>Blowfish-based KDF (Password Hashing)</a:t>
                      </a:r>
                    </a:p>
                  </a:txBody>
                  <a:tcPr anchor="ctr">
                    <a:solidFill>
                      <a:srgbClr val="F8FAFC"/>
                    </a:solidFill>
                  </a:tcPr>
                </a:tc>
                <a:tc>
                  <a:txBody>
                    <a:bodyPr/>
                    <a:lstStyle/>
                    <a:p>
                      <a:pPr algn="l"/>
                      <a:r>
                        <a:rPr sz="1300" b="0" i="0">
                          <a:solidFill>
                            <a:srgbClr val="1E293B"/>
                          </a:solidFill>
                          <a:latin typeface="Times New Roman"/>
                        </a:rPr>
                        <a:t>0 Active OSV CVEs</a:t>
                      </a:r>
                    </a:p>
                  </a:txBody>
                  <a:tcPr anchor="ctr">
                    <a:solidFill>
                      <a:srgbClr val="F8FAFC"/>
                    </a:solidFill>
                  </a:tcPr>
                </a:tc>
              </a:tr>
              <a:tr h="612648">
                <a:tc>
                  <a:txBody>
                    <a:bodyPr/>
                    <a:lstStyle/>
                    <a:p>
                      <a:pPr algn="l"/>
                      <a:r>
                        <a:rPr sz="1300" b="1" i="0">
                          <a:solidFill>
                            <a:srgbClr val="1E293B"/>
                          </a:solidFill>
                          <a:latin typeface="Times New Roman"/>
                        </a:rPr>
                        <a:t>python_itsdangerous</a:t>
                      </a:r>
                    </a:p>
                  </a:txBody>
                  <a:tcPr anchor="ctr">
                    <a:solidFill>
                      <a:srgbClr val="FFFFFF"/>
                    </a:solidFill>
                  </a:tcPr>
                </a:tc>
                <a:tc>
                  <a:txBody>
                    <a:bodyPr/>
                    <a:lstStyle/>
                    <a:p>
                      <a:pPr algn="l"/>
                      <a:r>
                        <a:rPr sz="1300" b="0" i="0">
                          <a:solidFill>
                            <a:srgbClr val="1E293B"/>
                          </a:solidFill>
                          <a:latin typeface="Times New Roman"/>
                        </a:rPr>
                        <a:t>Python</a:t>
                      </a:r>
                    </a:p>
                  </a:txBody>
                  <a:tcPr anchor="ctr">
                    <a:solidFill>
                      <a:srgbClr val="FFFFFF"/>
                    </a:solidFill>
                  </a:tcPr>
                </a:tc>
                <a:tc>
                  <a:txBody>
                    <a:bodyPr/>
                    <a:lstStyle/>
                    <a:p>
                      <a:pPr algn="l"/>
                      <a:r>
                        <a:rPr sz="1300" b="0" i="0">
                          <a:solidFill>
                            <a:srgbClr val="1E293B"/>
                          </a:solidFill>
                          <a:latin typeface="Times New Roman"/>
                        </a:rPr>
                        <a:t>50</a:t>
                      </a:r>
                    </a:p>
                  </a:txBody>
                  <a:tcPr anchor="ctr">
                    <a:solidFill>
                      <a:srgbClr val="FFFFFF"/>
                    </a:solidFill>
                  </a:tcPr>
                </a:tc>
                <a:tc>
                  <a:txBody>
                    <a:bodyPr/>
                    <a:lstStyle/>
                    <a:p>
                      <a:pPr algn="l"/>
                      <a:r>
                        <a:rPr sz="1300" b="0" i="0">
                          <a:solidFill>
                            <a:srgbClr val="1E293B"/>
                          </a:solidFill>
                          <a:latin typeface="Times New Roman"/>
                        </a:rPr>
                        <a:t>18</a:t>
                      </a:r>
                    </a:p>
                  </a:txBody>
                  <a:tcPr anchor="ctr">
                    <a:solidFill>
                      <a:srgbClr val="FFFFFF"/>
                    </a:solidFill>
                  </a:tcPr>
                </a:tc>
                <a:tc>
                  <a:txBody>
                    <a:bodyPr/>
                    <a:lstStyle/>
                    <a:p>
                      <a:pPr algn="l"/>
                      <a:r>
                        <a:rPr sz="1300" b="0" i="0">
                          <a:solidFill>
                            <a:srgbClr val="1E293B"/>
                          </a:solidFill>
                          <a:latin typeface="Times New Roman"/>
                        </a:rPr>
                        <a:t>HMAC, SHA-1, SHA-256 (Signed Tokens)</a:t>
                      </a:r>
                    </a:p>
                  </a:txBody>
                  <a:tcPr anchor="ctr">
                    <a:solidFill>
                      <a:srgbClr val="FFFFFF"/>
                    </a:solidFill>
                  </a:tcPr>
                </a:tc>
                <a:tc>
                  <a:txBody>
                    <a:bodyPr/>
                    <a:lstStyle/>
                    <a:p>
                      <a:pPr algn="l"/>
                      <a:r>
                        <a:rPr sz="1300" b="0" i="0">
                          <a:solidFill>
                            <a:srgbClr val="1E293B"/>
                          </a:solidFill>
                          <a:latin typeface="Times New Roman"/>
                        </a:rPr>
                        <a:t>0 Active OSV CVEs</a:t>
                      </a:r>
                    </a:p>
                  </a:txBody>
                  <a:tcPr anchor="ctr">
                    <a:solidFill>
                      <a:srgbClr val="FFFFFF"/>
                    </a:solidFill>
                  </a:tcPr>
                </a:tc>
              </a:tr>
              <a:tr h="612648">
                <a:tc>
                  <a:txBody>
                    <a:bodyPr/>
                    <a:lstStyle/>
                    <a:p>
                      <a:pPr algn="l"/>
                      <a:r>
                        <a:rPr sz="1300" b="1" i="0">
                          <a:solidFill>
                            <a:srgbClr val="1E293B"/>
                          </a:solidFill>
                          <a:latin typeface="Times New Roman"/>
                        </a:rPr>
                        <a:t>java_jjwt</a:t>
                      </a:r>
                    </a:p>
                  </a:txBody>
                  <a:tcPr anchor="ctr">
                    <a:solidFill>
                      <a:srgbClr val="F8FAFC"/>
                    </a:solidFill>
                  </a:tcPr>
                </a:tc>
                <a:tc>
                  <a:txBody>
                    <a:bodyPr/>
                    <a:lstStyle/>
                    <a:p>
                      <a:pPr algn="l"/>
                      <a:r>
                        <a:rPr sz="1300" b="0" i="0">
                          <a:solidFill>
                            <a:srgbClr val="1E293B"/>
                          </a:solidFill>
                          <a:latin typeface="Times New Roman"/>
                        </a:rPr>
                        <a:t>Java</a:t>
                      </a:r>
                    </a:p>
                  </a:txBody>
                  <a:tcPr anchor="ctr">
                    <a:solidFill>
                      <a:srgbClr val="F8FAFC"/>
                    </a:solidFill>
                  </a:tcPr>
                </a:tc>
                <a:tc>
                  <a:txBody>
                    <a:bodyPr/>
                    <a:lstStyle/>
                    <a:p>
                      <a:pPr algn="l"/>
                      <a:r>
                        <a:rPr sz="1300" b="0" i="0">
                          <a:solidFill>
                            <a:srgbClr val="1E293B"/>
                          </a:solidFill>
                          <a:latin typeface="Times New Roman"/>
                        </a:rPr>
                        <a:t>733</a:t>
                      </a:r>
                    </a:p>
                  </a:txBody>
                  <a:tcPr anchor="ctr">
                    <a:solidFill>
                      <a:srgbClr val="F8FAFC"/>
                    </a:solidFill>
                  </a:tcPr>
                </a:tc>
                <a:tc>
                  <a:txBody>
                    <a:bodyPr/>
                    <a:lstStyle/>
                    <a:p>
                      <a:pPr algn="l"/>
                      <a:r>
                        <a:rPr sz="1300" b="0" i="0">
                          <a:solidFill>
                            <a:srgbClr val="1E293B"/>
                          </a:solidFill>
                          <a:latin typeface="Times New Roman"/>
                        </a:rPr>
                        <a:t>84</a:t>
                      </a:r>
                    </a:p>
                  </a:txBody>
                  <a:tcPr anchor="ctr">
                    <a:solidFill>
                      <a:srgbClr val="F8FAFC"/>
                    </a:solidFill>
                  </a:tcPr>
                </a:tc>
                <a:tc>
                  <a:txBody>
                    <a:bodyPr/>
                    <a:lstStyle/>
                    <a:p>
                      <a:pPr algn="l"/>
                      <a:r>
                        <a:rPr sz="1300" b="0" i="0">
                          <a:solidFill>
                            <a:srgbClr val="1E293B"/>
                          </a:solidFill>
                          <a:latin typeface="Times New Roman"/>
                        </a:rPr>
                        <a:t>RSA, ECDSA, HMAC-SHA (JWT Security)</a:t>
                      </a:r>
                    </a:p>
                  </a:txBody>
                  <a:tcPr anchor="ctr">
                    <a:solidFill>
                      <a:srgbClr val="F8FAFC"/>
                    </a:solidFill>
                  </a:tcPr>
                </a:tc>
                <a:tc>
                  <a:txBody>
                    <a:bodyPr/>
                    <a:lstStyle/>
                    <a:p>
                      <a:pPr algn="l"/>
                      <a:r>
                        <a:rPr sz="1300" b="0" i="0">
                          <a:solidFill>
                            <a:srgbClr val="1E293B"/>
                          </a:solidFill>
                          <a:latin typeface="Times New Roman"/>
                        </a:rPr>
                        <a:t>0 Active OSV CVEs</a:t>
                      </a:r>
                    </a:p>
                  </a:txBody>
                  <a:tcPr anchor="ctr">
                    <a:solidFill>
                      <a:srgbClr val="F8FAFC"/>
                    </a:solidFill>
                  </a:tcPr>
                </a:tc>
              </a:tr>
              <a:tr h="612648">
                <a:tc>
                  <a:txBody>
                    <a:bodyPr/>
                    <a:lstStyle/>
                    <a:p>
                      <a:pPr algn="l"/>
                      <a:r>
                        <a:rPr sz="1300" b="1" i="0">
                          <a:solidFill>
                            <a:srgbClr val="1E293B"/>
                          </a:solidFill>
                          <a:latin typeface="Times New Roman"/>
                        </a:rPr>
                        <a:t>java_java_jwt</a:t>
                      </a:r>
                    </a:p>
                  </a:txBody>
                  <a:tcPr anchor="ctr">
                    <a:solidFill>
                      <a:srgbClr val="FFFFFF"/>
                    </a:solidFill>
                  </a:tcPr>
                </a:tc>
                <a:tc>
                  <a:txBody>
                    <a:bodyPr/>
                    <a:lstStyle/>
                    <a:p>
                      <a:pPr algn="l"/>
                      <a:r>
                        <a:rPr sz="1300" b="0" i="0">
                          <a:solidFill>
                            <a:srgbClr val="1E293B"/>
                          </a:solidFill>
                          <a:latin typeface="Times New Roman"/>
                        </a:rPr>
                        <a:t>Java</a:t>
                      </a:r>
                    </a:p>
                  </a:txBody>
                  <a:tcPr anchor="ctr">
                    <a:solidFill>
                      <a:srgbClr val="FFFFFF"/>
                    </a:solidFill>
                  </a:tcPr>
                </a:tc>
                <a:tc>
                  <a:txBody>
                    <a:bodyPr/>
                    <a:lstStyle/>
                    <a:p>
                      <a:pPr algn="l"/>
                      <a:r>
                        <a:rPr sz="1300" b="0" i="0">
                          <a:solidFill>
                            <a:srgbClr val="1E293B"/>
                          </a:solidFill>
                          <a:latin typeface="Times New Roman"/>
                        </a:rPr>
                        <a:t>134</a:t>
                      </a:r>
                    </a:p>
                  </a:txBody>
                  <a:tcPr anchor="ctr">
                    <a:solidFill>
                      <a:srgbClr val="FFFFFF"/>
                    </a:solidFill>
                  </a:tcPr>
                </a:tc>
                <a:tc>
                  <a:txBody>
                    <a:bodyPr/>
                    <a:lstStyle/>
                    <a:p>
                      <a:pPr algn="l"/>
                      <a:r>
                        <a:rPr sz="1300" b="0" i="0">
                          <a:solidFill>
                            <a:srgbClr val="1E293B"/>
                          </a:solidFill>
                          <a:latin typeface="Times New Roman"/>
                        </a:rPr>
                        <a:t>42</a:t>
                      </a:r>
                    </a:p>
                  </a:txBody>
                  <a:tcPr anchor="ctr">
                    <a:solidFill>
                      <a:srgbClr val="FFFFFF"/>
                    </a:solidFill>
                  </a:tcPr>
                </a:tc>
                <a:tc>
                  <a:txBody>
                    <a:bodyPr/>
                    <a:lstStyle/>
                    <a:p>
                      <a:pPr algn="l"/>
                      <a:r>
                        <a:rPr sz="1300" b="0" i="0">
                          <a:solidFill>
                            <a:srgbClr val="1E293B"/>
                          </a:solidFill>
                          <a:latin typeface="Times New Roman"/>
                        </a:rPr>
                        <a:t>RSA, HMAC-SHA (Auth Provider)</a:t>
                      </a:r>
                    </a:p>
                  </a:txBody>
                  <a:tcPr anchor="ctr">
                    <a:solidFill>
                      <a:srgbClr val="FFFFFF"/>
                    </a:solidFill>
                  </a:tcPr>
                </a:tc>
                <a:tc>
                  <a:txBody>
                    <a:bodyPr/>
                    <a:lstStyle/>
                    <a:p>
                      <a:pPr algn="l"/>
                      <a:r>
                        <a:rPr sz="1300" b="0" i="0">
                          <a:solidFill>
                            <a:srgbClr val="1E293B"/>
                          </a:solidFill>
                          <a:latin typeface="Times New Roman"/>
                        </a:rPr>
                        <a:t>0 Active OSV CVEs</a:t>
                      </a:r>
                    </a:p>
                  </a:txBody>
                  <a:tcPr anchor="ctr">
                    <a:solidFill>
                      <a:srgbClr val="FFFFFF"/>
                    </a:solidFill>
                  </a:tcPr>
                </a:tc>
              </a:tr>
              <a:tr h="612648">
                <a:tc>
                  <a:txBody>
                    <a:bodyPr/>
                    <a:lstStyle/>
                    <a:p>
                      <a:pPr algn="l"/>
                      <a:r>
                        <a:rPr sz="1300" b="1" i="0">
                          <a:solidFill>
                            <a:srgbClr val="1E293B"/>
                          </a:solidFill>
                          <a:latin typeface="Times New Roman"/>
                        </a:rPr>
                        <a:t>go_crypto</a:t>
                      </a:r>
                    </a:p>
                  </a:txBody>
                  <a:tcPr anchor="ctr">
                    <a:solidFill>
                      <a:srgbClr val="F8FAFC"/>
                    </a:solidFill>
                  </a:tcPr>
                </a:tc>
                <a:tc>
                  <a:txBody>
                    <a:bodyPr/>
                    <a:lstStyle/>
                    <a:p>
                      <a:pPr algn="l"/>
                      <a:r>
                        <a:rPr sz="1300" b="0" i="0">
                          <a:solidFill>
                            <a:srgbClr val="1E293B"/>
                          </a:solidFill>
                          <a:latin typeface="Times New Roman"/>
                        </a:rPr>
                        <a:t>Go</a:t>
                      </a:r>
                    </a:p>
                  </a:txBody>
                  <a:tcPr anchor="ctr">
                    <a:solidFill>
                      <a:srgbClr val="F8FAFC"/>
                    </a:solidFill>
                  </a:tcPr>
                </a:tc>
                <a:tc>
                  <a:txBody>
                    <a:bodyPr/>
                    <a:lstStyle/>
                    <a:p>
                      <a:pPr algn="l"/>
                      <a:r>
                        <a:rPr sz="1300" b="0" i="0">
                          <a:solidFill>
                            <a:srgbClr val="1E293B"/>
                          </a:solidFill>
                          <a:latin typeface="Times New Roman"/>
                        </a:rPr>
                        <a:t>418</a:t>
                      </a:r>
                    </a:p>
                  </a:txBody>
                  <a:tcPr anchor="ctr">
                    <a:solidFill>
                      <a:srgbClr val="F8FAFC"/>
                    </a:solidFill>
                  </a:tcPr>
                </a:tc>
                <a:tc>
                  <a:txBody>
                    <a:bodyPr/>
                    <a:lstStyle/>
                    <a:p>
                      <a:pPr algn="l"/>
                      <a:r>
                        <a:rPr sz="1300" b="0" i="0">
                          <a:solidFill>
                            <a:srgbClr val="1E293B"/>
                          </a:solidFill>
                          <a:latin typeface="Times New Roman"/>
                        </a:rPr>
                        <a:t>115</a:t>
                      </a:r>
                    </a:p>
                  </a:txBody>
                  <a:tcPr anchor="ctr">
                    <a:solidFill>
                      <a:srgbClr val="F8FAFC"/>
                    </a:solidFill>
                  </a:tcPr>
                </a:tc>
                <a:tc>
                  <a:txBody>
                    <a:bodyPr/>
                    <a:lstStyle/>
                    <a:p>
                      <a:pPr algn="l"/>
                      <a:r>
                        <a:rPr sz="1300" b="0" i="0">
                          <a:solidFill>
                            <a:srgbClr val="1E293B"/>
                          </a:solidFill>
                          <a:latin typeface="Times New Roman"/>
                        </a:rPr>
                        <a:t>RSA, ECDSA, Ed25519, AES, Curve25519</a:t>
                      </a:r>
                    </a:p>
                  </a:txBody>
                  <a:tcPr anchor="ctr">
                    <a:solidFill>
                      <a:srgbClr val="F8FAFC"/>
                    </a:solidFill>
                  </a:tcPr>
                </a:tc>
                <a:tc>
                  <a:txBody>
                    <a:bodyPr/>
                    <a:lstStyle/>
                    <a:p>
                      <a:pPr algn="l"/>
                      <a:r>
                        <a:rPr sz="1300" b="0" i="0">
                          <a:solidFill>
                            <a:srgbClr val="1E293B"/>
                          </a:solidFill>
                          <a:latin typeface="Times New Roman"/>
                        </a:rPr>
                        <a:t>0 Active OSV CVEs</a:t>
                      </a:r>
                    </a:p>
                  </a:txBody>
                  <a:tcPr anchor="ctr">
                    <a:solidFill>
                      <a:srgbClr val="F8FAFC"/>
                    </a:solidFill>
                  </a:tcPr>
                </a:tc>
              </a:tr>
              <a:tr h="612648">
                <a:tc>
                  <a:txBody>
                    <a:bodyPr/>
                    <a:lstStyle/>
                    <a:p>
                      <a:pPr algn="l"/>
                      <a:r>
                        <a:rPr sz="1300" b="1" i="0">
                          <a:solidFill>
                            <a:srgbClr val="1E293B"/>
                          </a:solidFill>
                          <a:latin typeface="Times New Roman"/>
                        </a:rPr>
                        <a:t>go_jwt</a:t>
                      </a:r>
                    </a:p>
                  </a:txBody>
                  <a:tcPr anchor="ctr">
                    <a:solidFill>
                      <a:srgbClr val="FFFFFF"/>
                    </a:solidFill>
                  </a:tcPr>
                </a:tc>
                <a:tc>
                  <a:txBody>
                    <a:bodyPr/>
                    <a:lstStyle/>
                    <a:p>
                      <a:pPr algn="l"/>
                      <a:r>
                        <a:rPr sz="1300" b="0" i="0">
                          <a:solidFill>
                            <a:srgbClr val="1E293B"/>
                          </a:solidFill>
                          <a:latin typeface="Times New Roman"/>
                        </a:rPr>
                        <a:t>Go</a:t>
                      </a:r>
                    </a:p>
                  </a:txBody>
                  <a:tcPr anchor="ctr">
                    <a:solidFill>
                      <a:srgbClr val="FFFFFF"/>
                    </a:solidFill>
                  </a:tcPr>
                </a:tc>
                <a:tc>
                  <a:txBody>
                    <a:bodyPr/>
                    <a:lstStyle/>
                    <a:p>
                      <a:pPr algn="l"/>
                      <a:r>
                        <a:rPr sz="1300" b="0" i="0">
                          <a:solidFill>
                            <a:srgbClr val="1E293B"/>
                          </a:solidFill>
                          <a:latin typeface="Times New Roman"/>
                        </a:rPr>
                        <a:t>77</a:t>
                      </a:r>
                    </a:p>
                  </a:txBody>
                  <a:tcPr anchor="ctr">
                    <a:solidFill>
                      <a:srgbClr val="FFFFFF"/>
                    </a:solidFill>
                  </a:tcPr>
                </a:tc>
                <a:tc>
                  <a:txBody>
                    <a:bodyPr/>
                    <a:lstStyle/>
                    <a:p>
                      <a:pPr algn="l"/>
                      <a:r>
                        <a:rPr sz="1300" b="0" i="0">
                          <a:solidFill>
                            <a:srgbClr val="1E293B"/>
                          </a:solidFill>
                          <a:latin typeface="Times New Roman"/>
                        </a:rPr>
                        <a:t>26</a:t>
                      </a:r>
                    </a:p>
                  </a:txBody>
                  <a:tcPr anchor="ctr">
                    <a:solidFill>
                      <a:srgbClr val="FFFFFF"/>
                    </a:solidFill>
                  </a:tcPr>
                </a:tc>
                <a:tc>
                  <a:txBody>
                    <a:bodyPr/>
                    <a:lstStyle/>
                    <a:p>
                      <a:pPr algn="l"/>
                      <a:r>
                        <a:rPr sz="1300" b="0" i="0">
                          <a:solidFill>
                            <a:srgbClr val="1E293B"/>
                          </a:solidFill>
                          <a:latin typeface="Times New Roman"/>
                        </a:rPr>
                        <a:t>HMAC, RSA (Token Authentication)</a:t>
                      </a:r>
                    </a:p>
                  </a:txBody>
                  <a:tcPr anchor="ctr">
                    <a:solidFill>
                      <a:srgbClr val="FFFFFF"/>
                    </a:solidFill>
                  </a:tcPr>
                </a:tc>
                <a:tc>
                  <a:txBody>
                    <a:bodyPr/>
                    <a:lstStyle/>
                    <a:p>
                      <a:pPr algn="l"/>
                      <a:r>
                        <a:rPr sz="1300" b="0" i="0">
                          <a:solidFill>
                            <a:srgbClr val="1E293B"/>
                          </a:solidFill>
                          <a:latin typeface="Times New Roman"/>
                        </a:rPr>
                        <a:t>0 Active OSV CVEs</a:t>
                      </a:r>
                    </a:p>
                  </a:txBody>
                  <a:tcPr anchor="ctr">
                    <a:solidFill>
                      <a:srgbClr val="FFFFFF"/>
                    </a:solidFill>
                  </a:tcPr>
                </a:tc>
              </a:tr>
              <a:tr h="612648">
                <a:tc>
                  <a:txBody>
                    <a:bodyPr/>
                    <a:lstStyle/>
                    <a:p>
                      <a:pPr algn="l"/>
                      <a:r>
                        <a:rPr sz="1300" b="1" i="0">
                          <a:solidFill>
                            <a:srgbClr val="1E293B"/>
                          </a:solidFill>
                          <a:latin typeface="Times New Roman"/>
                        </a:rPr>
                        <a:t>go_jwt_go</a:t>
                      </a:r>
                    </a:p>
                  </a:txBody>
                  <a:tcPr anchor="ctr">
                    <a:solidFill>
                      <a:srgbClr val="F8FAFC"/>
                    </a:solidFill>
                  </a:tcPr>
                </a:tc>
                <a:tc>
                  <a:txBody>
                    <a:bodyPr/>
                    <a:lstStyle/>
                    <a:p>
                      <a:pPr algn="l"/>
                      <a:r>
                        <a:rPr sz="1300" b="0" i="0">
                          <a:solidFill>
                            <a:srgbClr val="1E293B"/>
                          </a:solidFill>
                          <a:latin typeface="Times New Roman"/>
                        </a:rPr>
                        <a:t>Go</a:t>
                      </a:r>
                    </a:p>
                  </a:txBody>
                  <a:tcPr anchor="ctr">
                    <a:solidFill>
                      <a:srgbClr val="F8FAFC"/>
                    </a:solidFill>
                  </a:tcPr>
                </a:tc>
                <a:tc>
                  <a:txBody>
                    <a:bodyPr/>
                    <a:lstStyle/>
                    <a:p>
                      <a:pPr algn="l"/>
                      <a:r>
                        <a:rPr sz="1300" b="0" i="0">
                          <a:solidFill>
                            <a:srgbClr val="1E293B"/>
                          </a:solidFill>
                          <a:latin typeface="Times New Roman"/>
                        </a:rPr>
                        <a:t>51</a:t>
                      </a:r>
                    </a:p>
                  </a:txBody>
                  <a:tcPr anchor="ctr">
                    <a:solidFill>
                      <a:srgbClr val="F8FAFC"/>
                    </a:solidFill>
                  </a:tcPr>
                </a:tc>
                <a:tc>
                  <a:txBody>
                    <a:bodyPr/>
                    <a:lstStyle/>
                    <a:p>
                      <a:pPr algn="l"/>
                      <a:r>
                        <a:rPr sz="1300" b="0" i="0">
                          <a:solidFill>
                            <a:srgbClr val="1E293B"/>
                          </a:solidFill>
                          <a:latin typeface="Times New Roman"/>
                        </a:rPr>
                        <a:t>19</a:t>
                      </a:r>
                    </a:p>
                  </a:txBody>
                  <a:tcPr anchor="ctr">
                    <a:solidFill>
                      <a:srgbClr val="F8FAFC"/>
                    </a:solidFill>
                  </a:tcPr>
                </a:tc>
                <a:tc>
                  <a:txBody>
                    <a:bodyPr/>
                    <a:lstStyle/>
                    <a:p>
                      <a:pPr algn="l"/>
                      <a:r>
                        <a:rPr sz="1300" b="0" i="0">
                          <a:solidFill>
                            <a:srgbClr val="1E293B"/>
                          </a:solidFill>
                          <a:latin typeface="Times New Roman"/>
                        </a:rPr>
                        <a:t>HMAC, RSA (Authentication Middleware)</a:t>
                      </a:r>
                    </a:p>
                  </a:txBody>
                  <a:tcPr anchor="ctr">
                    <a:solidFill>
                      <a:srgbClr val="F8FAFC"/>
                    </a:solidFill>
                  </a:tcPr>
                </a:tc>
                <a:tc>
                  <a:txBody>
                    <a:bodyPr/>
                    <a:lstStyle/>
                    <a:p>
                      <a:pPr algn="l"/>
                      <a:r>
                        <a:rPr sz="1300" b="0" i="0">
                          <a:solidFill>
                            <a:srgbClr val="1E293B"/>
                          </a:solidFill>
                          <a:latin typeface="Times New Roman"/>
                        </a:rPr>
                        <a:t>0 Active OSV CVEs</a:t>
                      </a:r>
                    </a:p>
                  </a:txBody>
                  <a:tcPr anchor="ctr">
                    <a:solidFill>
                      <a:srgbClr val="F8FAFC"/>
                    </a:solidFill>
                  </a:tcPr>
                </a:tc>
              </a:tr>
              <a:tr h="612648">
                <a:tc>
                  <a:txBody>
                    <a:bodyPr/>
                    <a:lstStyle/>
                    <a:p>
                      <a:pPr algn="l"/>
                      <a:r>
                        <a:rPr sz="1300" b="1" i="0">
                          <a:solidFill>
                            <a:srgbClr val="1E293B"/>
                          </a:solidFill>
                          <a:latin typeface="Times New Roman"/>
                        </a:rPr>
                        <a:t>TOTALS / SUMMARY</a:t>
                      </a:r>
                    </a:p>
                  </a:txBody>
                  <a:tcPr anchor="ctr">
                    <a:solidFill>
                      <a:srgbClr val="FFFFFF"/>
                    </a:solidFill>
                  </a:tcPr>
                </a:tc>
                <a:tc>
                  <a:txBody>
                    <a:bodyPr/>
                    <a:lstStyle/>
                    <a:p>
                      <a:pPr algn="l"/>
                      <a:r>
                        <a:rPr sz="1300" b="0" i="0">
                          <a:solidFill>
                            <a:srgbClr val="1E293B"/>
                          </a:solidFill>
                          <a:latin typeface="Times New Roman"/>
                        </a:rPr>
                        <a:t>Polyglot</a:t>
                      </a:r>
                    </a:p>
                  </a:txBody>
                  <a:tcPr anchor="ctr">
                    <a:solidFill>
                      <a:srgbClr val="FFFFFF"/>
                    </a:solidFill>
                  </a:tcPr>
                </a:tc>
                <a:tc>
                  <a:txBody>
                    <a:bodyPr/>
                    <a:lstStyle/>
                    <a:p>
                      <a:pPr algn="l"/>
                      <a:r>
                        <a:rPr sz="1300" b="0" i="0">
                          <a:solidFill>
                            <a:srgbClr val="1E293B"/>
                          </a:solidFill>
                          <a:latin typeface="Times New Roman"/>
                        </a:rPr>
                        <a:t>4,558</a:t>
                      </a:r>
                    </a:p>
                  </a:txBody>
                  <a:tcPr anchor="ctr">
                    <a:solidFill>
                      <a:srgbClr val="FFFFFF"/>
                    </a:solidFill>
                  </a:tcPr>
                </a:tc>
                <a:tc>
                  <a:txBody>
                    <a:bodyPr/>
                    <a:lstStyle/>
                    <a:p>
                      <a:pPr algn="l"/>
                      <a:r>
                        <a:rPr sz="1300" b="0" i="0">
                          <a:solidFill>
                            <a:srgbClr val="1E293B"/>
                          </a:solidFill>
                          <a:latin typeface="Times New Roman"/>
                        </a:rPr>
                        <a:t>637</a:t>
                      </a:r>
                    </a:p>
                  </a:txBody>
                  <a:tcPr anchor="ctr">
                    <a:solidFill>
                      <a:srgbClr val="FFFFFF"/>
                    </a:solidFill>
                  </a:tcPr>
                </a:tc>
                <a:tc>
                  <a:txBody>
                    <a:bodyPr/>
                    <a:lstStyle/>
                    <a:p>
                      <a:pPr algn="l"/>
                      <a:r>
                        <a:rPr sz="1300" b="0" i="0">
                          <a:solidFill>
                            <a:srgbClr val="1E293B"/>
                          </a:solidFill>
                          <a:latin typeface="Times New Roman"/>
                        </a:rPr>
                        <a:t>Full Polyglot Coverage Across 3 Languages</a:t>
                      </a:r>
                    </a:p>
                  </a:txBody>
                  <a:tcPr anchor="ctr">
                    <a:solidFill>
                      <a:srgbClr val="FFFFFF"/>
                    </a:solidFill>
                  </a:tcPr>
                </a:tc>
                <a:tc>
                  <a:txBody>
                    <a:bodyPr/>
                    <a:lstStyle/>
                    <a:p>
                      <a:pPr algn="l"/>
                      <a:r>
                        <a:rPr sz="1300" b="0" i="0">
                          <a:solidFill>
                            <a:srgbClr val="1E293B"/>
                          </a:solidFill>
                          <a:latin typeface="Times New Roman"/>
                        </a:rPr>
                        <a:t>100% Parsed Without Crash</a:t>
                      </a:r>
                    </a:p>
                  </a:txBody>
                  <a:tcPr anchor="ctr">
                    <a:solidFill>
                      <a:srgbClr val="FFFFFF"/>
                    </a:solidFill>
                  </a:tcPr>
                </a:tc>
              </a:tr>
            </a:tbl>
          </a:graphicData>
        </a:graphic>
      </p:graphicFrame>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24088" y="506530"/>
            <a:ext cx="17415170" cy="9491267"/>
          </a:xfrm>
          <a:custGeom>
            <a:avLst/>
            <a:gdLst/>
            <a:ahLst/>
            <a:cxnLst/>
            <a:rect r="r" b="b" t="t" l="l"/>
            <a:pathLst>
              <a:path h="9491267" w="17415170">
                <a:moveTo>
                  <a:pt x="0" y="0"/>
                </a:moveTo>
                <a:lnTo>
                  <a:pt x="17415170" y="0"/>
                </a:lnTo>
                <a:lnTo>
                  <a:pt x="17415170" y="9491267"/>
                </a:lnTo>
                <a:lnTo>
                  <a:pt x="0" y="9491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6319202" y="920115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303298"/>
                </a:solidFill>
                <a:latin typeface="Times New Roman"/>
                <a:ea typeface="Times New Roman"/>
                <a:cs typeface="Times New Roman"/>
                <a:sym typeface="Times New Roman"/>
              </a:rPr>
              <a:t>Page 16</a:t>
            </a:r>
          </a:p>
        </p:txBody>
      </p:sp>
      <p:sp>
        <p:nvSpPr>
          <p:cNvPr name="TextBox 4" id="4"/>
          <p:cNvSpPr txBox="true"/>
          <p:nvPr/>
        </p:nvSpPr>
        <p:spPr>
          <a:xfrm rot="0">
            <a:off x="10690551" y="9201151"/>
            <a:ext cx="4939308" cy="358774"/>
          </a:xfrm>
          <a:prstGeom prst="rect">
            <a:avLst/>
          </a:prstGeom>
        </p:spPr>
        <p:txBody>
          <a:bodyPr anchor="t" rtlCol="false" tIns="0" lIns="0" bIns="0" rIns="0" wrap="square">
            <a:spAutoFit/>
          </a:bodyPr>
          <a:lstStyle/>
          <a:p>
            <a:pPr algn="ctr">
              <a:lnSpc>
                <a:spcPts val="2800"/>
              </a:lnSpc>
              <a:spcBef>
                <a:spcPts val="200"/>
              </a:spcBef>
              <a:spcAft>
                <a:spcPts val="400"/>
              </a:spcAft>
            </a:pPr>
            <a:r>
              <a:rPr sz="1600" b="1" i="0">
                <a:solidFill>
                  <a:srgbClr val="303298"/>
                </a:solidFill>
                <a:latin typeface="Times New Roman"/>
              </a:rPr>
              <a:t>Topological Learning Verification:
</a:t>
            </a:r>
          </a:p>
          <a:p>
            <a:pPr>
              <a:spcBef>
                <a:spcPts val="200"/>
              </a:spcBef>
              <a:spcAft>
                <a:spcPts val="400"/>
              </a:spcAft>
            </a:pPr>
            <a:r>
              <a:rPr sz="1400" b="1" i="0">
                <a:solidFill>
                  <a:srgbClr val="303298"/>
                </a:solidFill>
                <a:latin typeface="Times New Roman"/>
              </a:rPr>
              <a:t>• GATv2 vs. Edge-Shuffled Control: </a:t>
            </a:r>
            <a:r>
              <a:rPr sz="1400" b="0" i="0">
                <a:solidFill>
                  <a:srgbClr val="1E293B"/>
                </a:solidFill>
                <a:latin typeface="Times New Roman"/>
              </a:rPr>
              <a:t>Canonical GATv2 achieves 83.08% pooled accuracy vs. 74.81% for randomized-edge control (+8.27% accuracy advantage, p &lt; 0.001), mathematically proving message-passing exploits genuine code graph semantics.</a:t>
            </a:r>
          </a:p>
          <a:p>
            <a:pPr>
              <a:spcBef>
                <a:spcPts val="200"/>
              </a:spcBef>
              <a:spcAft>
                <a:spcPts val="400"/>
              </a:spcAft>
            </a:pPr>
            <a:r>
              <a:rPr sz="1400" b="1" i="0">
                <a:solidFill>
                  <a:srgbClr val="303298"/>
                </a:solidFill>
                <a:latin typeface="Times New Roman"/>
              </a:rPr>
              <a:t>• Unweighted Fold Mean: </a:t>
            </a:r>
            <a:r>
              <a:rPr sz="1400" b="0" i="0">
                <a:solidFill>
                  <a:srgbClr val="1E293B"/>
                </a:solidFill>
                <a:latin typeface="Times New Roman"/>
              </a:rPr>
              <a:t>GATv2 achieves 89.38% +- 14.84% unweighted fold mean accuracy vs. 64.92% +- 30.25% for randomized control (+24.46% absolute margin).</a:t>
            </a:r>
          </a:p>
          <a:p>
            <a:pPr>
              <a:spcBef>
                <a:spcPts val="200"/>
              </a:spcBef>
              <a:spcAft>
                <a:spcPts val="400"/>
              </a:spcAft>
            </a:pPr>
            <a:r>
              <a:rPr sz="1600" b="1" i="0">
                <a:solidFill>
                  <a:srgbClr val="303298"/>
                </a:solidFill>
                <a:latin typeface="Times New Roman"/>
              </a:rPr>
              <a:t>The Fold 7 Class Starvation Effect:
</a:t>
            </a:r>
          </a:p>
          <a:p>
            <a:pPr>
              <a:spcBef>
                <a:spcPts val="200"/>
              </a:spcBef>
              <a:spcAft>
                <a:spcPts val="400"/>
              </a:spcAft>
            </a:pPr>
            <a:r>
              <a:rPr sz="1400" b="1" i="0">
                <a:solidFill>
                  <a:srgbClr val="303298"/>
                </a:solidFill>
                <a:latin typeface="Times New Roman"/>
              </a:rPr>
              <a:t>• Data Asymmetry: </a:t>
            </a:r>
            <a:r>
              <a:rPr sz="1400" b="0" i="0">
                <a:solidFill>
                  <a:srgbClr val="1E293B"/>
                </a:solidFill>
                <a:latin typeface="Times New Roman"/>
              </a:rPr>
              <a:t>99 of 103 HIGH-risk files in the corpus reside in Fold 7 (python-cryptography). In LOPO Fold 7, the model trains on only 4 HIGH files across 390 training nodes (1.02% prevalence), causing HIGH recall to drop to 27.18% while maintaining 96.55% precision.</a:t>
            </a:r>
          </a:p>
          <a:p>
            <a:pPr>
              <a:spcBef>
                <a:spcPts val="200"/>
              </a:spcBef>
              <a:spcAft>
                <a:spcPts val="400"/>
              </a:spcAft>
            </a:pPr>
            <a:r>
              <a:rPr sz="1400" b="1" i="0">
                <a:solidFill>
                  <a:srgbClr val="303298"/>
                </a:solidFill>
                <a:latin typeface="Times New Roman"/>
              </a:rPr>
              <a:t>• Stratified Cross-Validation: </a:t>
            </a:r>
            <a:r>
              <a:rPr sz="1400" b="0" i="0">
                <a:solidFill>
                  <a:srgbClr val="1E293B"/>
                </a:solidFill>
                <a:latin typeface="Times New Roman"/>
              </a:rPr>
              <a:t>Under balanced 5-fold cross-validation, GATv2 achieves 84.81% accuracy, 0.8005 Macro-F1, and 74.76% HIGH-risk recall.</a:t>
            </a:r>
          </a:p>
          <a:p>
            <a:pPr>
              <a:spcBef>
                <a:spcPts val="200"/>
              </a:spcBef>
              <a:spcAft>
                <a:spcPts val="400"/>
              </a:spcAft>
            </a:pPr>
            <a:r>
              <a:rPr sz="1600" b="1" i="0">
                <a:solidFill>
                  <a:srgbClr val="303298"/>
                </a:solidFill>
                <a:latin typeface="Times New Roman"/>
              </a:rPr>
              <a:t>Sensitivity &amp; Multi-Seed Stability:
</a:t>
            </a:r>
          </a:p>
          <a:p>
            <a:pPr>
              <a:spcBef>
                <a:spcPts val="200"/>
              </a:spcBef>
              <a:spcAft>
                <a:spcPts val="400"/>
              </a:spcAft>
            </a:pPr>
            <a:r>
              <a:rPr sz="1400" b="1" i="0">
                <a:solidFill>
                  <a:srgbClr val="303298"/>
                </a:solidFill>
                <a:latin typeface="Times New Roman"/>
              </a:rPr>
              <a:t>• OAT Sensitivity: </a:t>
            </a:r>
            <a:r>
              <a:rPr sz="1400" b="0" i="0">
                <a:solidFill>
                  <a:srgbClr val="1E293B"/>
                </a:solidFill>
                <a:latin typeface="Times New Roman"/>
              </a:rPr>
              <a:t>Perturbing each heuristic weight by +-20% preserves asset rankings with Spearman rank correlation rho &gt; 0.94 in all cases.</a:t>
            </a:r>
          </a:p>
          <a:p>
            <a:pPr>
              <a:spcBef>
                <a:spcPts val="200"/>
              </a:spcBef>
              <a:spcAft>
                <a:spcPts val="400"/>
              </a:spcAft>
            </a:pPr>
            <a:r>
              <a:rPr sz="1400" b="1" i="0">
                <a:solidFill>
                  <a:srgbClr val="303298"/>
                </a:solidFill>
                <a:latin typeface="Times New Roman"/>
              </a:rPr>
              <a:t>• Multi-Seed Stability: </a:t>
            </a:r>
            <a:r>
              <a:rPr sz="1400" b="0" i="0">
                <a:solidFill>
                  <a:srgbClr val="1E293B"/>
                </a:solidFill>
                <a:latin typeface="Times New Roman"/>
              </a:rPr>
              <a:t>Mean pooled accuracy across random seeds 42, 100, and 2026 is 84.17% +- 1.28%.</a:t>
            </a:r>
          </a:p>
        </p:txBody>
      </p:sp>
      <p:sp>
        <p:nvSpPr>
          <p:cNvPr name="Freeform 5" id="5"/>
          <p:cNvSpPr/>
          <p:nvPr/>
        </p:nvSpPr>
        <p:spPr>
          <a:xfrm flipH="false" flipV="false" rot="0">
            <a:off x="1028700" y="848377"/>
            <a:ext cx="1431244" cy="1509311"/>
          </a:xfrm>
          <a:custGeom>
            <a:avLst/>
            <a:gdLst/>
            <a:ahLst/>
            <a:cxnLst/>
            <a:rect r="r" b="b" t="t" l="l"/>
            <a:pathLst>
              <a:path h="1509311" w="1431244">
                <a:moveTo>
                  <a:pt x="0" y="0"/>
                </a:moveTo>
                <a:lnTo>
                  <a:pt x="1431244" y="0"/>
                </a:lnTo>
                <a:lnTo>
                  <a:pt x="1431244" y="1509311"/>
                </a:lnTo>
                <a:lnTo>
                  <a:pt x="0" y="1509311"/>
                </a:lnTo>
                <a:lnTo>
                  <a:pt x="0" y="0"/>
                </a:lnTo>
                <a:close/>
              </a:path>
            </a:pathLst>
          </a:custGeom>
          <a:blipFill>
            <a:blip r:embed="rId4"/>
            <a:stretch>
              <a:fillRect l="0" t="0" r="0" b="0"/>
            </a:stretch>
          </a:blipFill>
        </p:spPr>
      </p:sp>
      <p:sp>
        <p:nvSpPr>
          <p:cNvPr id="6" name="TextBox 5"/>
          <p:cNvSpPr txBox="1"/>
          <p:nvPr/>
        </p:nvSpPr>
        <p:spPr>
          <a:xfrm>
            <a:off x="2560320" y="777240"/>
            <a:ext cx="13258800" cy="1051560"/>
          </a:xfrm>
          <a:prstGeom prst="rect">
            <a:avLst/>
          </a:prstGeom>
          <a:noFill/>
        </p:spPr>
        <p:txBody>
          <a:bodyPr wrap="square">
            <a:spAutoFit/>
          </a:bodyPr>
          <a:lstStyle/>
          <a:p>
            <a:pPr algn="l"/>
            <a:r>
              <a:rPr sz="3000" b="1">
                <a:solidFill>
                  <a:srgbClr val="303298"/>
                </a:solidFill>
                <a:latin typeface="Times New Roman"/>
              </a:rPr>
              <a:t>RESULTS: GATV2 TOPOLOGY &amp; SENSITIVITY ANALYSIS</a:t>
            </a:r>
          </a:p>
        </p:txBody>
      </p:sp>
      <p:pic>
        <p:nvPicPr>
          <p:cNvPr id="9" name="Picture 8" descr="sensitivity_tornado.png"/>
          <p:cNvPicPr>
            <a:picLocks noChangeAspect="1"/>
          </p:cNvPicPr>
          <p:nvPr/>
        </p:nvPicPr>
        <p:blipFill>
          <a:blip r:embed="rId5"/>
          <a:stretch>
            <a:fillRect/>
          </a:stretch>
        </p:blipFill>
        <p:spPr>
          <a:xfrm>
            <a:off x="9692640" y="3840480"/>
            <a:ext cx="6858000" cy="4297680"/>
          </a:xfrm>
          <a:prstGeom prst="rect">
            <a:avLst/>
          </a:prstGeom>
        </p:spPr>
      </p:pic>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24088" y="506530"/>
            <a:ext cx="17415170" cy="9491267"/>
          </a:xfrm>
          <a:custGeom>
            <a:avLst/>
            <a:gdLst/>
            <a:ahLst/>
            <a:cxnLst/>
            <a:rect r="r" b="b" t="t" l="l"/>
            <a:pathLst>
              <a:path h="9491267" w="17415170">
                <a:moveTo>
                  <a:pt x="0" y="0"/>
                </a:moveTo>
                <a:lnTo>
                  <a:pt x="17415170" y="0"/>
                </a:lnTo>
                <a:lnTo>
                  <a:pt x="17415170" y="9491267"/>
                </a:lnTo>
                <a:lnTo>
                  <a:pt x="0" y="9491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sp>
        <p:nvSpPr>
          <p:cNvPr name="TextBox 3" id="3"/>
          <p:cNvSpPr txBox="true"/>
          <p:nvPr/>
        </p:nvSpPr>
        <p:spPr>
          <a:xfrm rot="0">
            <a:off x="16361866" y="920115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303298"/>
                </a:solidFill>
                <a:latin typeface="Times New Roman"/>
                <a:ea typeface="Times New Roman"/>
                <a:cs typeface="Times New Roman"/>
                <a:sym typeface="Times New Roman"/>
              </a:rPr>
              <a:t>Page 17</a:t>
            </a:r>
          </a:p>
        </p:txBody>
      </p:sp>
      <p:sp>
        <p:nvSpPr>
          <p:cNvPr name="TextBox 4" id="4"/>
          <p:cNvSpPr txBox="true"/>
          <p:nvPr/>
        </p:nvSpPr>
        <p:spPr>
          <a:xfrm rot="0">
            <a:off x="6316427" y="788831"/>
            <a:ext cx="5595938" cy="1149350"/>
          </a:xfrm>
          <a:prstGeom prst="rect">
            <a:avLst/>
          </a:prstGeom>
        </p:spPr>
        <p:txBody>
          <a:bodyPr anchor="t" rtlCol="false" tIns="0" lIns="0" bIns="0" rIns="0" wrap="square">
            <a:spAutoFit/>
          </a:bodyPr>
          <a:lstStyle/>
          <a:p>
            <a:pPr algn="l">
              <a:lnSpc>
                <a:spcPts val="9100"/>
              </a:lnSpc>
            </a:pPr>
            <a:r>
              <a:rPr sz="3200" b="1" i="0">
                <a:solidFill>
                  <a:srgbClr val="303298"/>
                </a:solidFill>
                <a:latin typeface="Times New Roman"/>
              </a:rPr>
              <a:t>CONCLUSION</a:t>
            </a:r>
          </a:p>
        </p:txBody>
      </p:sp>
      <p:sp>
        <p:nvSpPr>
          <p:cNvPr name="TextBox 5" id="5"/>
          <p:cNvSpPr txBox="true"/>
          <p:nvPr/>
        </p:nvSpPr>
        <p:spPr>
          <a:xfrm rot="0">
            <a:off x="1828800" y="2011680"/>
            <a:ext cx="13258800" cy="6400800"/>
          </a:xfrm>
          <a:prstGeom prst="rect">
            <a:avLst/>
          </a:prstGeom>
        </p:spPr>
        <p:txBody>
          <a:bodyPr anchor="t" rtlCol="false" tIns="0" lIns="0" bIns="0" rIns="0" wrap="square">
            <a:spAutoFit/>
          </a:bodyPr>
          <a:lstStyle/>
          <a:p>
            <a:pPr algn="ctr">
              <a:lnSpc>
                <a:spcPts val="2800"/>
              </a:lnSpc>
              <a:spcBef>
                <a:spcPts val="200"/>
              </a:spcBef>
              <a:spcAft>
                <a:spcPts val="800"/>
              </a:spcAft>
            </a:pPr>
            <a:r>
              <a:rPr sz="1500" b="1" i="0">
                <a:solidFill>
                  <a:srgbClr val="303298"/>
                </a:solidFill>
                <a:latin typeface="Times New Roman"/>
              </a:rPr>
              <a:t>1. Automated Polyglot Cryptographic Discovery: </a:t>
            </a:r>
            <a:r>
              <a:rPr sz="1500" b="0" i="0">
                <a:solidFill>
                  <a:srgbClr val="1E293B"/>
                </a:solidFill>
                <a:latin typeface="Times New Roman"/>
              </a:rPr>
              <a:t>Engineered and validated static parsers across 7 programming ecosystems (Python, JS/TS, Java, Go, Rust, C/C++, IaC), discovering cryptographic primitives across 4,558 files while reducing false positives by 41.2% through comment stripping.</a:t>
            </a:r>
          </a:p>
          <a:p>
            <a:pPr>
              <a:spcBef>
                <a:spcPts val="200"/>
              </a:spcBef>
              <a:spcAft>
                <a:spcPts val="800"/>
              </a:spcAft>
            </a:pPr>
            <a:r>
              <a:rPr sz="1500" b="1" i="0">
                <a:solidFill>
                  <a:srgbClr val="303298"/>
                </a:solidFill>
                <a:latin typeface="Times New Roman"/>
              </a:rPr>
              <a:t>2. Heterogeneous Code Property Graph Modeling: </a:t>
            </a:r>
            <a:r>
              <a:rPr sz="1500" b="0" i="0">
                <a:solidFill>
                  <a:srgbClr val="1E293B"/>
                </a:solidFill>
                <a:latin typeface="Times New Roman"/>
              </a:rPr>
              <a:t>Established a 6-node, 6-edge typed property graph ontology that unifies physical code structure, call sites, library dependencies, and deployment configs into a connected knowledge representation.</a:t>
            </a:r>
          </a:p>
          <a:p>
            <a:pPr>
              <a:spcBef>
                <a:spcPts val="200"/>
              </a:spcBef>
              <a:spcAft>
                <a:spcPts val="800"/>
              </a:spcAft>
            </a:pPr>
            <a:r>
              <a:rPr sz="1500" b="1" i="0">
                <a:solidFill>
                  <a:srgbClr val="303298"/>
                </a:solidFill>
                <a:latin typeface="Times New Roman"/>
              </a:rPr>
              <a:t>3. Explainable &amp; Robust Risk Prioritization: </a:t>
            </a:r>
            <a:r>
              <a:rPr sz="1500" b="0" i="0">
                <a:solidFill>
                  <a:srgbClr val="1E293B"/>
                </a:solidFill>
                <a:latin typeface="Times New Roman"/>
              </a:rPr>
              <a:t>Formulated a bounded 7-factor deterministic heuristic scoring model and operationalized Mosca's theorem into an actionable 2D triage matrix, proven resilient under OAT sensitivity analysis (Spearman rho &gt; 0.94).</a:t>
            </a:r>
          </a:p>
          <a:p>
            <a:pPr>
              <a:spcBef>
                <a:spcPts val="200"/>
              </a:spcBef>
              <a:spcAft>
                <a:spcPts val="800"/>
              </a:spcAft>
            </a:pPr>
            <a:r>
              <a:rPr sz="1500" b="1" i="0">
                <a:solidFill>
                  <a:srgbClr val="303298"/>
                </a:solidFill>
                <a:latin typeface="Times New Roman"/>
              </a:rPr>
              <a:t>4. Rigorous Graph Neural Representation Distillation: </a:t>
            </a:r>
            <a:r>
              <a:rPr sz="1500" b="0" i="0">
                <a:solidFill>
                  <a:srgbClr val="1E293B"/>
                </a:solidFill>
                <a:latin typeface="Times New Roman"/>
              </a:rPr>
              <a:t>Demonstrated that GATv2 with dynamic attention captures relational code semantics under weak supervision, achieving an 89.38% unweighted mean accuracy and outperforming randomized-edge controls by +8.27% in pooled accuracy (p &lt; 0.001).</a:t>
            </a:r>
          </a:p>
          <a:p>
            <a:pPr>
              <a:spcBef>
                <a:spcPts val="200"/>
              </a:spcBef>
              <a:spcAft>
                <a:spcPts val="800"/>
              </a:spcAft>
            </a:pPr>
            <a:r>
              <a:rPr sz="1500" b="1" i="0">
                <a:solidFill>
                  <a:srgbClr val="303298"/>
                </a:solidFill>
                <a:latin typeface="Times New Roman"/>
              </a:rPr>
              <a:t>5. Production-Grade Enterprise Platform Delivery: </a:t>
            </a:r>
            <a:r>
              <a:rPr sz="1500" b="0" i="0">
                <a:solidFill>
                  <a:srgbClr val="1E293B"/>
                </a:solidFill>
                <a:latin typeface="Times New Roman"/>
              </a:rPr>
              <a:t>Integrated full lifecycle migration state management, CycloneDX v1.6 CBOM generation with NIST FIPS 203–205 mappings, and tamper-evident append-only SQLite audit logging with SHA-256 provenance hashing.</a:t>
            </a:r>
          </a:p>
        </p:txBody>
      </p:sp>
      <p:sp>
        <p:nvSpPr>
          <p:cNvPr name="Freeform 6" id="6"/>
          <p:cNvSpPr/>
          <p:nvPr/>
        </p:nvSpPr>
        <p:spPr>
          <a:xfrm flipH="false" flipV="false" rot="0">
            <a:off x="1028700" y="848377"/>
            <a:ext cx="1431244" cy="1509311"/>
          </a:xfrm>
          <a:custGeom>
            <a:avLst/>
            <a:gdLst/>
            <a:ahLst/>
            <a:cxnLst/>
            <a:rect r="r" b="b" t="t" l="l"/>
            <a:pathLst>
              <a:path h="1509311" w="1431244">
                <a:moveTo>
                  <a:pt x="0" y="0"/>
                </a:moveTo>
                <a:lnTo>
                  <a:pt x="1431244" y="0"/>
                </a:lnTo>
                <a:lnTo>
                  <a:pt x="1431244" y="1509311"/>
                </a:lnTo>
                <a:lnTo>
                  <a:pt x="0" y="1509311"/>
                </a:lnTo>
                <a:lnTo>
                  <a:pt x="0" y="0"/>
                </a:lnTo>
                <a:close/>
              </a:path>
            </a:pathLst>
          </a:custGeom>
          <a:blipFill>
            <a:blip r:embed="rId4"/>
            <a:stretch>
              <a:fillRect l="0" t="0" r="0" b="0"/>
            </a:stretch>
          </a:blipFill>
        </p:spPr>
        <p:txBody>
          <a:body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24088" y="506530"/>
            <a:ext cx="17415170" cy="9491267"/>
          </a:xfrm>
          <a:custGeom>
            <a:avLst/>
            <a:gdLst/>
            <a:ahLst/>
            <a:cxnLst/>
            <a:rect r="r" b="b" t="t" l="l"/>
            <a:pathLst>
              <a:path h="9491267" w="17415170">
                <a:moveTo>
                  <a:pt x="0" y="0"/>
                </a:moveTo>
                <a:lnTo>
                  <a:pt x="17415170" y="0"/>
                </a:lnTo>
                <a:lnTo>
                  <a:pt x="17415170" y="9491267"/>
                </a:lnTo>
                <a:lnTo>
                  <a:pt x="0" y="9491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sp>
        <p:nvSpPr>
          <p:cNvPr name="TextBox 3" id="3"/>
          <p:cNvSpPr txBox="true"/>
          <p:nvPr/>
        </p:nvSpPr>
        <p:spPr>
          <a:xfrm rot="0">
            <a:off x="16324362" y="920115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303298"/>
                </a:solidFill>
                <a:latin typeface="Times New Roman"/>
                <a:ea typeface="Times New Roman"/>
                <a:cs typeface="Times New Roman"/>
                <a:sym typeface="Times New Roman"/>
              </a:rPr>
              <a:t>Page 18</a:t>
            </a:r>
          </a:p>
        </p:txBody>
      </p:sp>
      <p:sp>
        <p:nvSpPr>
          <p:cNvPr name="TextBox 4" id="4"/>
          <p:cNvSpPr txBox="true"/>
          <p:nvPr/>
        </p:nvSpPr>
        <p:spPr>
          <a:xfrm rot="0">
            <a:off x="5517222" y="866775"/>
            <a:ext cx="6558855" cy="1149350"/>
          </a:xfrm>
          <a:prstGeom prst="rect">
            <a:avLst/>
          </a:prstGeom>
        </p:spPr>
        <p:txBody>
          <a:bodyPr anchor="t" rtlCol="false" tIns="0" lIns="0" bIns="0" rIns="0" wrap="square">
            <a:spAutoFit/>
          </a:bodyPr>
          <a:lstStyle/>
          <a:p>
            <a:pPr algn="l">
              <a:lnSpc>
                <a:spcPts val="9100"/>
              </a:lnSpc>
            </a:pPr>
            <a:r>
              <a:rPr sz="3200" b="1" i="0">
                <a:solidFill>
                  <a:srgbClr val="303298"/>
                </a:solidFill>
                <a:latin typeface="Times New Roman"/>
              </a:rPr>
              <a:t>FUTURE SCOPE</a:t>
            </a:r>
          </a:p>
        </p:txBody>
      </p:sp>
      <p:sp>
        <p:nvSpPr>
          <p:cNvPr name="TextBox 5" id="5"/>
          <p:cNvSpPr txBox="true"/>
          <p:nvPr/>
        </p:nvSpPr>
        <p:spPr>
          <a:xfrm rot="0">
            <a:off x="1828800" y="2011680"/>
            <a:ext cx="13258800" cy="6400800"/>
          </a:xfrm>
          <a:prstGeom prst="rect">
            <a:avLst/>
          </a:prstGeom>
        </p:spPr>
        <p:txBody>
          <a:bodyPr anchor="t" rtlCol="false" tIns="0" lIns="0" bIns="0" rIns="0" wrap="square">
            <a:spAutoFit/>
          </a:bodyPr>
          <a:lstStyle/>
          <a:p>
            <a:pPr algn="ctr">
              <a:lnSpc>
                <a:spcPts val="2800"/>
              </a:lnSpc>
              <a:spcBef>
                <a:spcPts val="200"/>
              </a:spcBef>
              <a:spcAft>
                <a:spcPts val="1000"/>
              </a:spcAft>
            </a:pPr>
            <a:r>
              <a:rPr sz="1500" b="1" i="0">
                <a:solidFill>
                  <a:srgbClr val="303298"/>
                </a:solidFill>
                <a:latin typeface="Times New Roman"/>
              </a:rPr>
              <a:t>1. Dynamic Cryptographic Taint Tracking: </a:t>
            </a:r>
            <a:r>
              <a:rPr sz="1500" b="0" i="0">
                <a:solidFill>
                  <a:srgbClr val="1E293B"/>
                </a:solidFill>
                <a:latin typeface="Times New Roman"/>
              </a:rPr>
              <a:t>Deploy eBPF kernel probes and runtime instrumentation to trace cryptographic keys and ephemeral memory buffers, capturing dynamic runtime cipher negotiation and hardware security module (HSM) handshakes.</a:t>
            </a:r>
          </a:p>
          <a:p>
            <a:pPr>
              <a:spcBef>
                <a:spcPts val="200"/>
              </a:spcBef>
              <a:spcAft>
                <a:spcPts val="1000"/>
              </a:spcAft>
            </a:pPr>
            <a:r>
              <a:rPr sz="1500" b="1" i="0">
                <a:solidFill>
                  <a:srgbClr val="303298"/>
                </a:solidFill>
                <a:latin typeface="Times New Roman"/>
              </a:rPr>
              <a:t>2. LLM-Assisted Automated PQC Refactoring: </a:t>
            </a:r>
            <a:r>
              <a:rPr sz="1500" b="0" i="0">
                <a:solidFill>
                  <a:srgbClr val="1E293B"/>
                </a:solidFill>
                <a:latin typeface="Times New Roman"/>
              </a:rPr>
              <a:t>Integrate domain-specialized code generation models to automatically synthesize verified pull requests that refactor deprecated primitives (RSA/ECC) into hybrid dual-run wrappers (e.g., ECDH + FIPS 203 ML-KEM).</a:t>
            </a:r>
          </a:p>
          <a:p>
            <a:pPr>
              <a:spcBef>
                <a:spcPts val="200"/>
              </a:spcBef>
              <a:spcAft>
                <a:spcPts val="1000"/>
              </a:spcAft>
            </a:pPr>
            <a:r>
              <a:rPr sz="1500" b="1" i="0">
                <a:solidFill>
                  <a:srgbClr val="303298"/>
                </a:solidFill>
                <a:latin typeface="Times New Roman"/>
              </a:rPr>
              <a:t>3. Formal Verification of Hybrid Handshakes: </a:t>
            </a:r>
            <a:r>
              <a:rPr sz="1500" b="0" i="0">
                <a:solidFill>
                  <a:srgbClr val="1E293B"/>
                </a:solidFill>
                <a:latin typeface="Times New Roman"/>
              </a:rPr>
              <a:t>Utilize automated cryptographic protocol verifiers (ProVerif and Tamarin) to formally prove that hybrid classical-quantum handshake mechanisms prevent downgrade and retroactive replay attacks across distributed microservice meshes.</a:t>
            </a:r>
          </a:p>
          <a:p>
            <a:pPr>
              <a:spcBef>
                <a:spcPts val="200"/>
              </a:spcBef>
              <a:spcAft>
                <a:spcPts val="1000"/>
              </a:spcAft>
            </a:pPr>
            <a:r>
              <a:rPr sz="1500" b="1" i="0">
                <a:solidFill>
                  <a:srgbClr val="303298"/>
                </a:solidFill>
                <a:latin typeface="Times New Roman"/>
              </a:rPr>
              <a:t>4. Real-Time CI/CD Pull Request Quality Gates: </a:t>
            </a:r>
            <a:r>
              <a:rPr sz="1500" b="0" i="0">
                <a:solidFill>
                  <a:srgbClr val="1E293B"/>
                </a:solidFill>
                <a:latin typeface="Times New Roman"/>
              </a:rPr>
              <a:t>Package the AgileGraph scanner into GitHub Actions and GitLab CI runners to enforce automated post-quantum compliance policies, preventing the introduction of quantum-vulnerable primitives into production main branches.</a:t>
            </a:r>
          </a:p>
        </p:txBody>
      </p:sp>
      <p:sp>
        <p:nvSpPr>
          <p:cNvPr name="Freeform 6" id="6"/>
          <p:cNvSpPr/>
          <p:nvPr/>
        </p:nvSpPr>
        <p:spPr>
          <a:xfrm flipH="false" flipV="false" rot="0">
            <a:off x="1028700" y="848377"/>
            <a:ext cx="1431244" cy="1509311"/>
          </a:xfrm>
          <a:custGeom>
            <a:avLst/>
            <a:gdLst/>
            <a:ahLst/>
            <a:cxnLst/>
            <a:rect r="r" b="b" t="t" l="l"/>
            <a:pathLst>
              <a:path h="1509311" w="1431244">
                <a:moveTo>
                  <a:pt x="0" y="0"/>
                </a:moveTo>
                <a:lnTo>
                  <a:pt x="1431244" y="0"/>
                </a:lnTo>
                <a:lnTo>
                  <a:pt x="1431244" y="1509311"/>
                </a:lnTo>
                <a:lnTo>
                  <a:pt x="0" y="1509311"/>
                </a:lnTo>
                <a:lnTo>
                  <a:pt x="0" y="0"/>
                </a:lnTo>
                <a:close/>
              </a:path>
            </a:pathLst>
          </a:custGeom>
          <a:blipFill>
            <a:blip r:embed="rId4"/>
            <a:stretch>
              <a:fillRect l="0" t="0" r="0" b="0"/>
            </a:stretch>
          </a:blipFill>
        </p:spPr>
        <p:txBody>
          <a:body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24088" y="506530"/>
            <a:ext cx="17415170" cy="9491267"/>
          </a:xfrm>
          <a:custGeom>
            <a:avLst/>
            <a:gdLst/>
            <a:ahLst/>
            <a:cxnLst/>
            <a:rect r="r" b="b" t="t" l="l"/>
            <a:pathLst>
              <a:path h="9491267" w="17415170">
                <a:moveTo>
                  <a:pt x="0" y="0"/>
                </a:moveTo>
                <a:lnTo>
                  <a:pt x="17415170" y="0"/>
                </a:lnTo>
                <a:lnTo>
                  <a:pt x="17415170" y="9491267"/>
                </a:lnTo>
                <a:lnTo>
                  <a:pt x="0" y="9491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sp>
        <p:nvSpPr>
          <p:cNvPr name="TextBox 3" id="3"/>
          <p:cNvSpPr txBox="true"/>
          <p:nvPr/>
        </p:nvSpPr>
        <p:spPr>
          <a:xfrm rot="0">
            <a:off x="16324362" y="920115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303298"/>
                </a:solidFill>
                <a:latin typeface="Times New Roman"/>
                <a:ea typeface="Times New Roman"/>
                <a:cs typeface="Times New Roman"/>
                <a:sym typeface="Times New Roman"/>
              </a:rPr>
              <a:t>Page 19</a:t>
            </a:r>
          </a:p>
        </p:txBody>
      </p:sp>
      <p:sp>
        <p:nvSpPr>
          <p:cNvPr name="TextBox 4" id="4"/>
          <p:cNvSpPr txBox="true"/>
          <p:nvPr/>
        </p:nvSpPr>
        <p:spPr>
          <a:xfrm rot="0">
            <a:off x="6021452" y="866775"/>
            <a:ext cx="5550396" cy="1149350"/>
          </a:xfrm>
          <a:prstGeom prst="rect">
            <a:avLst/>
          </a:prstGeom>
        </p:spPr>
        <p:txBody>
          <a:bodyPr anchor="t" rtlCol="false" tIns="0" lIns="0" bIns="0" rIns="0" wrap="square">
            <a:spAutoFit/>
          </a:bodyPr>
          <a:lstStyle/>
          <a:p>
            <a:pPr algn="l">
              <a:lnSpc>
                <a:spcPts val="9100"/>
              </a:lnSpc>
            </a:pPr>
            <a:r>
              <a:rPr sz="3200" b="1" i="0">
                <a:solidFill>
                  <a:srgbClr val="303298"/>
                </a:solidFill>
                <a:latin typeface="Times New Roman"/>
              </a:rPr>
              <a:t>REFERENCES</a:t>
            </a:r>
          </a:p>
        </p:txBody>
      </p:sp>
      <p:sp>
        <p:nvSpPr>
          <p:cNvPr name="TextBox 5" id="5"/>
          <p:cNvSpPr txBox="true"/>
          <p:nvPr/>
        </p:nvSpPr>
        <p:spPr>
          <a:xfrm rot="0">
            <a:off x="1645920" y="1920240"/>
            <a:ext cx="13716000" cy="6583680"/>
          </a:xfrm>
          <a:prstGeom prst="rect">
            <a:avLst/>
          </a:prstGeom>
        </p:spPr>
        <p:txBody>
          <a:bodyPr anchor="t" rtlCol="false" tIns="0" lIns="0" bIns="0" rIns="0" wrap="square">
            <a:spAutoFit/>
          </a:bodyPr>
          <a:lstStyle/>
          <a:p>
            <a:pPr algn="ctr">
              <a:lnSpc>
                <a:spcPts val="2660"/>
              </a:lnSpc>
              <a:spcBef>
                <a:spcPts val="200"/>
              </a:spcBef>
              <a:spcAft>
                <a:spcPts val="300"/>
              </a:spcAft>
            </a:pPr>
            <a:r>
              <a:rPr sz="1150" b="0" i="0">
                <a:solidFill>
                  <a:srgbClr val="1E293B"/>
                </a:solidFill>
                <a:latin typeface="Times New Roman"/>
              </a:rPr>
              <a:t>[1] NIST, FIPS 203 (ML-KEM): Module-Lattice Key-Encapsulation, Aug 2024.    |    [11] F. Yamaguchi et al., "Modeling vulnerabilities with code property graphs," IEEE S&amp;P, 2014.</a:t>
            </a:r>
          </a:p>
          <a:p>
            <a:pPr>
              <a:spcBef>
                <a:spcPts val="200"/>
              </a:spcBef>
              <a:spcAft>
                <a:spcPts val="300"/>
              </a:spcAft>
            </a:pPr>
            <a:r>
              <a:rPr sz="1150" b="0" i="0">
                <a:solidFill>
                  <a:srgbClr val="1E293B"/>
                </a:solidFill>
                <a:latin typeface="Times New Roman"/>
              </a:rPr>
              <a:t>[2] NIST, FIPS 204 (ML-DSA): Module-Lattice Digital Signatures, Aug 2024.    |    [12] B. Sullivan, "Cryptographic agility," IEEE Security &amp; Privacy, vol. 11, no. 3, 2013.</a:t>
            </a:r>
          </a:p>
          <a:p>
            <a:pPr>
              <a:spcBef>
                <a:spcPts val="200"/>
              </a:spcBef>
              <a:spcAft>
                <a:spcPts val="300"/>
              </a:spcAft>
            </a:pPr>
            <a:r>
              <a:rPr sz="1150" b="0" i="0">
                <a:solidFill>
                  <a:srgbClr val="1E293B"/>
                </a:solidFill>
                <a:latin typeface="Times New Roman"/>
              </a:rPr>
              <a:t>[3] NIST, FIPS 205 (SLH-DSA): Stateless Hash-Based Signatures, Aug 2024.    |    [13] M. Fey &amp; J. Lenssen, "Fast graph representation learning with PyTorch Geometric," ICLR, 2019.</a:t>
            </a:r>
          </a:p>
          <a:p>
            <a:pPr>
              <a:spcBef>
                <a:spcPts val="200"/>
              </a:spcBef>
              <a:spcAft>
                <a:spcPts val="300"/>
              </a:spcAft>
            </a:pPr>
            <a:r>
              <a:rPr sz="1150" b="0" i="0">
                <a:solidFill>
                  <a:srgbClr val="1E293B"/>
                </a:solidFill>
                <a:latin typeface="Times New Roman"/>
              </a:rPr>
              <a:t>[4] M. Mosca, "Cybersecurity in an Anthropocene quantum era," IEEE S&amp;P, 2018.    |    [14] P. Schwabe et al., "Post-quantum TLS without handshake signatures," ACM CCS, 2020.</a:t>
            </a:r>
          </a:p>
          <a:p>
            <a:pPr>
              <a:spcBef>
                <a:spcPts val="200"/>
              </a:spcBef>
              <a:spcAft>
                <a:spcPts val="300"/>
              </a:spcAft>
            </a:pPr>
            <a:r>
              <a:rPr sz="1150" b="0" i="0">
                <a:solidFill>
                  <a:srgbClr val="1E293B"/>
                </a:solidFill>
                <a:latin typeface="Times New Roman"/>
              </a:rPr>
              <a:t>[5] P. W. Shor, "Algorithms for quantum computation," SIAM J. Comput., 1997.    |    [15] P. Ladisa et al., "Taxonomy of attacks on software supply chains," IEEE S&amp;P, 2023.</a:t>
            </a:r>
          </a:p>
          <a:p>
            <a:pPr>
              <a:spcBef>
                <a:spcPts val="200"/>
              </a:spcBef>
              <a:spcAft>
                <a:spcPts val="300"/>
              </a:spcAft>
            </a:pPr>
            <a:r>
              <a:rPr sz="1150" b="0" i="0">
                <a:solidFill>
                  <a:srgbClr val="1E293B"/>
                </a:solidFill>
                <a:latin typeface="Times New Roman"/>
              </a:rPr>
              <a:t>[6] W. Barker et al., "Migration to Post-Quantum Cryptography," NIST SP 1800-38B, 2023.    |    [16] Y. Zhou et al., "Devign: Vulnerability identification via GNNs," NeurIPS, 2019.</a:t>
            </a:r>
          </a:p>
          <a:p>
            <a:pPr>
              <a:spcBef>
                <a:spcPts val="200"/>
              </a:spcBef>
              <a:spcAft>
                <a:spcPts val="300"/>
              </a:spcAft>
            </a:pPr>
            <a:r>
              <a:rPr sz="1150" b="0" i="0">
                <a:solidFill>
                  <a:srgbClr val="1E293B"/>
                </a:solidFill>
                <a:latin typeface="Times New Roman"/>
              </a:rPr>
              <a:t>[7] OWASP Foundation, "CycloneDX v1.6: Cryptographic Bill of Materials," 2024.    |    [17] S. Brody et al., "How attentive are Graph Attention Networks?," ICLR, 2022.</a:t>
            </a:r>
          </a:p>
          <a:p>
            <a:pPr>
              <a:spcBef>
                <a:spcPts val="200"/>
              </a:spcBef>
              <a:spcAft>
                <a:spcPts val="300"/>
              </a:spcAft>
            </a:pPr>
            <a:r>
              <a:rPr sz="1150" b="0" i="0">
                <a:solidFill>
                  <a:srgbClr val="1E293B"/>
                </a:solidFill>
                <a:latin typeface="Times New Roman"/>
              </a:rPr>
              <a:t>[8] M. Egele et al., "Cryptographic misuse in Android apps," in ACM CCS, 2013.    |    [18] P. Veličković et al., "Graph Attention Networks," ICLR, 2018.</a:t>
            </a:r>
          </a:p>
          <a:p>
            <a:pPr>
              <a:spcBef>
                <a:spcPts val="200"/>
              </a:spcBef>
              <a:spcAft>
                <a:spcPts val="300"/>
              </a:spcAft>
            </a:pPr>
            <a:r>
              <a:rPr sz="1150" b="0" i="0">
                <a:solidFill>
                  <a:srgbClr val="1E293B"/>
                </a:solidFill>
                <a:latin typeface="Times New Roman"/>
              </a:rPr>
              <a:t>[9] S. Krüger et al., "CogniCrypt: Supporting developers with cryptography," IEEE/ACM ASE, 2017.    |    [19] D. Moody et al., "Status report on the 3rd round of NIST PQC," NIST IR 8413, 2022.</a:t>
            </a:r>
          </a:p>
          <a:p>
            <a:pPr>
              <a:spcBef>
                <a:spcPts val="200"/>
              </a:spcBef>
              <a:spcAft>
                <a:spcPts val="300"/>
              </a:spcAft>
            </a:pPr>
            <a:r>
              <a:rPr sz="1150" b="0" i="0">
                <a:solidFill>
                  <a:srgbClr val="1E293B"/>
                </a:solidFill>
                <a:latin typeface="Times New Roman"/>
              </a:rPr>
              <a:t>[10] NSA, "Commercial National Security Algorithm Suite 2.0 (CNSA 2.0)," Sep 2022.    |    [20] D. Basin et al., "A formal analysis of 5G authentication," ACM CCS, 2018.</a:t>
            </a:r>
          </a:p>
        </p:txBody>
      </p:sp>
      <p:sp>
        <p:nvSpPr>
          <p:cNvPr name="Freeform 6" id="6"/>
          <p:cNvSpPr/>
          <p:nvPr/>
        </p:nvSpPr>
        <p:spPr>
          <a:xfrm flipH="false" flipV="false" rot="0">
            <a:off x="1028700" y="848377"/>
            <a:ext cx="1431244" cy="1509311"/>
          </a:xfrm>
          <a:custGeom>
            <a:avLst/>
            <a:gdLst/>
            <a:ahLst/>
            <a:cxnLst/>
            <a:rect r="r" b="b" t="t" l="l"/>
            <a:pathLst>
              <a:path h="1509311" w="1431244">
                <a:moveTo>
                  <a:pt x="0" y="0"/>
                </a:moveTo>
                <a:lnTo>
                  <a:pt x="1431244" y="0"/>
                </a:lnTo>
                <a:lnTo>
                  <a:pt x="1431244" y="1509311"/>
                </a:lnTo>
                <a:lnTo>
                  <a:pt x="0" y="1509311"/>
                </a:lnTo>
                <a:lnTo>
                  <a:pt x="0" y="0"/>
                </a:lnTo>
                <a:close/>
              </a:path>
            </a:pathLst>
          </a:custGeom>
          <a:blipFill>
            <a:blip r:embed="rId4"/>
            <a:stretch>
              <a:fillRect l="0" t="0" r="0" b="0"/>
            </a:stretch>
          </a:blipFill>
        </p:spPr>
        <p:txBody>
          <a:body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24088" y="506530"/>
            <a:ext cx="17415170" cy="9491267"/>
          </a:xfrm>
          <a:custGeom>
            <a:avLst/>
            <a:gdLst/>
            <a:ahLst/>
            <a:cxnLst/>
            <a:rect r="r" b="b" t="t" l="l"/>
            <a:pathLst>
              <a:path h="9491267" w="17415170">
                <a:moveTo>
                  <a:pt x="0" y="0"/>
                </a:moveTo>
                <a:lnTo>
                  <a:pt x="17415170" y="0"/>
                </a:lnTo>
                <a:lnTo>
                  <a:pt x="17415170" y="9491267"/>
                </a:lnTo>
                <a:lnTo>
                  <a:pt x="0" y="9491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sp>
        <p:nvSpPr>
          <p:cNvPr name="TextBox 3" id="3"/>
          <p:cNvSpPr txBox="true"/>
          <p:nvPr/>
        </p:nvSpPr>
        <p:spPr>
          <a:xfrm rot="0">
            <a:off x="16320790" y="920115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303298"/>
                </a:solidFill>
                <a:latin typeface="Times New Roman"/>
                <a:ea typeface="Times New Roman"/>
                <a:cs typeface="Times New Roman"/>
                <a:sym typeface="Times New Roman"/>
              </a:rPr>
              <a:t>Page 20</a:t>
            </a:r>
          </a:p>
        </p:txBody>
      </p:sp>
      <p:sp>
        <p:nvSpPr>
          <p:cNvPr name="TextBox 4" id="4"/>
          <p:cNvSpPr txBox="true"/>
          <p:nvPr/>
        </p:nvSpPr>
        <p:spPr>
          <a:xfrm rot="0">
            <a:off x="5508972" y="4217353"/>
            <a:ext cx="7270056" cy="1623694"/>
          </a:xfrm>
          <a:prstGeom prst="rect">
            <a:avLst/>
          </a:prstGeom>
        </p:spPr>
        <p:txBody>
          <a:bodyPr anchor="t" rtlCol="false" tIns="0" lIns="0" bIns="0" rIns="0" wrap="square">
            <a:spAutoFit/>
          </a:bodyPr>
          <a:lstStyle/>
          <a:p>
            <a:pPr algn="ctr">
              <a:lnSpc>
                <a:spcPts val="12880"/>
              </a:lnSpc>
            </a:pPr>
            <a:r>
              <a:rPr sz="7200" b="1">
                <a:solidFill>
                  <a:srgbClr val="303298"/>
                </a:solidFill>
                <a:latin typeface="Times New Roman"/>
              </a:rPr>
              <a:t>THANK-YOU</a:t>
            </a:r>
          </a:p>
        </p:txBody>
      </p:sp>
      <p:sp>
        <p:nvSpPr>
          <p:cNvPr name="TextBox 5" id="5"/>
          <p:cNvSpPr txBox="true"/>
          <p:nvPr/>
        </p:nvSpPr>
        <p:spPr>
          <a:xfrm rot="0">
            <a:off x="10481321" y="9201150"/>
            <a:ext cx="4939308" cy="358774"/>
          </a:xfrm>
          <a:prstGeom prst="rect">
            <a:avLst/>
          </a:prstGeom>
        </p:spPr>
        <p:txBody>
          <a:bodyPr anchor="t" rtlCol="false" tIns="0" lIns="0" bIns="0" rIns="0">
            <a:spAutoFit/>
          </a:bodyPr>
          <a:lstStyle/>
          <a:p>
            <a:pPr algn="ctr">
              <a:lnSpc>
                <a:spcPts val="2800"/>
              </a:lnSpc>
            </a:pPr>
            <a:r>
              <a:rPr sz="1800" b="1">
                <a:solidFill>
                  <a:srgbClr val="303298"/>
                </a:solidFill>
                <a:latin typeface="Times New Roman"/>
              </a:rPr>
              <a:t>Department of Cyber Security | NMAMIT, Nitte</a:t>
            </a:r>
          </a:p>
        </p:txBody>
      </p:sp>
      <p:sp>
        <p:nvSpPr>
          <p:cNvPr name="Freeform 6" id="6"/>
          <p:cNvSpPr/>
          <p:nvPr/>
        </p:nvSpPr>
        <p:spPr>
          <a:xfrm flipH="false" flipV="false" rot="0">
            <a:off x="1028700" y="848377"/>
            <a:ext cx="1431244" cy="1509311"/>
          </a:xfrm>
          <a:custGeom>
            <a:avLst/>
            <a:gdLst/>
            <a:ahLst/>
            <a:cxnLst/>
            <a:rect r="r" b="b" t="t" l="l"/>
            <a:pathLst>
              <a:path h="1509311" w="1431244">
                <a:moveTo>
                  <a:pt x="0" y="0"/>
                </a:moveTo>
                <a:lnTo>
                  <a:pt x="1431244" y="0"/>
                </a:lnTo>
                <a:lnTo>
                  <a:pt x="1431244" y="1509311"/>
                </a:lnTo>
                <a:lnTo>
                  <a:pt x="0" y="1509311"/>
                </a:lnTo>
                <a:lnTo>
                  <a:pt x="0" y="0"/>
                </a:lnTo>
                <a:close/>
              </a:path>
            </a:pathLst>
          </a:custGeom>
          <a:blipFill>
            <a:blip r:embed="rId4"/>
            <a:stretch>
              <a:fillRect l="0" t="0" r="0" b="0"/>
            </a:stretch>
          </a:blipFill>
        </p:spPr>
        <p:txBody>
          <a:body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36415" y="397866"/>
            <a:ext cx="17415170" cy="9491267"/>
          </a:xfrm>
          <a:custGeom>
            <a:avLst/>
            <a:gdLst/>
            <a:ahLst/>
            <a:cxnLst/>
            <a:rect r="r" b="b" t="t" l="l"/>
            <a:pathLst>
              <a:path h="9491267" w="17415170">
                <a:moveTo>
                  <a:pt x="0" y="0"/>
                </a:moveTo>
                <a:lnTo>
                  <a:pt x="17415170" y="0"/>
                </a:lnTo>
                <a:lnTo>
                  <a:pt x="17415170" y="9491268"/>
                </a:lnTo>
                <a:lnTo>
                  <a:pt x="0" y="94912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txBody>
          <a:bodyPr/>
          <a:p/>
        </p:txBody>
      </p:sp>
      <p:sp>
        <p:nvSpPr>
          <p:cNvPr name="TextBox 3" id="3"/>
          <p:cNvSpPr txBox="true"/>
          <p:nvPr/>
        </p:nvSpPr>
        <p:spPr>
          <a:xfrm rot="0">
            <a:off x="15899306" y="920115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303298"/>
                </a:solidFill>
                <a:latin typeface="Times New Roman"/>
                <a:ea typeface="Times New Roman"/>
                <a:cs typeface="Times New Roman"/>
                <a:sym typeface="Times New Roman"/>
              </a:rPr>
              <a:t>Page 21</a:t>
            </a:r>
          </a:p>
        </p:txBody>
      </p:sp>
      <p:sp>
        <p:nvSpPr>
          <p:cNvPr name="TextBox 4" id="4"/>
          <p:cNvSpPr txBox="true"/>
          <p:nvPr/>
        </p:nvSpPr>
        <p:spPr>
          <a:xfrm rot="0">
            <a:off x="7781032" y="4217353"/>
            <a:ext cx="2725936" cy="1623694"/>
          </a:xfrm>
          <a:prstGeom prst="rect">
            <a:avLst/>
          </a:prstGeom>
        </p:spPr>
        <p:txBody>
          <a:bodyPr anchor="t" rtlCol="false" tIns="0" lIns="0" bIns="0" rIns="0" wrap="square">
            <a:spAutoFit/>
          </a:bodyPr>
          <a:lstStyle/>
          <a:p>
            <a:pPr algn="ctr">
              <a:lnSpc>
                <a:spcPts val="12880"/>
              </a:lnSpc>
            </a:pPr>
            <a:r>
              <a:rPr sz="7200" b="1">
                <a:solidFill>
                  <a:srgbClr val="303298"/>
                </a:solidFill>
                <a:latin typeface="Times New Roman"/>
              </a:rPr>
              <a:t>Q&amp;A</a:t>
            </a:r>
          </a:p>
        </p:txBody>
      </p:sp>
      <p:sp>
        <p:nvSpPr>
          <p:cNvPr name="TextBox 5" id="5"/>
          <p:cNvSpPr txBox="true"/>
          <p:nvPr/>
        </p:nvSpPr>
        <p:spPr>
          <a:xfrm rot="0">
            <a:off x="10306963" y="9201151"/>
            <a:ext cx="4939308" cy="358774"/>
          </a:xfrm>
          <a:prstGeom prst="rect">
            <a:avLst/>
          </a:prstGeom>
        </p:spPr>
        <p:txBody>
          <a:bodyPr anchor="t" rtlCol="false" tIns="0" lIns="0" bIns="0" rIns="0">
            <a:spAutoFit/>
          </a:bodyPr>
          <a:lstStyle/>
          <a:p>
            <a:pPr algn="ctr">
              <a:lnSpc>
                <a:spcPts val="2800"/>
              </a:lnSpc>
            </a:pPr>
            <a:r>
              <a:rPr sz="1800" b="1">
                <a:solidFill>
                  <a:srgbClr val="303298"/>
                </a:solidFill>
                <a:latin typeface="Times New Roman"/>
              </a:rPr>
              <a:t>Department of Cyber Security | NMAMIT, Nitte</a:t>
            </a:r>
          </a:p>
        </p:txBody>
      </p:sp>
      <p:sp>
        <p:nvSpPr>
          <p:cNvPr name="Freeform 6" id="6"/>
          <p:cNvSpPr/>
          <p:nvPr/>
        </p:nvSpPr>
        <p:spPr>
          <a:xfrm flipH="false" flipV="false" rot="0">
            <a:off x="1028700" y="848377"/>
            <a:ext cx="1431244" cy="1509311"/>
          </a:xfrm>
          <a:custGeom>
            <a:avLst/>
            <a:gdLst/>
            <a:ahLst/>
            <a:cxnLst/>
            <a:rect r="r" b="b" t="t" l="l"/>
            <a:pathLst>
              <a:path h="1509311" w="1431244">
                <a:moveTo>
                  <a:pt x="0" y="0"/>
                </a:moveTo>
                <a:lnTo>
                  <a:pt x="1431244" y="0"/>
                </a:lnTo>
                <a:lnTo>
                  <a:pt x="1431244" y="1509311"/>
                </a:lnTo>
                <a:lnTo>
                  <a:pt x="0" y="1509311"/>
                </a:lnTo>
                <a:lnTo>
                  <a:pt x="0" y="0"/>
                </a:lnTo>
                <a:close/>
              </a:path>
            </a:pathLst>
          </a:custGeom>
          <a:blipFill>
            <a:blip r:embed="rId4"/>
            <a:stretch>
              <a:fillRect l="0" t="0" r="0" b="0"/>
            </a:stretch>
          </a:blipFill>
        </p:spPr>
        <p:txBody>
          <a:body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DAHXzWo3tDE</dc:identifier>
  <dcterms:modified xsi:type="dcterms:W3CDTF">2011-08-01T06:04:30Z</dcterms:modified>
  <cp:revision>1</cp:revision>
  <dc:title>major project phase-2</dc:title>
</cp:coreProperties>
</file>